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0" r:id="rId2"/>
    <p:sldId id="256" r:id="rId3"/>
    <p:sldId id="264" r:id="rId4"/>
    <p:sldId id="265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0089D1"/>
    <a:srgbClr val="C1C1C1"/>
    <a:srgbClr val="F25331"/>
    <a:srgbClr val="D6D6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83"/>
    <p:restoredTop sz="94658"/>
  </p:normalViewPr>
  <p:slideViewPr>
    <p:cSldViewPr snapToGrid="0">
      <p:cViewPr varScale="1">
        <p:scale>
          <a:sx n="120" d="100"/>
          <a:sy n="120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C77A6D-F593-284A-96A8-3648D07CF33C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1F501-9E02-634D-9587-A9D786DF20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663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4F4BF-BB02-FC51-941E-507ECD8A76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A2F6BE-A03C-3611-16B4-867172F9B0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8A7865-A7F8-94CD-CFC5-2483782D4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1654-3C58-9D4C-A0CF-65E7B52779C7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1B1E8-9BED-8D3C-74C4-BCDF126D7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117B4-DE91-3DA9-80A9-C4535540D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D915-CA31-8243-BD77-B198DC3C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44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D38AD-2201-E736-CF9E-AAEC73028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710D6-37F3-55EF-B72D-9CE6EF7F2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D2374-385C-07BA-41A2-3E453728C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1654-3C58-9D4C-A0CF-65E7B52779C7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BFA48-EFD3-C697-8D27-E9760618F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7BFB9-3987-3BAD-A76C-A98741FB8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D915-CA31-8243-BD77-B198DC3C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566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F434D-4F5B-E97A-2A10-08EDE717F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4D23C0-A548-619E-CAFC-F4CAF6FA5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5C2D9-C11F-27C8-7910-A6CE853C6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1654-3C58-9D4C-A0CF-65E7B52779C7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8DE5E-7DB8-A2B9-4FC2-A08382C25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F4540-4A3C-8506-C428-F1E3E7879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D915-CA31-8243-BD77-B198DC3C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4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0645D-1BD5-4FAF-ADD9-663EAED97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8016F-C82A-1E42-1F14-1589FF627E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F78DA-9AAE-4215-56C9-5EF67848DA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2587D6-F266-DACF-943B-082BF70D8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1654-3C58-9D4C-A0CF-65E7B52779C7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E3146E-858B-13C4-C960-707B9504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D1372F-7255-AAB7-2CEC-FEB613049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D915-CA31-8243-BD77-B198DC3C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242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95D78-EEEE-02E5-C87C-DE72B7DCD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F308B0-E665-2E5A-887A-451A4B605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D6E22-335C-6658-665D-B9FF226322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C6707C-D433-6577-6AAF-D7E4E855D5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B8CD37-EA52-E056-CAC4-7B7BD43F67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676FB1-C01E-998B-9C27-79DAB34DA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1654-3C58-9D4C-A0CF-65E7B52779C7}" type="datetimeFigureOut">
              <a:rPr lang="en-US" smtClean="0"/>
              <a:t>6/4/26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652E72-F0A1-9F93-D9C0-5BF62F101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CB278E-453A-3B6C-9950-295B6FBCC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D915-CA31-8243-BD77-B198DC3C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821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4D846-CF96-0946-696D-B5F6EFEFB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3B34C0-2538-57D3-7543-21430F4C7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1654-3C58-9D4C-A0CF-65E7B52779C7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BEB57B-0081-CFBE-915B-DD29D2310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FBD75-7413-AD61-F6A8-2B8D5FFF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D915-CA31-8243-BD77-B198DC3C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091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6C0DBD-13F2-7B74-68CC-9CD32608F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1654-3C58-9D4C-A0CF-65E7B52779C7}" type="datetimeFigureOut">
              <a:rPr lang="en-US" smtClean="0"/>
              <a:t>6/4/26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E354C1-FCEB-03E5-B3BA-589052592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A93C4-21AC-7C28-25CC-FB1D56982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D915-CA31-8243-BD77-B198DC3C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689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A2B81-8AC3-8AB8-B608-B34FA6B93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93844-A27E-E43F-972E-BE334A6AC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F38F9B-D51E-23E0-EF28-BD9D99F5FD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64D298-E93A-6325-D575-A3B0BE27D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1654-3C58-9D4C-A0CF-65E7B52779C7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3F9D1A-16B9-0268-AF56-E0EE76231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68CC7-8E69-B80D-B627-BE78A1883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D915-CA31-8243-BD77-B198DC3C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462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08E97-BD1F-D79F-9B39-B49FBC5E0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A7D629-D858-4788-643D-817AC9BEF5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87901E-3656-2C8A-907E-8E9B1E98C7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1CDA41-9769-2F8B-9F19-10EC67114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1654-3C58-9D4C-A0CF-65E7B52779C7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EF1278-816E-404A-AD94-A40FD373F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E51127-1527-4D39-39DB-C9CEFF8E3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D915-CA31-8243-BD77-B198DC3C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045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34AEE-8154-D11C-96A2-E1AD5531C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F417FB-C4D7-371B-EA5C-FDE29BF10D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2E766-4284-89A3-DFAB-BF666B021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1654-3C58-9D4C-A0CF-65E7B52779C7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CB0D0-EB51-896C-AF9D-7FDED7CF4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9DC7C-9049-F500-17CB-CC44F105C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D915-CA31-8243-BD77-B198DC3C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362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F1C5BA-F002-1D30-247C-421B8420CD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57D0FE-81A3-F8AD-72CA-8C6AAF49F4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25D8A-4571-1F0A-AE7D-28CF5C544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1654-3C58-9D4C-A0CF-65E7B52779C7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4CC85-DFFC-938B-2632-D89A0559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DA2E2-A023-5FD2-10A4-DC9F54754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40D915-CA31-8243-BD77-B198DC3C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806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ED666D-BEF0-3D48-F649-92262BA52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7E08A-B88C-614A-5415-1514B43CD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D8B39-991D-7C1A-849C-2D7DAF7C1C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61654-3C58-9D4C-A0CF-65E7B52779C7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03A10-5379-27C6-A028-22BCA81D73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61E9B-0EC7-3700-5DBB-E99760087A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40D915-CA31-8243-BD77-B198DC3CC1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598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sib.swiss/training/course/20230620_STATP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C1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33F796-22EB-DE98-079D-1754FCDF5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6838E48-FF40-0998-C509-9C0351614262}"/>
              </a:ext>
            </a:extLst>
          </p:cNvPr>
          <p:cNvSpPr txBox="1"/>
          <p:nvPr/>
        </p:nvSpPr>
        <p:spPr>
          <a:xfrm>
            <a:off x="735724" y="833606"/>
            <a:ext cx="10720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 dirty="0">
                <a:latin typeface="Geogrotesque Rg" panose="02000000000000000000" pitchFamily="2" charset="77"/>
              </a:rPr>
              <a:t>Statistics in Python Course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AC241F-663B-5012-929F-4659AD8746D7}"/>
              </a:ext>
            </a:extLst>
          </p:cNvPr>
          <p:cNvSpPr txBox="1"/>
          <p:nvPr/>
        </p:nvSpPr>
        <p:spPr>
          <a:xfrm>
            <a:off x="735723" y="1664603"/>
            <a:ext cx="11055783" cy="590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400" b="0" i="0" u="none" strike="noStrike" dirty="0">
                <a:solidFill>
                  <a:srgbClr val="222222"/>
                </a:solidFill>
                <a:effectLst/>
                <a:latin typeface="Geogrotesque Rg" panose="02000000000000000000" pitchFamily="2" charset="77"/>
              </a:rPr>
              <a:t>Based on the course </a:t>
            </a:r>
            <a:r>
              <a:rPr lang="en-US" sz="2400" dirty="0">
                <a:solidFill>
                  <a:srgbClr val="0089D1"/>
                </a:solidFill>
                <a:latin typeface="Geogrotesque Rg" panose="02000000000000000000" pitchFamily="2" charset="77"/>
                <a:hlinkClick r:id="rId2"/>
              </a:rPr>
              <a:t>https://www.sib.swiss/training/course/20230620_STATP</a:t>
            </a:r>
            <a:endParaRPr lang="en-US" sz="2400" dirty="0">
              <a:solidFill>
                <a:srgbClr val="0089D1"/>
              </a:solidFill>
              <a:latin typeface="Geogrotesque Rg" panose="02000000000000000000" pitchFamily="2" charset="77"/>
            </a:endParaRPr>
          </a:p>
        </p:txBody>
      </p:sp>
      <p:pic>
        <p:nvPicPr>
          <p:cNvPr id="4" name="Picture 7" descr="sib_logo_trans_background.png">
            <a:extLst>
              <a:ext uri="{FF2B5EF4-FFF2-40B4-BE49-F238E27FC236}">
                <a16:creationId xmlns:a16="http://schemas.microsoft.com/office/drawing/2014/main" id="{3DC57EF5-EEDD-9D45-60A3-75A22A63FA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990" y="5286242"/>
            <a:ext cx="2338126" cy="1266484"/>
          </a:xfrm>
          <a:prstGeom prst="rect">
            <a:avLst/>
          </a:prstGeom>
        </p:spPr>
      </p:pic>
      <p:pic>
        <p:nvPicPr>
          <p:cNvPr id="10" name="Picture 4" descr="Home">
            <a:extLst>
              <a:ext uri="{FF2B5EF4-FFF2-40B4-BE49-F238E27FC236}">
                <a16:creationId xmlns:a16="http://schemas.microsoft.com/office/drawing/2014/main" id="{1CC88E06-74C3-F7AC-82C3-58E1C0210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4590" y="5345590"/>
            <a:ext cx="1525293" cy="1147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hoto of Wandrille Duchemin">
            <a:extLst>
              <a:ext uri="{FF2B5EF4-FFF2-40B4-BE49-F238E27FC236}">
                <a16:creationId xmlns:a16="http://schemas.microsoft.com/office/drawing/2014/main" id="{7B700EF4-C7E7-A76B-B381-26B761365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6625" y="3739554"/>
            <a:ext cx="1765288" cy="2264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262370B-FEBC-FE3A-C760-3E3E927DE5C8}"/>
              </a:ext>
            </a:extLst>
          </p:cNvPr>
          <p:cNvSpPr txBox="1"/>
          <p:nvPr/>
        </p:nvSpPr>
        <p:spPr>
          <a:xfrm>
            <a:off x="3401913" y="5162960"/>
            <a:ext cx="52873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eogrotesque Rg" panose="02000000000000000000" pitchFamily="2" charset="77"/>
              </a:rPr>
              <a:t>(Wandrille Duchemin. </a:t>
            </a:r>
          </a:p>
          <a:p>
            <a:r>
              <a:rPr lang="en-US" dirty="0">
                <a:latin typeface="Geogrotesque Rg" panose="02000000000000000000" pitchFamily="2" charset="77"/>
              </a:rPr>
              <a:t>Introduction to Statistics with Python</a:t>
            </a:r>
          </a:p>
          <a:p>
            <a:r>
              <a:rPr lang="en-US" dirty="0">
                <a:latin typeface="Geogrotesque Rg" panose="02000000000000000000" pitchFamily="2" charset="77"/>
              </a:rPr>
              <a:t>https://</a:t>
            </a:r>
            <a:r>
              <a:rPr lang="en-US" dirty="0" err="1">
                <a:latin typeface="Geogrotesque Rg" panose="02000000000000000000" pitchFamily="2" charset="77"/>
              </a:rPr>
              <a:t>doi.org</a:t>
            </a:r>
            <a:r>
              <a:rPr lang="en-US" dirty="0">
                <a:latin typeface="Geogrotesque Rg" panose="02000000000000000000" pitchFamily="2" charset="77"/>
              </a:rPr>
              <a:t>/10.5281/zenodo.15607543)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6D077F-F161-3E61-986D-1AD0EA557F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5790" y="5624111"/>
            <a:ext cx="1532617" cy="590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12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86"/>
    </mc:Choice>
    <mc:Fallback xmlns="">
      <p:transition spd="slow" advTm="278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C1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6BD45AC-C97E-A4F5-028A-6ADD3274EDDB}"/>
              </a:ext>
            </a:extLst>
          </p:cNvPr>
          <p:cNvSpPr txBox="1"/>
          <p:nvPr/>
        </p:nvSpPr>
        <p:spPr>
          <a:xfrm>
            <a:off x="735724" y="262771"/>
            <a:ext cx="10720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>
                <a:latin typeface="Geogrotesque Rg" panose="02000000000000000000" pitchFamily="2" charset="77"/>
              </a:rPr>
              <a:t>Statistics in Python Course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B94DEE-1854-8B51-2980-AAE282EDB872}"/>
              </a:ext>
            </a:extLst>
          </p:cNvPr>
          <p:cNvSpPr txBox="1"/>
          <p:nvPr/>
        </p:nvSpPr>
        <p:spPr>
          <a:xfrm>
            <a:off x="735724" y="1260741"/>
            <a:ext cx="10300138" cy="3360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0" i="0" u="none" strike="noStrike" dirty="0">
                <a:solidFill>
                  <a:srgbClr val="222222"/>
                </a:solidFill>
                <a:effectLst/>
                <a:latin typeface="Geogrotesque Rg" panose="02000000000000000000" pitchFamily="2" charset="77"/>
              </a:rPr>
              <a:t>Session 1 – Data visualisation &amp; exploration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b="0" i="0" u="none" strike="noStrike" dirty="0">
                <a:solidFill>
                  <a:srgbClr val="222222"/>
                </a:solidFill>
                <a:effectLst/>
                <a:latin typeface="Geogrotesque Rg" panose="02000000000000000000" pitchFamily="2" charset="77"/>
              </a:rPr>
              <a:t>Session 2 – Distributions &amp; hypothesis testing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00000"/>
                </a:solidFill>
                <a:latin typeface="Geogrotesque Rg" panose="02000000000000000000" pitchFamily="2" charset="77"/>
              </a:rPr>
              <a:t>Session</a:t>
            </a:r>
            <a:r>
              <a:rPr lang="en-GB" sz="2400" b="0" i="0" u="none" strike="noStrike" dirty="0">
                <a:solidFill>
                  <a:srgbClr val="000000"/>
                </a:solidFill>
                <a:effectLst/>
                <a:latin typeface="Geogrotesque Rg" panose="02000000000000000000" pitchFamily="2" charset="77"/>
              </a:rPr>
              <a:t> 3 –</a:t>
            </a:r>
            <a:r>
              <a:rPr lang="en-GB" sz="2400" dirty="0">
                <a:solidFill>
                  <a:srgbClr val="000000"/>
                </a:solidFill>
                <a:latin typeface="Geogrotesque Rg" panose="02000000000000000000" pitchFamily="2" charset="77"/>
              </a:rPr>
              <a:t> Statistical testing, continued </a:t>
            </a:r>
            <a:endParaRPr lang="en-GB" sz="2400" b="0" i="0" u="none" strike="noStrike" dirty="0">
              <a:solidFill>
                <a:srgbClr val="000000"/>
              </a:solidFill>
              <a:effectLst/>
              <a:latin typeface="Geogrotesque Rg" panose="02000000000000000000" pitchFamily="2" charset="77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00000"/>
                </a:solidFill>
                <a:latin typeface="Geogrotesque Rg" panose="02000000000000000000" pitchFamily="2" charset="77"/>
              </a:rPr>
              <a:t>Session 4 – Correlation &amp; regression</a:t>
            </a:r>
            <a:endParaRPr lang="en-GB" sz="2400" b="0" i="0" u="none" strike="noStrike" dirty="0">
              <a:solidFill>
                <a:srgbClr val="000000"/>
              </a:solidFill>
              <a:effectLst/>
              <a:latin typeface="Geogrotesque Rg" panose="02000000000000000000" pitchFamily="2" charset="77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Geogrotesque Rg" panose="02000000000000000000" pitchFamily="2" charset="77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0089D1"/>
                </a:solidFill>
                <a:latin typeface="Geogrotesque Rg" panose="02000000000000000000" pitchFamily="2" charset="77"/>
              </a:rPr>
              <a:t>https://</a:t>
            </a:r>
            <a:r>
              <a:rPr lang="en-US" sz="2400" dirty="0" err="1">
                <a:solidFill>
                  <a:srgbClr val="0089D1"/>
                </a:solidFill>
                <a:latin typeface="Geogrotesque Rg" panose="02000000000000000000" pitchFamily="2" charset="77"/>
              </a:rPr>
              <a:t>www.elixir-czech.cz</a:t>
            </a:r>
            <a:r>
              <a:rPr lang="en-US" sz="2400" dirty="0">
                <a:solidFill>
                  <a:srgbClr val="0089D1"/>
                </a:solidFill>
                <a:latin typeface="Geogrotesque Rg" panose="02000000000000000000" pitchFamily="2" charset="77"/>
              </a:rPr>
              <a:t>/events/statistics-in-python-06-2026</a:t>
            </a:r>
          </a:p>
        </p:txBody>
      </p:sp>
      <p:pic>
        <p:nvPicPr>
          <p:cNvPr id="3" name="Picture 7" descr="sib_logo_trans_background.png">
            <a:extLst>
              <a:ext uri="{FF2B5EF4-FFF2-40B4-BE49-F238E27FC236}">
                <a16:creationId xmlns:a16="http://schemas.microsoft.com/office/drawing/2014/main" id="{D63BB630-B43C-FE0E-2ADB-2783A0E2D3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990" y="5286242"/>
            <a:ext cx="2338126" cy="1266484"/>
          </a:xfrm>
          <a:prstGeom prst="rect">
            <a:avLst/>
          </a:prstGeom>
        </p:spPr>
      </p:pic>
      <p:pic>
        <p:nvPicPr>
          <p:cNvPr id="4" name="Picture 4" descr="Home">
            <a:extLst>
              <a:ext uri="{FF2B5EF4-FFF2-40B4-BE49-F238E27FC236}">
                <a16:creationId xmlns:a16="http://schemas.microsoft.com/office/drawing/2014/main" id="{9FCF0235-221C-C0AB-B773-5595211FF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4590" y="5345590"/>
            <a:ext cx="1525293" cy="1147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8BFC5A-0373-0F72-5BD3-29A273CCCE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5790" y="5624111"/>
            <a:ext cx="1532617" cy="59073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E85E5A6-6F6B-9171-40A5-6D722F165D55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7554775">
            <a:off x="7414303" y="1427203"/>
            <a:ext cx="1520411" cy="24350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784E73-E921-863B-04AD-883082AECA3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5111866">
            <a:off x="7120136" y="110106"/>
            <a:ext cx="1520411" cy="24350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A9F935-6E5C-19BF-D8C7-C6B8F0D7CE51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8546516">
            <a:off x="1238505" y="469150"/>
            <a:ext cx="1520411" cy="24350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8A012EB-2D53-6648-EF4A-8AFBFB3F944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001760">
            <a:off x="5109875" y="2972351"/>
            <a:ext cx="1520411" cy="2435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394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8"/>
    </mc:Choice>
    <mc:Fallback xmlns="">
      <p:transition spd="slow" advTm="68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C1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6DB7BF-BA49-5A10-0B3C-21A15E3FB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32E686-A20E-18AF-1454-AF5EBDD44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5807592"/>
            <a:ext cx="1280303" cy="9659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F58135-843C-1074-57CE-D10B198C8E34}"/>
              </a:ext>
            </a:extLst>
          </p:cNvPr>
          <p:cNvSpPr txBox="1"/>
          <p:nvPr/>
        </p:nvSpPr>
        <p:spPr>
          <a:xfrm>
            <a:off x="312058" y="280078"/>
            <a:ext cx="37491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grotesque Rg" panose="02000000000000000000" pitchFamily="2" charset="77"/>
                <a:ea typeface="+mn-ea"/>
                <a:cs typeface="+mn-cs"/>
              </a:rPr>
              <a:t>Metacentrum</a:t>
            </a:r>
            <a:r>
              <a:rPr kumimoji="0" lang="en-GB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grotesque Rg" panose="02000000000000000000" pitchFamily="2" charset="77"/>
                <a:ea typeface="+mn-ea"/>
                <a:cs typeface="+mn-cs"/>
              </a:rPr>
              <a:t> &amp; Elixir CZ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1F2C4D-6C2F-EE95-225C-7E9C328BF49F}"/>
              </a:ext>
            </a:extLst>
          </p:cNvPr>
          <p:cNvSpPr txBox="1"/>
          <p:nvPr/>
        </p:nvSpPr>
        <p:spPr>
          <a:xfrm>
            <a:off x="312058" y="2125977"/>
            <a:ext cx="414002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grotesque Rg" panose="02000000000000000000" pitchFamily="2" charset="77"/>
                <a:ea typeface="+mn-ea"/>
                <a:cs typeface="+mn-cs"/>
              </a:rPr>
              <a:t>Accessible to academic community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89D1"/>
              </a:solidFill>
              <a:effectLst/>
              <a:uLnTx/>
              <a:uFillTx/>
              <a:latin typeface="Geogrotesque Rg" panose="02000000000000000000" pitchFamily="2" charset="77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89D1"/>
                </a:solidFill>
                <a:effectLst/>
                <a:uLnTx/>
                <a:uFillTx/>
                <a:latin typeface="Geogrotesque Rg" panose="02000000000000000000" pitchFamily="2" charset="77"/>
                <a:ea typeface="+mn-ea"/>
                <a:cs typeface="+mn-cs"/>
              </a:rPr>
              <a:t>ondemand.metacentrum.cz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89D1"/>
              </a:solidFill>
              <a:effectLst/>
              <a:uLnTx/>
              <a:uFillTx/>
              <a:latin typeface="Geogrotesque Rg" panose="02000000000000000000" pitchFamily="2" charset="77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89D1"/>
                </a:solidFill>
                <a:effectLst/>
                <a:uLnTx/>
                <a:uFillTx/>
                <a:latin typeface="Geogrotesque Rg" panose="02000000000000000000" pitchFamily="2" charset="77"/>
                <a:ea typeface="+mn-ea"/>
                <a:cs typeface="+mn-cs"/>
              </a:rPr>
              <a:t>hub.cloud.e-infra.cz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89D1"/>
              </a:solidFill>
              <a:effectLst/>
              <a:uLnTx/>
              <a:uFillTx/>
              <a:latin typeface="Geogrotesque Rg" panose="02000000000000000000" pitchFamily="2" charset="77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89D1"/>
              </a:solidFill>
              <a:effectLst/>
              <a:uLnTx/>
              <a:uFillTx/>
              <a:latin typeface="Geogrotesque Rg" panose="02000000000000000000" pitchFamily="2" charset="77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89D1"/>
                </a:solidFill>
                <a:effectLst/>
                <a:uLnTx/>
                <a:uFillTx/>
                <a:latin typeface="Geogrotesque Rg" panose="02000000000000000000" pitchFamily="2" charset="77"/>
                <a:ea typeface="+mn-ea"/>
                <a:cs typeface="+mn-cs"/>
              </a:rPr>
              <a:t>colab.research.google.com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89D1"/>
              </a:solidFill>
              <a:effectLst/>
              <a:uLnTx/>
              <a:uFillTx/>
              <a:latin typeface="Geogrotesque Rg" panose="02000000000000000000" pitchFamily="2" charset="77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89D1"/>
              </a:solidFill>
              <a:effectLst/>
              <a:uLnTx/>
              <a:uFillTx/>
              <a:latin typeface="Geogrotesque Rg" panose="02000000000000000000" pitchFamily="2" charset="77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grotesque Rg" panose="02000000000000000000" pitchFamily="2" charset="77"/>
                <a:ea typeface="+mn-ea"/>
                <a:cs typeface="+mn-cs"/>
              </a:rPr>
              <a:t>or locally with VS Code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284ACB-FE1B-034F-3EBE-023EE0CC3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61" y="6003203"/>
            <a:ext cx="2364828" cy="574719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39B61BC-069D-6E3F-070E-ABCFE40B95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503" y="0"/>
            <a:ext cx="9480721" cy="731845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B2151DA-53AA-F6AB-5714-26EC370ECDFB}"/>
              </a:ext>
            </a:extLst>
          </p:cNvPr>
          <p:cNvSpPr/>
          <p:nvPr/>
        </p:nvSpPr>
        <p:spPr>
          <a:xfrm>
            <a:off x="2705673" y="6360135"/>
            <a:ext cx="320556" cy="574719"/>
          </a:xfrm>
          <a:prstGeom prst="rect">
            <a:avLst/>
          </a:prstGeom>
          <a:solidFill>
            <a:srgbClr val="C1C1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66766A-68E5-8C98-FAFE-3CFB3823A4AB}"/>
              </a:ext>
            </a:extLst>
          </p:cNvPr>
          <p:cNvSpPr/>
          <p:nvPr/>
        </p:nvSpPr>
        <p:spPr>
          <a:xfrm>
            <a:off x="2865951" y="6647494"/>
            <a:ext cx="1440581" cy="574719"/>
          </a:xfrm>
          <a:prstGeom prst="rect">
            <a:avLst/>
          </a:prstGeom>
          <a:solidFill>
            <a:srgbClr val="C1C1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CB1BFB2-96AD-DE26-D37C-E7C749C27E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5218" y="2962874"/>
            <a:ext cx="7772400" cy="636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303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C1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4F590-3E91-4EB0-AC72-7D42E7260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75D5D69-9356-05C3-4590-46A0294F67A8}"/>
              </a:ext>
            </a:extLst>
          </p:cNvPr>
          <p:cNvSpPr txBox="1"/>
          <p:nvPr/>
        </p:nvSpPr>
        <p:spPr>
          <a:xfrm>
            <a:off x="278524" y="232985"/>
            <a:ext cx="10720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grotesque Rg" panose="02000000000000000000" pitchFamily="2" charset="77"/>
                <a:ea typeface="+mn-ea"/>
                <a:cs typeface="+mn-cs"/>
              </a:rPr>
              <a:t>Vibe coding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B79FB2-62B6-A55C-E2E5-9BFF7CA97883}"/>
              </a:ext>
            </a:extLst>
          </p:cNvPr>
          <p:cNvSpPr txBox="1"/>
          <p:nvPr/>
        </p:nvSpPr>
        <p:spPr>
          <a:xfrm>
            <a:off x="278524" y="1524935"/>
            <a:ext cx="426520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89D1"/>
                </a:solidFill>
                <a:effectLst/>
                <a:uLnTx/>
                <a:uFillTx/>
                <a:latin typeface="Geogrotesque Rg" panose="02000000000000000000" pitchFamily="2" charset="77"/>
                <a:ea typeface="+mn-ea"/>
                <a:cs typeface="+mn-cs"/>
              </a:rPr>
              <a:t>hub.cloud.e-infra.cz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89D1"/>
              </a:solidFill>
              <a:effectLst/>
              <a:uLnTx/>
              <a:uFillTx/>
              <a:latin typeface="Geogrotesque Rg" panose="02000000000000000000" pitchFamily="2" charset="77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89D1"/>
              </a:solidFill>
              <a:effectLst/>
              <a:uLnTx/>
              <a:uFillTx/>
              <a:latin typeface="Geogrotesque Rg" panose="02000000000000000000" pitchFamily="2" charset="77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89D1"/>
                </a:solidFill>
                <a:effectLst/>
                <a:uLnTx/>
                <a:uFillTx/>
                <a:latin typeface="Geogrotesque Rg" panose="02000000000000000000" pitchFamily="2" charset="77"/>
                <a:ea typeface="+mn-ea"/>
                <a:cs typeface="+mn-cs"/>
              </a:rPr>
              <a:t>colab.research.google.com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89D1"/>
              </a:solidFill>
              <a:effectLst/>
              <a:uLnTx/>
              <a:uFillTx/>
              <a:latin typeface="Geogrotesque Rg" panose="02000000000000000000" pitchFamily="2" charset="77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rgbClr val="0089D1"/>
              </a:solidFill>
              <a:effectLst/>
              <a:uLnTx/>
              <a:uFillTx/>
              <a:latin typeface="Geogrotesque Rg" panose="02000000000000000000" pitchFamily="2" charset="77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grotesque Rg" panose="02000000000000000000" pitchFamily="2" charset="77"/>
                <a:ea typeface="+mn-ea"/>
                <a:cs typeface="+mn-cs"/>
              </a:rPr>
              <a:t>or locally with VS Code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grotesque Rg" panose="02000000000000000000" pitchFamily="2" charset="77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F486F8-50ED-3DA8-970B-991250EB8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3726" y="352906"/>
            <a:ext cx="7017802" cy="40612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64F07A-F225-150E-3895-E4361F47B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135" y="3088327"/>
            <a:ext cx="7772400" cy="6369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974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C1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3BE246-36DE-1254-C4BD-8207240FC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1C1DAFE-C413-1F45-11DF-F5144B40F648}"/>
              </a:ext>
            </a:extLst>
          </p:cNvPr>
          <p:cNvSpPr txBox="1"/>
          <p:nvPr/>
        </p:nvSpPr>
        <p:spPr>
          <a:xfrm>
            <a:off x="735724" y="262771"/>
            <a:ext cx="107205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grotesque Rg" panose="02000000000000000000" pitchFamily="2" charset="77"/>
                <a:ea typeface="+mn-ea"/>
                <a:cs typeface="+mn-cs"/>
              </a:rPr>
              <a:t>Course on </a:t>
            </a:r>
            <a:r>
              <a:rPr kumimoji="0" lang="en-GB" sz="4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grotesque Rg" panose="02000000000000000000" pitchFamily="2" charset="77"/>
                <a:ea typeface="+mn-ea"/>
                <a:cs typeface="+mn-cs"/>
              </a:rPr>
              <a:t>scRNA-seq</a:t>
            </a:r>
            <a:r>
              <a:rPr kumimoji="0" lang="en-GB" sz="4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grotesque Rg" panose="02000000000000000000" pitchFamily="2" charset="77"/>
                <a:ea typeface="+mn-ea"/>
                <a:cs typeface="+mn-cs"/>
              </a:rPr>
              <a:t> Data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A28E47-7947-D9DE-47BF-B60B8172E491}"/>
              </a:ext>
            </a:extLst>
          </p:cNvPr>
          <p:cNvSpPr txBox="1"/>
          <p:nvPr/>
        </p:nvSpPr>
        <p:spPr>
          <a:xfrm>
            <a:off x="735724" y="1334813"/>
            <a:ext cx="2291012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25331"/>
                </a:solidFill>
                <a:effectLst/>
                <a:uLnTx/>
                <a:uFillTx/>
                <a:latin typeface="Geogrotesque Rg" panose="02000000000000000000" pitchFamily="2" charset="77"/>
                <a:ea typeface="+mn-ea"/>
                <a:cs typeface="+mn-cs"/>
              </a:rPr>
              <a:t>Trainers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F25331"/>
              </a:solidFill>
              <a:effectLst/>
              <a:uLnTx/>
              <a:uFillTx/>
              <a:latin typeface="Geogrotesque Rg" panose="02000000000000000000" pitchFamily="2" charset="77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grotesque Rg" panose="02000000000000000000" pitchFamily="2" charset="77"/>
                <a:ea typeface="+mn-ea"/>
                <a:cs typeface="+mn-cs"/>
              </a:rPr>
              <a:t>Jan </a:t>
            </a:r>
            <a:r>
              <a:rPr kumimoji="0" lang="en-US" altLang="en-US" sz="24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grotesque Rg" panose="02000000000000000000" pitchFamily="2" charset="77"/>
                <a:ea typeface="+mn-ea"/>
                <a:cs typeface="+mn-cs"/>
              </a:rPr>
              <a:t>Kubovčiak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Geogrotesque Rg" panose="02000000000000000000" pitchFamily="2" charset="77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grotesque Rg" panose="02000000000000000000" pitchFamily="2" charset="77"/>
                <a:ea typeface="+mn-ea"/>
                <a:cs typeface="+mn-cs"/>
              </a:rPr>
              <a:t>Mathys Delattre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grotesque Rg" panose="02000000000000000000" pitchFamily="2" charset="77"/>
                <a:ea typeface="+mn-ea"/>
                <a:cs typeface="+mn-cs"/>
              </a:rPr>
              <a:t>Vojtěch Melichar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grotesque Rg" panose="02000000000000000000" pitchFamily="2" charset="77"/>
                <a:ea typeface="+mn-ea"/>
                <a:cs typeface="+mn-cs"/>
              </a:rPr>
              <a:t>Lucie </a:t>
            </a:r>
            <a:r>
              <a:rPr kumimoji="0" lang="en-US" altLang="en-US" sz="24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grotesque Rg" panose="02000000000000000000" pitchFamily="2" charset="77"/>
                <a:ea typeface="+mn-ea"/>
                <a:cs typeface="+mn-cs"/>
              </a:rPr>
              <a:t>Pfeiferová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Geogrotesque Rg" panose="02000000000000000000" pitchFamily="2" charset="77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grotesque Rg" panose="02000000000000000000" pitchFamily="2" charset="77"/>
                <a:ea typeface="+mn-ea"/>
                <a:cs typeface="+mn-cs"/>
              </a:rPr>
              <a:t>Michal Kolář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88D813-EC65-2F3F-D7FA-E6155D2BDC1E}"/>
              </a:ext>
            </a:extLst>
          </p:cNvPr>
          <p:cNvSpPr txBox="1"/>
          <p:nvPr/>
        </p:nvSpPr>
        <p:spPr>
          <a:xfrm>
            <a:off x="735724" y="4499000"/>
            <a:ext cx="262789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25331"/>
                </a:solidFill>
                <a:effectLst/>
                <a:uLnTx/>
                <a:uFillTx/>
                <a:latin typeface="Geogrotesque Rg" panose="02000000000000000000" pitchFamily="2" charset="77"/>
                <a:ea typeface="+mn-ea"/>
                <a:cs typeface="+mn-cs"/>
              </a:rPr>
              <a:t>Helpers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grotesque Rg" panose="02000000000000000000" pitchFamily="2" charset="77"/>
                <a:ea typeface="+mn-ea"/>
                <a:cs typeface="+mn-cs"/>
              </a:rPr>
              <a:t>Eva </a:t>
            </a:r>
            <a:r>
              <a:rPr kumimoji="0" lang="en-US" altLang="en-US" sz="24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grotesque Rg" panose="02000000000000000000" pitchFamily="2" charset="77"/>
                <a:ea typeface="+mn-ea"/>
                <a:cs typeface="+mn-cs"/>
              </a:rPr>
              <a:t>Rohlová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Geogrotesque Rg" panose="02000000000000000000" pitchFamily="2" charset="77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grotesque Rg" panose="02000000000000000000" pitchFamily="2" charset="77"/>
                <a:ea typeface="+mn-ea"/>
                <a:cs typeface="+mn-cs"/>
              </a:rPr>
              <a:t>Kateřina </a:t>
            </a:r>
            <a:r>
              <a:rPr kumimoji="0" lang="en-US" altLang="en-US" sz="2400" b="0" i="0" u="none" strike="noStrike" kern="1200" cap="none" spc="0" normalizeH="0" baseline="0" noProof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Geogrotesque Rg" panose="02000000000000000000" pitchFamily="2" charset="77"/>
                <a:ea typeface="+mn-ea"/>
                <a:cs typeface="+mn-cs"/>
              </a:rPr>
              <a:t>Večerková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Geogrotesque Rg" panose="02000000000000000000" pitchFamily="2" charset="77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5F0D5C5-D11E-9D10-FD4D-560F380EC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0908" y="1170537"/>
            <a:ext cx="1612900" cy="24257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3CA8EA5-1787-C35C-1095-7F3C1E739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4294" y="1397685"/>
            <a:ext cx="1612900" cy="24257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6D9AF72-5547-FCCD-8008-CE9C32E131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522" y="1369328"/>
            <a:ext cx="1612900" cy="24257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0A6BBEA-890B-7CB3-05C9-CCB061F8BC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4109" y="1405481"/>
            <a:ext cx="1612900" cy="24257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6B4FD7C-81EA-624F-A003-ABFCD3CC1C00}"/>
              </a:ext>
            </a:extLst>
          </p:cNvPr>
          <p:cNvSpPr/>
          <p:nvPr/>
        </p:nvSpPr>
        <p:spPr>
          <a:xfrm>
            <a:off x="4376828" y="3537674"/>
            <a:ext cx="7733655" cy="469887"/>
          </a:xfrm>
          <a:prstGeom prst="rect">
            <a:avLst/>
          </a:prstGeom>
          <a:solidFill>
            <a:srgbClr val="C1C1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FC1E5B-C6C4-FE81-0065-BCA5E7A632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0908" y="4149109"/>
            <a:ext cx="1612900" cy="24257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0DF2859-1EBA-A1FE-81A8-4B3B33DFBAD5}"/>
              </a:ext>
            </a:extLst>
          </p:cNvPr>
          <p:cNvSpPr/>
          <p:nvPr/>
        </p:nvSpPr>
        <p:spPr>
          <a:xfrm>
            <a:off x="4404294" y="935594"/>
            <a:ext cx="7570180" cy="469887"/>
          </a:xfrm>
          <a:prstGeom prst="rect">
            <a:avLst/>
          </a:prstGeom>
          <a:solidFill>
            <a:srgbClr val="C1C1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6146" name="Picture 2" descr="Photo">
            <a:extLst>
              <a:ext uri="{FF2B5EF4-FFF2-40B4-BE49-F238E27FC236}">
                <a16:creationId xmlns:a16="http://schemas.microsoft.com/office/drawing/2014/main" id="{149DF622-A3C9-1699-9680-6F40654C3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4294" y="4103448"/>
            <a:ext cx="1612900" cy="2419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Photo">
            <a:extLst>
              <a:ext uri="{FF2B5EF4-FFF2-40B4-BE49-F238E27FC236}">
                <a16:creationId xmlns:a16="http://schemas.microsoft.com/office/drawing/2014/main" id="{E853867C-6A45-5913-281D-83B6619075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7522" y="4155459"/>
            <a:ext cx="1612900" cy="241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AFA5620-7DD1-255D-BF71-4A4D08700026}"/>
              </a:ext>
            </a:extLst>
          </p:cNvPr>
          <p:cNvSpPr/>
          <p:nvPr/>
        </p:nvSpPr>
        <p:spPr>
          <a:xfrm>
            <a:off x="4343567" y="6287856"/>
            <a:ext cx="7570180" cy="469887"/>
          </a:xfrm>
          <a:prstGeom prst="rect">
            <a:avLst/>
          </a:prstGeom>
          <a:solidFill>
            <a:srgbClr val="C1C1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A06ECD-3E39-49FE-8439-75B7CEF8B1DF}"/>
              </a:ext>
            </a:extLst>
          </p:cNvPr>
          <p:cNvSpPr/>
          <p:nvPr/>
        </p:nvSpPr>
        <p:spPr>
          <a:xfrm>
            <a:off x="4194972" y="3729647"/>
            <a:ext cx="7570180" cy="469887"/>
          </a:xfrm>
          <a:prstGeom prst="rect">
            <a:avLst/>
          </a:prstGeom>
          <a:solidFill>
            <a:srgbClr val="C1C1C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5176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000"/>
    </mc:Choice>
    <mc:Fallback xmlns="">
      <p:transition spd="slow" advTm="15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C1C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22523F-2870-CE4D-55C0-272913133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5919DC-9A26-1941-B429-35AB8236CD88}"/>
              </a:ext>
            </a:extLst>
          </p:cNvPr>
          <p:cNvSpPr txBox="1"/>
          <p:nvPr/>
        </p:nvSpPr>
        <p:spPr>
          <a:xfrm>
            <a:off x="8084529" y="2385311"/>
            <a:ext cx="39659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25331"/>
                </a:solidFill>
                <a:effectLst/>
                <a:uLnTx/>
                <a:uFillTx/>
                <a:latin typeface="Geogrotesque Rg" panose="02000000000000000000" pitchFamily="2" charset="77"/>
                <a:ea typeface="+mn-ea"/>
                <a:cs typeface="+mn-cs"/>
              </a:rPr>
              <a:t>Please provide your feedback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482614-0A43-B31C-E77C-90338404D3C8}"/>
              </a:ext>
            </a:extLst>
          </p:cNvPr>
          <p:cNvSpPr txBox="1"/>
          <p:nvPr/>
        </p:nvSpPr>
        <p:spPr>
          <a:xfrm>
            <a:off x="2849526" y="3062177"/>
            <a:ext cx="771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Photo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57B202-76B3-0766-9245-832FD797BC88}"/>
              </a:ext>
            </a:extLst>
          </p:cNvPr>
          <p:cNvSpPr txBox="1"/>
          <p:nvPr/>
        </p:nvSpPr>
        <p:spPr>
          <a:xfrm>
            <a:off x="8250865" y="6488668"/>
            <a:ext cx="4105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eogrotesque Rg" panose="02000000000000000000" pitchFamily="2" charset="77"/>
              </a:rPr>
              <a:t>https://</a:t>
            </a:r>
            <a:r>
              <a:rPr lang="en-US" dirty="0" err="1">
                <a:latin typeface="Geogrotesque Rg" panose="02000000000000000000" pitchFamily="2" charset="77"/>
              </a:rPr>
              <a:t>forms.gle</a:t>
            </a:r>
            <a:r>
              <a:rPr lang="en-US" dirty="0">
                <a:latin typeface="Geogrotesque Rg" panose="02000000000000000000" pitchFamily="2" charset="77"/>
              </a:rPr>
              <a:t>/maNtCd4oXf7DLq5y7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7BF4BE-B371-94BF-D371-A91292E69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25" y="0"/>
            <a:ext cx="5849815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99B74C-34A3-ABE3-86FB-51A68F685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9341" y="3062177"/>
            <a:ext cx="3351145" cy="335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206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1132</TotalTime>
  <Words>172</Words>
  <Application>Microsoft Macintosh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Geogrotesque Rg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Michal Kolar</dc:creator>
  <cp:lastModifiedBy>Michal Kolar</cp:lastModifiedBy>
  <cp:revision>33</cp:revision>
  <dcterms:created xsi:type="dcterms:W3CDTF">2025-04-22T20:44:21Z</dcterms:created>
  <dcterms:modified xsi:type="dcterms:W3CDTF">2026-06-04T12:43:16Z</dcterms:modified>
</cp:coreProperties>
</file>