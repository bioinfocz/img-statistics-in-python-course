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400" r:id="rId2"/>
    <p:sldId id="401" r:id="rId3"/>
    <p:sldId id="402" r:id="rId4"/>
    <p:sldId id="403" r:id="rId5"/>
    <p:sldId id="405" r:id="rId6"/>
    <p:sldId id="416" r:id="rId7"/>
    <p:sldId id="406" r:id="rId8"/>
    <p:sldId id="407" r:id="rId9"/>
    <p:sldId id="408" r:id="rId10"/>
    <p:sldId id="409" r:id="rId11"/>
    <p:sldId id="410" r:id="rId12"/>
    <p:sldId id="418" r:id="rId13"/>
    <p:sldId id="417" r:id="rId14"/>
    <p:sldId id="411" r:id="rId15"/>
    <p:sldId id="412" r:id="rId16"/>
    <p:sldId id="413" r:id="rId17"/>
    <p:sldId id="414" r:id="rId18"/>
    <p:sldId id="41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5331"/>
    <a:srgbClr val="0089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315"/>
  </p:normalViewPr>
  <p:slideViewPr>
    <p:cSldViewPr snapToGrid="0">
      <p:cViewPr varScale="1">
        <p:scale>
          <a:sx n="99" d="100"/>
          <a:sy n="99" d="100"/>
        </p:scale>
        <p:origin x="1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C996B-914B-5148-85F1-ACCBABE58BEE}" type="datetimeFigureOut">
              <a:rPr lang="en-US" smtClean="0"/>
              <a:t>7/1/26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852B2-2108-A947-8403-D1973C51B1E5}" type="slidenum">
              <a:rPr lang="en-US" smtClean="0"/>
              <a:t>‹#›</a:t>
            </a:fld>
            <a:endParaRPr lang="en-US"/>
          </a:p>
        </p:txBody>
      </p:sp>
    </p:spTree>
    <p:extLst>
      <p:ext uri="{BB962C8B-B14F-4D97-AF65-F5344CB8AC3E}">
        <p14:creationId xmlns:p14="http://schemas.microsoft.com/office/powerpoint/2010/main" val="4081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p:cNvSpPr>
            <a:spLocks noGrp="1"/>
          </p:cNvSpPr>
          <p:nvPr>
            <p:ph type="sldNum" sz="quarter" idx="10"/>
          </p:nvPr>
        </p:nvSpPr>
        <p:spPr/>
        <p:txBody>
          <a:bodyPr/>
          <a:lstStyle/>
          <a:p>
            <a:fld id="{5F85B3B6-0D1D-4AF2-A283-5E0C73008F17}" type="slidenum">
              <a:rPr lang="en-US" smtClean="0"/>
              <a:t>1</a:t>
            </a:fld>
            <a:endParaRPr lang="en-US"/>
          </a:p>
        </p:txBody>
      </p:sp>
    </p:spTree>
    <p:extLst>
      <p:ext uri="{BB962C8B-B14F-4D97-AF65-F5344CB8AC3E}">
        <p14:creationId xmlns:p14="http://schemas.microsoft.com/office/powerpoint/2010/main" val="385567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0592-CF96-A03F-6264-8BAE9BC81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DAB8B-70A2-997A-11D7-DCEB3B22A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2F2A6-F343-0BB5-43D3-BFBBE2E15DC9}"/>
              </a:ext>
            </a:extLst>
          </p:cNvPr>
          <p:cNvSpPr>
            <a:spLocks noGrp="1"/>
          </p:cNvSpPr>
          <p:nvPr>
            <p:ph type="body" idx="1"/>
          </p:nvPr>
        </p:nvSpPr>
        <p:spPr/>
        <p:txBody>
          <a:bodyPr/>
          <a:lstStyle/>
          <a:p>
            <a:r>
              <a:rPr lang="en-US" dirty="0"/>
              <a:t>Companion theory lecture for </a:t>
            </a:r>
          </a:p>
          <a:p>
            <a:endParaRPr lang="en-US" dirty="0"/>
          </a:p>
          <a:p>
            <a:r>
              <a:rPr lang="en-US" dirty="0"/>
              <a:t>Practical Session 1 (`01_exploratory_data_analysis.ipynb`). </a:t>
            </a:r>
          </a:p>
          <a:p>
            <a:endParaRPr lang="en-US" dirty="0"/>
          </a:p>
          <a:p>
            <a:r>
              <a:rPr lang="en-US" dirty="0"/>
              <a:t>Structured as slide content + speaker notes. </a:t>
            </a:r>
          </a:p>
          <a:p>
            <a:endParaRPr lang="en-US" dirty="0"/>
          </a:p>
          <a:p>
            <a:r>
              <a:rPr lang="en-US" dirty="0"/>
              <a:t>Part I is the general introduction (3 slides); </a:t>
            </a:r>
          </a:p>
          <a:p>
            <a:r>
              <a:rPr lang="en-US" dirty="0"/>
              <a:t>Part II walks through the concepts students will use in the notebook.</a:t>
            </a:r>
          </a:p>
          <a:p>
            <a:endParaRPr lang="en-US" dirty="0"/>
          </a:p>
        </p:txBody>
      </p:sp>
      <p:sp>
        <p:nvSpPr>
          <p:cNvPr id="4" name="Slide Number Placeholder 3">
            <a:extLst>
              <a:ext uri="{FF2B5EF4-FFF2-40B4-BE49-F238E27FC236}">
                <a16:creationId xmlns:a16="http://schemas.microsoft.com/office/drawing/2014/main" id="{E9EF444F-A24D-16E6-6564-D5D8ECA420AA}"/>
              </a:ext>
            </a:extLst>
          </p:cNvPr>
          <p:cNvSpPr>
            <a:spLocks noGrp="1"/>
          </p:cNvSpPr>
          <p:nvPr>
            <p:ph type="sldNum" sz="quarter" idx="10"/>
          </p:nvPr>
        </p:nvSpPr>
        <p:spPr/>
        <p:txBody>
          <a:bodyPr/>
          <a:lstStyle/>
          <a:p>
            <a:fld id="{5F85B3B6-0D1D-4AF2-A283-5E0C73008F17}" type="slidenum">
              <a:rPr lang="en-US" smtClean="0"/>
              <a:t>2</a:t>
            </a:fld>
            <a:endParaRPr lang="en-US"/>
          </a:p>
        </p:txBody>
      </p:sp>
    </p:spTree>
    <p:extLst>
      <p:ext uri="{BB962C8B-B14F-4D97-AF65-F5344CB8AC3E}">
        <p14:creationId xmlns:p14="http://schemas.microsoft.com/office/powerpoint/2010/main" val="1265525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Introduce the contingency table as the categorical analogue of comparing groups. The Lady tasting tea is the hook: Fisher gave a colleague who claimed she could taste whether milk or tea was poured first eight cups (four of each) to sort. The margins are fixed (four of each), which is exactly what makes the exact computation possible. The null is always no association / independence.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Its appeal: exact for any sample size, including tiny ones — no distributional assumption beyond the fixed margins. The pitfall is cost: computationally expensive as the table grows, because the number of possible tables explodes with more cells. So it's the tool for small, roughly 2x2 tables. The odds ratio is the product of the row-wise odds. The next slide makes 'as or more extreme' concrete by laying out every possible table.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expected-count formula E_ij = R_i C_j / N is exact and worth deriving: under independence P(row i, col j) = (R_i/N)(C_j/N), times N gives the expected count. Frame chi-squared as Fisher's large-sample cousin. Caveat: the approximation needs expected counts per cell above ~5; for small counts use Yates's correction. Teaching point: on the small tea table Fisher and chi-squared differ; enlarge the counts and they converge.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0C6A0-3E06-F2A0-03C9-991306A4D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DF7C7-89A0-D806-E4C2-FBD607B30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53AA6-ED80-DC8A-047B-F1340FC3FC8B}"/>
              </a:ext>
            </a:extLst>
          </p:cNvPr>
          <p:cNvSpPr>
            <a:spLocks noGrp="1"/>
          </p:cNvSpPr>
          <p:nvPr>
            <p:ph type="body" idx="1"/>
          </p:nvPr>
        </p:nvSpPr>
        <p:spPr/>
        <p:txBody>
          <a:bodyPr/>
          <a:lstStyle/>
          <a:p>
            <a:pPr>
              <a:spcAft>
                <a:spcPts val="600"/>
              </a:spcAft>
            </a:pPr>
            <a:r>
              <a:rPr lang="en-GB" sz="1200" dirty="0">
                <a:solidFill>
                  <a:schemeClr val="tx1"/>
                </a:solidFill>
                <a:latin typeface="+mn-lt"/>
              </a:rPr>
              <a:t>The expected-count formula E_ij = R_i C_j / N is exact and worth deriving: under independence P(row i, col j) = (R_i/N)(C_j/N), times N gives the expected count. Frame chi-squared as Fisher's large-sample cousin. Caveat: the approximation needs expected counts per cell above ~5; for small counts use Yates's correction. Teaching point: on the small tea table Fisher and chi-squared differ; enlarge the counts and they converge.</a:t>
            </a:r>
          </a:p>
        </p:txBody>
      </p:sp>
    </p:spTree>
    <p:extLst>
      <p:ext uri="{BB962C8B-B14F-4D97-AF65-F5344CB8AC3E}">
        <p14:creationId xmlns:p14="http://schemas.microsoft.com/office/powerpoint/2010/main" val="2648132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image is two CDFs climbing from 0 to 1; the statistic is the single widest vertical distance between them (the figure marks it). Caveat: breadth costs power — weaker than the t-test at a location shift, weaker than Shapiro–Wilk at non-normality. Reach for it when you care whether two distributions differ in any way, not just in their means.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hinge into ANOVA — the answer decides which ANOVA to run. Pitfall: Bartlett is itself sensitive to non-normality and can reject equal variances simply because the data aren't normal, so on real data Levene is the safer default. Mirrors the Student-vs-Welch logic from Session 2, one level up.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Open with 'why not run all the pairwise t-tests?' — that inflates error (the Part IV cliff-hanger). Walk the decomposition with the figure: subtract the grand mean and square-sum to get SS_total; it splits into how far group means sit from the grand mean (SS_between, signal) plus how far points sit from their own group mean (SS_within, noise). Dividing by degrees of freedom gives mean squares; their ratio is F. For two groups, ANOVA = the t-test (F = t²).</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CF7FC-5B46-0570-9093-7717DFA28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EBCC3-F276-9CC4-5B11-0F190DE9F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36DD9-BAD8-3903-FC79-C544A9DF6DED}"/>
              </a:ext>
            </a:extLst>
          </p:cNvPr>
          <p:cNvSpPr>
            <a:spLocks noGrp="1"/>
          </p:cNvSpPr>
          <p:nvPr>
            <p:ph type="body" idx="1"/>
          </p:nvPr>
        </p:nvSpPr>
        <p:spPr/>
        <p:txBody>
          <a:bodyPr/>
          <a:lstStyle/>
          <a:p>
            <a:pPr>
              <a:spcAft>
                <a:spcPts val="600"/>
              </a:spcAft>
            </a:pPr>
            <a:r>
              <a:rPr lang="en-GB" sz="1200" dirty="0">
                <a:solidFill>
                  <a:schemeClr val="tx1"/>
                </a:solidFill>
                <a:latin typeface="+mn-lt"/>
              </a:rPr>
              <a:t>Open with 'why not run all the pairwise t-tests?' — that inflates error (the Part IV cliff-hanger). Walk the decomposition with the figure: subtract the grand mean and square-sum to get SS_total; it splits into how far group means sit from the grand mean (SS_between, signal) plus how far points sit from their own group mean (SS_within, noise). Dividing by degrees of freedom gives mean squares; their ratio is F. For two groups, ANOVA = the t-test (F = t²).</a:t>
            </a:r>
          </a:p>
        </p:txBody>
      </p:sp>
    </p:spTree>
    <p:extLst>
      <p:ext uri="{BB962C8B-B14F-4D97-AF65-F5344CB8AC3E}">
        <p14:creationId xmlns:p14="http://schemas.microsoft.com/office/powerpoint/2010/main" val="3240527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7356-2C08-F68F-E4ED-FC12EE26A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F872E-076F-5C76-611A-4D3F0BF459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C53A4-9DB5-493E-CDEF-259257A494E9}"/>
              </a:ext>
            </a:extLst>
          </p:cNvPr>
          <p:cNvSpPr>
            <a:spLocks noGrp="1"/>
          </p:cNvSpPr>
          <p:nvPr>
            <p:ph type="body" idx="1"/>
          </p:nvPr>
        </p:nvSpPr>
        <p:spPr/>
        <p:txBody>
          <a:bodyPr/>
          <a:lstStyle/>
          <a:p>
            <a:pPr>
              <a:spcAft>
                <a:spcPts val="600"/>
              </a:spcAft>
            </a:pPr>
            <a:r>
              <a:rPr lang="en-GB" sz="1200" dirty="0">
                <a:solidFill>
                  <a:schemeClr val="tx1"/>
                </a:solidFill>
                <a:latin typeface="+mn-lt"/>
              </a:rPr>
              <a:t>Open with 'why not run all the pairwise t-tests?' — that inflates error (the Part IV cliff-hanger). Walk the decomposition with the figure: subtract the grand mean and square-sum to get SS_total; it splits into how far group means sit from the grand mean (SS_between, signal) plus how far points sit from their own group mean (SS_within, noise). Dividing by degrees of freedom gives mean squares; their ratio is F. For two groups, ANOVA = the t-test (F = t²).</a:t>
            </a:r>
          </a:p>
        </p:txBody>
      </p:sp>
    </p:spTree>
    <p:extLst>
      <p:ext uri="{BB962C8B-B14F-4D97-AF65-F5344CB8AC3E}">
        <p14:creationId xmlns:p14="http://schemas.microsoft.com/office/powerpoint/2010/main" val="172865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The Session-2 decision tree one level up: t-test→Welch/Mann–Whitney becomes ANOVA→Welch-ANOVA/Kruskal–Wallis. Use the Bartlett/Levene result to pick the branch. Pitfalls: the classic F-test misbehaves under unequal variances with unequal group sizes (the Behrens–Fisher problem from the Mann–Whitney example); and Kruskal–Wallis inherits Mann–Whitney's caveat — a clean median test only when group shapes match.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As important as ANOVA — it answers the actual scientific question. The pitfall it solves: a significant F says some mean differs, not which, and uncorrected pairwise t-tests re-create the multiple-testing problem (5 groups = 10 comparisons). The clever bit is the Studentized Range: each gap is compared to the distribution of the largest gap among m means under the null, so the family-wise error stays at α by construction. It reuses ANOVA's MS_within as the common yardstick (same equal-variance assumption); Tukey–Kramer handles unequal n via the harmonic mean. Read results off the per-pair CIs: 0 inside → not significant.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Where Session 2's per-test α breaks down at scale. The 1−(1−α)^m curve (figure) climbs to 40% by ten tests. Test 20,000 genes at 0.05 under a global null and you expect ~1,000 hits by chance. Tukey on the previous slide was a first taste of the fix.</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GB" sz="1200" dirty="0">
                <a:solidFill>
                  <a:schemeClr val="tx1"/>
                </a:solidFill>
                <a:latin typeface="+mn-lt"/>
              </a:rPr>
              <a:t>Frame as a choice of which error you fear. Bonferroni (FWER) is simple and very conservative — fine for a handful of tests, brutal across thousands. Benjamini–Hochberg (FDR) tolerates a controlled fraction of false discoveries to keep power — the genomics standard. q-value plainly: q=0.05 means 'if I call this and everything more significant a hit, ~5% of those hits are expected false.' Pitfall: a q-value is not a p-value.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A6E8A-98AB-3BA5-3BE4-EABDCFE946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0796A2E-6033-4370-40AA-21537D84F5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406FCA-BF3D-F064-C4FF-091BA1CF4D6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B9111F2-D123-EB1B-8F18-A670C6C67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1A21D-BE0A-FAC5-0246-C0ADC1D110D2}"/>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409762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CAD6-8FA9-61AB-14AF-53F53CC8B1B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1CD8C00-5B3B-E40D-57DC-0B975A7A100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B8B4EE-35BE-A356-9132-F226F6DE3BE6}"/>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2276F13B-080E-E794-3643-5B2E62F6A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EDE43C-C2FC-C049-E05A-7E6FCE86D747}"/>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16362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3A53-8CEE-48C2-176E-AFC20C4DE1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CA1780B-9982-60D8-D203-CD96B035BC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959A1C-7A0B-A5FC-FA96-078CD6A43A89}"/>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8F5825D-2C3C-6AE8-B4C2-00D981B482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68DCB-D9B0-0205-463B-1499F4C4FB20}"/>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907001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4FDF-B5E4-884E-5633-3995F8BAB55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A113F-AF88-DB72-7763-7C11902674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EDB8A0-CD5F-7366-3A8B-C8A708A5508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66777EE-2609-A05E-179B-A927B49A4194}"/>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22DC85CF-88D4-4556-80CD-2C55E5907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C2366D-E431-9AEA-E843-913EC1033250}"/>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039880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308D8-C016-C1DC-139F-188334F2BFA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2AFDD0-0D40-73F3-9942-346CC0C57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464DD22-8985-6FED-40C7-1DEA0742A9B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ECB3635-AA80-89E9-C178-0F7EC803FC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9300FA1-472A-154E-972F-9D6F4E8C63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EC07557-DD2C-1662-8100-9AD66FC6B1C9}"/>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8" name="Footer Placeholder 7">
            <a:extLst>
              <a:ext uri="{FF2B5EF4-FFF2-40B4-BE49-F238E27FC236}">
                <a16:creationId xmlns:a16="http://schemas.microsoft.com/office/drawing/2014/main" id="{33F3546C-7384-825A-EF38-E522CEAA34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D47E84-861E-CBFF-7F5B-D15C8C8DE155}"/>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91068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AA74-A68D-068D-3D2A-810C0ECFED7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B8ED38D-10EA-758F-3234-78D44C1FEEA7}"/>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4" name="Footer Placeholder 3">
            <a:extLst>
              <a:ext uri="{FF2B5EF4-FFF2-40B4-BE49-F238E27FC236}">
                <a16:creationId xmlns:a16="http://schemas.microsoft.com/office/drawing/2014/main" id="{B5D719A7-B550-3DF8-D1D6-575E0A3180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EE4DB1-E0B0-180E-D6F5-FFF06719D059}"/>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46719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7BCC6-C089-E9FC-08D3-85225CAD180E}"/>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3" name="Footer Placeholder 2">
            <a:extLst>
              <a:ext uri="{FF2B5EF4-FFF2-40B4-BE49-F238E27FC236}">
                <a16:creationId xmlns:a16="http://schemas.microsoft.com/office/drawing/2014/main" id="{74C80324-8C76-8C0F-74F6-7F0A87FE2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995303-6CF1-B16D-B1C0-B88C2966600A}"/>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828196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C7C8-68AB-D0BE-8D11-AF521BA803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A53127F-ACAF-B5BC-864F-EC741DF90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E1DD1B9-179C-1CD2-9C06-3FA4B42EC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CEA6E7-A522-5C3D-CE43-00B87C7F4D4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BA6CF34A-68E8-1269-A25F-181E4CDBD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5FE9F-C72F-C8E1-3925-DA30F2BCAE56}"/>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3504360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886AD-DD64-8E7F-2737-567CC192D4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4FF7C85-674F-86A8-87FC-57D2833ED2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574373-2A9F-2BD0-61D8-B9DCE83F3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599398-8EF3-2EC2-F719-65A5CF7507D1}"/>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6" name="Footer Placeholder 5">
            <a:extLst>
              <a:ext uri="{FF2B5EF4-FFF2-40B4-BE49-F238E27FC236}">
                <a16:creationId xmlns:a16="http://schemas.microsoft.com/office/drawing/2014/main" id="{99D0BB87-F71E-15EB-F104-4D3EB53FAA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E3AA5C-2B33-3AE1-64E0-C1DE2D15E0D7}"/>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115116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24D6-9538-9179-15A6-96F4D56445C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E81D4AC-FD53-1C4E-6C52-AA086D5A00C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4E7B7F-A069-AC4E-AD25-BBDF56CB3F52}"/>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8BADC6B7-082B-4CB9-651C-5C067738BD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D1D80-12E2-B729-FDA2-D71CA5127863}"/>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8401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C69607-0ABB-4C0F-6280-34D5FD9E3A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912EC1-E0B9-A121-585D-9D98AC738DD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CD24B6-98FB-1D10-31D8-972C89B43AA8}"/>
              </a:ext>
            </a:extLst>
          </p:cNvPr>
          <p:cNvSpPr>
            <a:spLocks noGrp="1"/>
          </p:cNvSpPr>
          <p:nvPr>
            <p:ph type="dt" sz="half" idx="10"/>
          </p:nvPr>
        </p:nvSpPr>
        <p:spPr/>
        <p:txBody>
          <a:body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32B507C8-26A5-D2D4-6E2F-DF6177BFA5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D1183-8100-2E75-0B5C-ECBBFCAF04DF}"/>
              </a:ext>
            </a:extLst>
          </p:cNvPr>
          <p:cNvSpPr>
            <a:spLocks noGrp="1"/>
          </p:cNvSpPr>
          <p:nvPr>
            <p:ph type="sldNum" sz="quarter" idx="12"/>
          </p:nvPr>
        </p:nvSpPr>
        <p:spPr/>
        <p:txBody>
          <a:bodyPr/>
          <a:lstStyle/>
          <a:p>
            <a:fld id="{EC723DEB-0A6A-FE4C-AB1C-CAF73B1EA4F0}" type="slidenum">
              <a:rPr lang="en-US" smtClean="0"/>
              <a:t>‹#›</a:t>
            </a:fld>
            <a:endParaRPr lang="en-US"/>
          </a:p>
        </p:txBody>
      </p:sp>
    </p:spTree>
    <p:extLst>
      <p:ext uri="{BB962C8B-B14F-4D97-AF65-F5344CB8AC3E}">
        <p14:creationId xmlns:p14="http://schemas.microsoft.com/office/powerpoint/2010/main" val="2490653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600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141A9C-DB8D-0EA6-5771-BD0E15902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9ACD66E-1C1A-6D14-1AD1-843605D5EA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3BBD1BC-7AAE-0115-68F9-6944108433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AA81B5-8634-9A43-BCC2-CFD46E554E6C}" type="datetimeFigureOut">
              <a:rPr lang="en-US" smtClean="0"/>
              <a:t>7/1/26</a:t>
            </a:fld>
            <a:endParaRPr lang="en-US"/>
          </a:p>
        </p:txBody>
      </p:sp>
      <p:sp>
        <p:nvSpPr>
          <p:cNvPr id="5" name="Footer Placeholder 4">
            <a:extLst>
              <a:ext uri="{FF2B5EF4-FFF2-40B4-BE49-F238E27FC236}">
                <a16:creationId xmlns:a16="http://schemas.microsoft.com/office/drawing/2014/main" id="{2DA41F16-B2B8-01C0-545B-C71F3324F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15F467-BF1E-1C0C-F980-905566F73C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723DEB-0A6A-FE4C-AB1C-CAF73B1EA4F0}" type="slidenum">
              <a:rPr lang="en-US" smtClean="0"/>
              <a:t>‹#›</a:t>
            </a:fld>
            <a:endParaRPr lang="en-US"/>
          </a:p>
        </p:txBody>
      </p:sp>
    </p:spTree>
    <p:extLst>
      <p:ext uri="{BB962C8B-B14F-4D97-AF65-F5344CB8AC3E}">
        <p14:creationId xmlns:p14="http://schemas.microsoft.com/office/powerpoint/2010/main" val="1956958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232266"/>
            <a:ext cx="12192000" cy="1323439"/>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4000" noProof="0" dirty="0">
                <a:latin typeface="Geogrotesque Rg" panose="02000000000000000000" pitchFamily="2" charset="77"/>
              </a:rPr>
              <a:t>Lecture 3 — Statistical Testing, continued</a:t>
            </a:r>
          </a:p>
        </p:txBody>
      </p:sp>
      <p:sp>
        <p:nvSpPr>
          <p:cNvPr id="5" name="TextBox 4"/>
          <p:cNvSpPr txBox="1"/>
          <p:nvPr/>
        </p:nvSpPr>
        <p:spPr>
          <a:xfrm>
            <a:off x="0" y="5071736"/>
            <a:ext cx="12192000" cy="553998"/>
          </a:xfrm>
          <a:prstGeom prst="rect">
            <a:avLst/>
          </a:prstGeom>
          <a:noFill/>
        </p:spPr>
        <p:txBody>
          <a:bodyPr wrap="square" rtlCol="0">
            <a:spAutoFit/>
          </a:bodyPr>
          <a:lstStyle/>
          <a:p>
            <a:pPr algn="ctr"/>
            <a:r>
              <a:rPr lang="en-GB" sz="3000" noProof="0" dirty="0">
                <a:latin typeface="Geogrotesque Rg" panose="02000000000000000000" pitchFamily="2" charset="77"/>
              </a:rPr>
              <a:t>Michal Kolář</a:t>
            </a:r>
          </a:p>
        </p:txBody>
      </p:sp>
      <p:sp>
        <p:nvSpPr>
          <p:cNvPr id="6" name="TextBox 5"/>
          <p:cNvSpPr txBox="1"/>
          <p:nvPr/>
        </p:nvSpPr>
        <p:spPr>
          <a:xfrm>
            <a:off x="0" y="5625734"/>
            <a:ext cx="12192000" cy="553998"/>
          </a:xfrm>
          <a:prstGeom prst="rect">
            <a:avLst/>
          </a:prstGeom>
          <a:noFill/>
        </p:spPr>
        <p:txBody>
          <a:bodyPr wrap="square" rtlCol="0">
            <a:spAutoFit/>
          </a:bodyPr>
          <a:lstStyle/>
          <a:p>
            <a:pPr algn="ctr"/>
            <a:r>
              <a:rPr lang="en-GB" sz="3000" noProof="0" dirty="0">
                <a:solidFill>
                  <a:srgbClr val="007FBA"/>
                </a:solidFill>
                <a:latin typeface="Geogrotesque Rg" panose="02000000000000000000" pitchFamily="2" charset="77"/>
                <a:cs typeface="Arial" panose="020B0604020202020204" pitchFamily="34" charset="0"/>
              </a:rPr>
              <a:t>IMG</a:t>
            </a:r>
          </a:p>
        </p:txBody>
      </p:sp>
      <p:sp>
        <p:nvSpPr>
          <p:cNvPr id="7" name="TextBox 6">
            <a:extLst>
              <a:ext uri="{FF2B5EF4-FFF2-40B4-BE49-F238E27FC236}">
                <a16:creationId xmlns:a16="http://schemas.microsoft.com/office/drawing/2014/main" id="{1C9C07E4-CA13-A349-82FC-508587E8704F}"/>
              </a:ext>
            </a:extLst>
          </p:cNvPr>
          <p:cNvSpPr txBox="1"/>
          <p:nvPr/>
        </p:nvSpPr>
        <p:spPr>
          <a:xfrm>
            <a:off x="0" y="6179732"/>
            <a:ext cx="12192000" cy="338554"/>
          </a:xfrm>
          <a:prstGeom prst="rect">
            <a:avLst/>
          </a:prstGeom>
          <a:noFill/>
        </p:spPr>
        <p:txBody>
          <a:bodyPr wrap="square" rtlCol="0">
            <a:spAutoFit/>
          </a:bodyPr>
          <a:lstStyle/>
          <a:p>
            <a:pPr algn="ctr"/>
            <a:r>
              <a:rPr lang="en-GB" sz="1600" noProof="0" dirty="0">
                <a:latin typeface="Geogrotesque Rg" panose="02000000000000000000" pitchFamily="2" charset="77"/>
              </a:rPr>
              <a:t>Prague, 06/2026</a:t>
            </a:r>
          </a:p>
        </p:txBody>
      </p:sp>
    </p:spTree>
    <p:extLst>
      <p:ext uri="{BB962C8B-B14F-4D97-AF65-F5344CB8AC3E}">
        <p14:creationId xmlns:p14="http://schemas.microsoft.com/office/powerpoint/2010/main" val="2659336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 — Associations between categories</a:t>
            </a:r>
          </a:p>
        </p:txBody>
      </p:sp>
    </p:spTree>
    <p:extLst>
      <p:ext uri="{BB962C8B-B14F-4D97-AF65-F5344CB8AC3E}">
        <p14:creationId xmlns:p14="http://schemas.microsoft.com/office/powerpoint/2010/main" val="154915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3</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The contingency table</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Are two categorical variables associated?</a:t>
            </a:r>
          </a:p>
          <a:p>
            <a:pPr marL="0" indent="0" algn="just">
              <a:buNone/>
            </a:pPr>
            <a:endParaRPr lang="en-GB" sz="2000" noProof="0" dirty="0"/>
          </a:p>
          <a:p>
            <a:pPr algn="just"/>
            <a:r>
              <a:rPr lang="en-GB" sz="2000" noProof="0" dirty="0">
                <a:latin typeface="Geogrotesque Rg" panose="02000000000000000000" pitchFamily="2" charset="77"/>
              </a:rPr>
              <a:t>Cross-classify the counts into a </a:t>
            </a:r>
            <a:r>
              <a:rPr lang="en-GB" sz="2000" noProof="0" dirty="0">
                <a:solidFill>
                  <a:srgbClr val="F25331"/>
                </a:solidFill>
                <a:latin typeface="Geogrotesque Rg" panose="02000000000000000000" pitchFamily="2" charset="77"/>
              </a:rPr>
              <a:t>contingency table</a:t>
            </a:r>
            <a:r>
              <a:rPr lang="en-GB" sz="2000" noProof="0" dirty="0">
                <a:latin typeface="Geogrotesque Rg" panose="02000000000000000000" pitchFamily="2" charset="77"/>
              </a:rPr>
              <a:t> with row and column marginal sums (the Lady tasting tea: guessed vs. actual).</a:t>
            </a:r>
          </a:p>
          <a:p>
            <a:pPr algn="just"/>
            <a:r>
              <a:rPr lang="en-GB" sz="2000" noProof="0" dirty="0">
                <a:latin typeface="Geogrotesque Rg" panose="02000000000000000000" pitchFamily="2" charset="77"/>
              </a:rPr>
              <a:t>Shared null hypothesis: the two variables are </a:t>
            </a:r>
            <a:r>
              <a:rPr lang="en-GB" sz="2000" noProof="0" dirty="0">
                <a:solidFill>
                  <a:srgbClr val="F25331"/>
                </a:solidFill>
                <a:latin typeface="Geogrotesque Rg" panose="02000000000000000000" pitchFamily="2" charset="77"/>
              </a:rPr>
              <a:t>not associated</a:t>
            </a:r>
            <a:r>
              <a:rPr lang="en-GB" sz="2000" noProof="0" dirty="0">
                <a:latin typeface="Geogrotesque Rg" panose="02000000000000000000" pitchFamily="2" charset="77"/>
              </a:rPr>
              <a:t> (independent).</a:t>
            </a:r>
          </a:p>
          <a:p>
            <a:pPr algn="just"/>
            <a:r>
              <a:rPr lang="en-GB" sz="2000" noProof="0" dirty="0">
                <a:latin typeface="Geogrotesque Rg" panose="02000000000000000000" pitchFamily="2" charset="77"/>
              </a:rPr>
              <a:t>Two routes: an </a:t>
            </a:r>
            <a:r>
              <a:rPr lang="en-GB" sz="2000" noProof="0" dirty="0">
                <a:solidFill>
                  <a:srgbClr val="F25331"/>
                </a:solidFill>
                <a:latin typeface="Geogrotesque Rg" panose="02000000000000000000" pitchFamily="2" charset="77"/>
              </a:rPr>
              <a:t>exact</a:t>
            </a:r>
            <a:r>
              <a:rPr lang="en-GB" sz="2000" noProof="0" dirty="0">
                <a:latin typeface="Geogrotesque Rg" panose="02000000000000000000" pitchFamily="2" charset="77"/>
              </a:rPr>
              <a:t> combinatorial test (Fisher) or a </a:t>
            </a:r>
            <a:r>
              <a:rPr lang="en-GB" sz="2000" noProof="0" dirty="0">
                <a:solidFill>
                  <a:srgbClr val="F25331"/>
                </a:solidFill>
                <a:latin typeface="Geogrotesque Rg" panose="02000000000000000000" pitchFamily="2" charset="77"/>
              </a:rPr>
              <a:t>large-sample approximation</a:t>
            </a:r>
            <a:r>
              <a:rPr lang="en-GB" sz="2000" noProof="0" dirty="0">
                <a:latin typeface="Geogrotesque Rg" panose="02000000000000000000" pitchFamily="2" charset="77"/>
              </a:rPr>
              <a:t> (chi-squared).</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454088" y="607760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Counts in a table — is the pattern more than chance?</a:t>
            </a:r>
          </a:p>
        </p:txBody>
      </p:sp>
      <p:pic>
        <p:nvPicPr>
          <p:cNvPr id="7" name="Picture 6">
            <a:extLst>
              <a:ext uri="{FF2B5EF4-FFF2-40B4-BE49-F238E27FC236}">
                <a16:creationId xmlns:a16="http://schemas.microsoft.com/office/drawing/2014/main" id="{6F34123B-2380-3159-56D7-77555AF19CDA}"/>
              </a:ext>
            </a:extLst>
          </p:cNvPr>
          <p:cNvPicPr>
            <a:picLocks noChangeAspect="1"/>
          </p:cNvPicPr>
          <p:nvPr/>
        </p:nvPicPr>
        <p:blipFill>
          <a:blip r:embed="rId3"/>
          <a:stretch>
            <a:fillRect/>
          </a:stretch>
        </p:blipFill>
        <p:spPr>
          <a:xfrm>
            <a:off x="477982" y="3807446"/>
            <a:ext cx="7772400" cy="1527164"/>
          </a:xfrm>
          <a:prstGeom prst="rect">
            <a:avLst/>
          </a:prstGeom>
        </p:spPr>
      </p:pic>
      <p:pic>
        <p:nvPicPr>
          <p:cNvPr id="8" name="Picture 7">
            <a:extLst>
              <a:ext uri="{FF2B5EF4-FFF2-40B4-BE49-F238E27FC236}">
                <a16:creationId xmlns:a16="http://schemas.microsoft.com/office/drawing/2014/main" id="{558A3F22-5C7F-F1F1-1900-6BFC81AA9CEE}"/>
              </a:ext>
            </a:extLst>
          </p:cNvPr>
          <p:cNvPicPr>
            <a:picLocks noChangeAspect="1"/>
          </p:cNvPicPr>
          <p:nvPr/>
        </p:nvPicPr>
        <p:blipFill>
          <a:blip r:embed="rId4"/>
          <a:stretch>
            <a:fillRect/>
          </a:stretch>
        </p:blipFill>
        <p:spPr>
          <a:xfrm>
            <a:off x="9356317" y="1030905"/>
            <a:ext cx="5489064" cy="5046695"/>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CC3AA-9ABF-9321-6646-2574790902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0F74BD-3B68-5881-EBC8-BDE622E2C963}"/>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4</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7A5ED571-A110-27EA-4F1A-6FB86532EF6E}"/>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dirty="0">
                <a:latin typeface="Geogrotesque Rg" panose="02000000000000000000" pitchFamily="2" charset="77"/>
              </a:rPr>
              <a:t>Fisher's exact test</a:t>
            </a:r>
            <a:endParaRPr lang="en-GB" sz="3000" noProof="0" dirty="0">
              <a:latin typeface="Geogrotesque Rg" panose="02000000000000000000" pitchFamily="2" charset="77"/>
            </a:endParaRPr>
          </a:p>
        </p:txBody>
      </p:sp>
      <p:sp>
        <p:nvSpPr>
          <p:cNvPr id="3" name="Rectangle 2">
            <a:extLst>
              <a:ext uri="{FF2B5EF4-FFF2-40B4-BE49-F238E27FC236}">
                <a16:creationId xmlns:a16="http://schemas.microsoft.com/office/drawing/2014/main" id="{1120204E-BA83-9E61-709D-C4921632089D}"/>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24CEB84C-7C05-1456-D083-55FE1EDEDCEE}"/>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323C6559-B9AA-6CA4-0045-9CA8A41DD38B}"/>
              </a:ext>
            </a:extLst>
          </p:cNvPr>
          <p:cNvSpPr txBox="1">
            <a:spLocks/>
          </p:cNvSpPr>
          <p:nvPr/>
        </p:nvSpPr>
        <p:spPr>
          <a:xfrm>
            <a:off x="349059" y="778286"/>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Count the tables, exactly.</a:t>
            </a:r>
          </a:p>
          <a:p>
            <a:pPr marL="0" indent="0" algn="just">
              <a:buNone/>
            </a:pPr>
            <a:endParaRPr lang="en-GB" sz="2000" noProof="0" dirty="0"/>
          </a:p>
          <a:p>
            <a:pPr algn="just"/>
            <a:r>
              <a:rPr lang="en-GB" sz="2000" noProof="0" dirty="0">
                <a:latin typeface="Geogrotesque Rg" panose="02000000000000000000" pitchFamily="2" charset="77"/>
              </a:rPr>
              <a:t>p-value = the fraction of all tables with the </a:t>
            </a:r>
            <a:r>
              <a:rPr lang="en-GB" sz="2000" noProof="0" dirty="0">
                <a:solidFill>
                  <a:srgbClr val="F25331"/>
                </a:solidFill>
                <a:latin typeface="Geogrotesque Rg" panose="02000000000000000000" pitchFamily="2" charset="77"/>
              </a:rPr>
              <a:t>same margins</a:t>
            </a:r>
            <a:r>
              <a:rPr lang="en-GB" sz="2000" noProof="0" dirty="0">
                <a:latin typeface="Geogrotesque Rg" panose="02000000000000000000" pitchFamily="2" charset="77"/>
              </a:rPr>
              <a:t> that are </a:t>
            </a:r>
            <a:r>
              <a:rPr lang="en-GB" sz="2000" noProof="0" dirty="0">
                <a:solidFill>
                  <a:srgbClr val="0089D1"/>
                </a:solidFill>
                <a:latin typeface="Geogrotesque Rg" panose="02000000000000000000" pitchFamily="2" charset="77"/>
              </a:rPr>
              <a:t>as or more extreme than observed</a:t>
            </a:r>
            <a:r>
              <a:rPr lang="en-GB" sz="2000" noProof="0" dirty="0">
                <a:latin typeface="Geogrotesque Rg" panose="02000000000000000000" pitchFamily="2" charset="77"/>
              </a:rPr>
              <a:t> — pure combinatorics, no approximation.</a:t>
            </a:r>
          </a:p>
          <a:p>
            <a:pPr algn="just"/>
            <a:r>
              <a:rPr lang="en-GB" sz="2000" noProof="0" dirty="0">
                <a:latin typeface="Geogrotesque Rg" panose="02000000000000000000" pitchFamily="2" charset="77"/>
              </a:rPr>
              <a:t>Reports an </a:t>
            </a:r>
            <a:r>
              <a:rPr lang="en-GB" sz="2000" noProof="0" dirty="0">
                <a:solidFill>
                  <a:srgbClr val="F25331"/>
                </a:solidFill>
                <a:latin typeface="Geogrotesque Rg" panose="02000000000000000000" pitchFamily="2" charset="77"/>
              </a:rPr>
              <a:t>odds ratio</a:t>
            </a:r>
            <a:r>
              <a:rPr lang="en-GB" sz="2000" noProof="0" dirty="0">
                <a:latin typeface="Geogrotesque Rg" panose="02000000000000000000" pitchFamily="2" charset="77"/>
              </a:rPr>
              <a:t> summarising the strength of association.</a:t>
            </a:r>
          </a:p>
        </p:txBody>
      </p:sp>
      <p:sp>
        <p:nvSpPr>
          <p:cNvPr id="2" name="Rectangle 2">
            <a:extLst>
              <a:ext uri="{FF2B5EF4-FFF2-40B4-BE49-F238E27FC236}">
                <a16:creationId xmlns:a16="http://schemas.microsoft.com/office/drawing/2014/main" id="{5578BE7B-D6B6-D6C9-2E38-C2A7C6DEAD5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F8AC6560-2A50-F6F1-2804-5C5AE75E50F1}"/>
              </a:ext>
            </a:extLst>
          </p:cNvPr>
          <p:cNvSpPr txBox="1"/>
          <p:nvPr/>
        </p:nvSpPr>
        <p:spPr>
          <a:xfrm>
            <a:off x="6717046" y="635635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Exact for any sample size — but it doesn't scale.</a:t>
            </a:r>
          </a:p>
        </p:txBody>
      </p:sp>
      <p:pic>
        <p:nvPicPr>
          <p:cNvPr id="7" name="fig_tea_enumeration">
            <a:extLst>
              <a:ext uri="{FF2B5EF4-FFF2-40B4-BE49-F238E27FC236}">
                <a16:creationId xmlns:a16="http://schemas.microsoft.com/office/drawing/2014/main" id="{9FF313CF-C046-4544-BC51-C0602A5DB745}"/>
              </a:ext>
            </a:extLst>
          </p:cNvPr>
          <p:cNvPicPr>
            <a:picLocks noChangeAspect="1"/>
          </p:cNvPicPr>
          <p:nvPr/>
        </p:nvPicPr>
        <p:blipFill>
          <a:blip r:embed="rId3"/>
          <a:stretch>
            <a:fillRect/>
          </a:stretch>
        </p:blipFill>
        <p:spPr>
          <a:xfrm>
            <a:off x="799940" y="2889664"/>
            <a:ext cx="10334211" cy="3190050"/>
          </a:xfrm>
          <a:prstGeom prst="rect">
            <a:avLst/>
          </a:prstGeom>
        </p:spPr>
      </p:pic>
      <p:sp>
        <p:nvSpPr>
          <p:cNvPr id="8" name="Rectangle 7">
            <a:extLst>
              <a:ext uri="{FF2B5EF4-FFF2-40B4-BE49-F238E27FC236}">
                <a16:creationId xmlns:a16="http://schemas.microsoft.com/office/drawing/2014/main" id="{C2A2A731-4E67-7427-9353-7CB92026BB46}"/>
              </a:ext>
            </a:extLst>
          </p:cNvPr>
          <p:cNvSpPr/>
          <p:nvPr/>
        </p:nvSpPr>
        <p:spPr>
          <a:xfrm>
            <a:off x="7315198" y="5654337"/>
            <a:ext cx="3149848" cy="6243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678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5</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Chi-squared test of independence</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Compare observed counts to what independence predicts.</a:t>
            </a:r>
          </a:p>
          <a:p>
            <a:pPr marL="0" indent="0" algn="just">
              <a:buNone/>
            </a:pPr>
            <a:endParaRPr lang="en-GB" sz="2000" noProof="0" dirty="0"/>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5637735" y="6362115"/>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Fisher's large-sample cousin — an approximation that scales.</a:t>
            </a:r>
          </a:p>
        </p:txBody>
      </p:sp>
      <p:pic>
        <p:nvPicPr>
          <p:cNvPr id="92" name="fig_chi2_test"/>
          <p:cNvPicPr>
            <a:picLocks noChangeAspect="1"/>
          </p:cNvPicPr>
          <p:nvPr/>
        </p:nvPicPr>
        <p:blipFill>
          <a:blip r:embed="rId3"/>
          <a:srcRect r="48544" b="11060"/>
          <a:stretch>
            <a:fillRect/>
          </a:stretch>
        </p:blipFill>
        <p:spPr>
          <a:xfrm>
            <a:off x="-300546" y="1582615"/>
            <a:ext cx="6091737" cy="4435158"/>
          </a:xfrm>
          <a:prstGeom prst="rect">
            <a:avLst/>
          </a:prstGeom>
        </p:spPr>
      </p:pic>
      <p:sp>
        <p:nvSpPr>
          <p:cNvPr id="7" name="Rectangle 6">
            <a:extLst>
              <a:ext uri="{FF2B5EF4-FFF2-40B4-BE49-F238E27FC236}">
                <a16:creationId xmlns:a16="http://schemas.microsoft.com/office/drawing/2014/main" id="{20650AC1-55EE-78D0-DD3E-0BAAF549ADD8}"/>
              </a:ext>
            </a:extLst>
          </p:cNvPr>
          <p:cNvSpPr/>
          <p:nvPr/>
        </p:nvSpPr>
        <p:spPr>
          <a:xfrm>
            <a:off x="0" y="5391080"/>
            <a:ext cx="314984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Vertical Text Placeholder 2">
            <a:extLst>
              <a:ext uri="{FF2B5EF4-FFF2-40B4-BE49-F238E27FC236}">
                <a16:creationId xmlns:a16="http://schemas.microsoft.com/office/drawing/2014/main" id="{54653021-1823-CB62-C743-90857DF4076E}"/>
              </a:ext>
            </a:extLst>
          </p:cNvPr>
          <p:cNvSpPr txBox="1">
            <a:spLocks/>
          </p:cNvSpPr>
          <p:nvPr/>
        </p:nvSpPr>
        <p:spPr>
          <a:xfrm>
            <a:off x="5985158" y="1678446"/>
            <a:ext cx="5511414" cy="1740371"/>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latin typeface="Geogrotesque Rg" panose="02000000000000000000" pitchFamily="2" charset="77"/>
              </a:rPr>
              <a:t>Expected count from the margins</a:t>
            </a:r>
          </a:p>
          <a:p>
            <a:pPr marL="0" indent="0" algn="just">
              <a:buNone/>
            </a:pPr>
            <a:endParaRPr lang="en-GB" sz="2000" dirty="0">
              <a:latin typeface="Geogrotesque Rg" panose="02000000000000000000" pitchFamily="2" charset="77"/>
            </a:endParaRPr>
          </a:p>
          <a:p>
            <a:pPr marL="0" indent="0" algn="just">
              <a:buNone/>
            </a:pPr>
            <a:endParaRPr lang="en-GB" sz="2000" dirty="0">
              <a:latin typeface="Geogrotesque Rg" panose="02000000000000000000" pitchFamily="2" charset="77"/>
            </a:endParaRPr>
          </a:p>
          <a:p>
            <a:pPr marL="0" indent="0" algn="just">
              <a:buNone/>
            </a:pPr>
            <a:r>
              <a:rPr lang="en-GB" sz="2000" noProof="0" dirty="0">
                <a:latin typeface="Geogrotesque Rg" panose="02000000000000000000" pitchFamily="2" charset="77"/>
              </a:rPr>
              <a:t>Statistic</a:t>
            </a:r>
          </a:p>
          <a:p>
            <a:pPr marL="0" indent="0" algn="just">
              <a:buNone/>
            </a:pPr>
            <a:endParaRPr lang="en-GB" sz="2000" noProof="0" dirty="0">
              <a:latin typeface="Geogrotesque Rg" panose="02000000000000000000" pitchFamily="2" charset="77"/>
            </a:endParaRPr>
          </a:p>
        </p:txBody>
      </p:sp>
      <p:pic>
        <p:nvPicPr>
          <p:cNvPr id="9" name="Picture 8">
            <a:extLst>
              <a:ext uri="{FF2B5EF4-FFF2-40B4-BE49-F238E27FC236}">
                <a16:creationId xmlns:a16="http://schemas.microsoft.com/office/drawing/2014/main" id="{994E2690-6AAC-2021-4EA6-7F6A3E348AD7}"/>
              </a:ext>
            </a:extLst>
          </p:cNvPr>
          <p:cNvPicPr>
            <a:picLocks noChangeAspect="1"/>
          </p:cNvPicPr>
          <p:nvPr/>
        </p:nvPicPr>
        <p:blipFill>
          <a:blip r:embed="rId4">
            <a:duotone>
              <a:schemeClr val="accent1">
                <a:shade val="45000"/>
                <a:satMod val="135000"/>
              </a:schemeClr>
              <a:prstClr val="white"/>
            </a:duotone>
          </a:blip>
          <a:srcRect b="10109"/>
          <a:stretch>
            <a:fillRect/>
          </a:stretch>
        </p:blipFill>
        <p:spPr>
          <a:xfrm>
            <a:off x="6087172" y="2182655"/>
            <a:ext cx="2523428" cy="521456"/>
          </a:xfrm>
          <a:prstGeom prst="rect">
            <a:avLst/>
          </a:prstGeom>
        </p:spPr>
      </p:pic>
      <p:pic>
        <p:nvPicPr>
          <p:cNvPr id="11" name="Picture 10">
            <a:extLst>
              <a:ext uri="{FF2B5EF4-FFF2-40B4-BE49-F238E27FC236}">
                <a16:creationId xmlns:a16="http://schemas.microsoft.com/office/drawing/2014/main" id="{287B950B-1590-4EF6-7D20-4B617F5C0BA9}"/>
              </a:ext>
            </a:extLst>
          </p:cNvPr>
          <p:cNvPicPr>
            <a:picLocks noChangeAspect="1"/>
          </p:cNvPicPr>
          <p:nvPr/>
        </p:nvPicPr>
        <p:blipFill>
          <a:blip r:embed="rId5">
            <a:duotone>
              <a:schemeClr val="accent1">
                <a:shade val="45000"/>
                <a:satMod val="135000"/>
              </a:schemeClr>
              <a:prstClr val="white"/>
            </a:duotone>
          </a:blip>
          <a:stretch>
            <a:fillRect/>
          </a:stretch>
        </p:blipFill>
        <p:spPr>
          <a:xfrm>
            <a:off x="6095999" y="3367477"/>
            <a:ext cx="6027643" cy="555543"/>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D6B1D-E092-F6A9-EDEB-2348F77F28F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261E91-6679-09BD-E11D-7B6BF67E9D0A}"/>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6</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9C6375A5-ED95-6DA6-A238-1AD372A091E2}"/>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Chi-squared test of independence</a:t>
            </a:r>
          </a:p>
        </p:txBody>
      </p:sp>
      <p:sp>
        <p:nvSpPr>
          <p:cNvPr id="3" name="Rectangle 2">
            <a:extLst>
              <a:ext uri="{FF2B5EF4-FFF2-40B4-BE49-F238E27FC236}">
                <a16:creationId xmlns:a16="http://schemas.microsoft.com/office/drawing/2014/main" id="{3E51C10D-21E4-6615-D65D-259667FA587C}"/>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50D5109D-4205-EF9C-C26F-F871101C7245}"/>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B8E1849C-DFFD-D232-02E8-8F52DA3E1B2F}"/>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Compare observed counts to what independence predicts.</a:t>
            </a:r>
          </a:p>
          <a:p>
            <a:pPr marL="0" indent="0" algn="just">
              <a:buNone/>
            </a:pPr>
            <a:endParaRPr lang="en-GB" sz="2000" noProof="0" dirty="0"/>
          </a:p>
        </p:txBody>
      </p:sp>
      <p:sp>
        <p:nvSpPr>
          <p:cNvPr id="2" name="Rectangle 2">
            <a:extLst>
              <a:ext uri="{FF2B5EF4-FFF2-40B4-BE49-F238E27FC236}">
                <a16:creationId xmlns:a16="http://schemas.microsoft.com/office/drawing/2014/main" id="{747EA6C7-2734-7B26-29C9-C69CFE1F897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37FAE7D5-9886-9228-C5AB-91B5CC4174DC}"/>
              </a:ext>
            </a:extLst>
          </p:cNvPr>
          <p:cNvSpPr txBox="1"/>
          <p:nvPr/>
        </p:nvSpPr>
        <p:spPr>
          <a:xfrm>
            <a:off x="5776280" y="6351944"/>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Fisher's large-sample cousin — an approximation that scales.</a:t>
            </a:r>
          </a:p>
        </p:txBody>
      </p:sp>
      <p:pic>
        <p:nvPicPr>
          <p:cNvPr id="92" name="fig_chi2_test">
            <a:extLst>
              <a:ext uri="{FF2B5EF4-FFF2-40B4-BE49-F238E27FC236}">
                <a16:creationId xmlns:a16="http://schemas.microsoft.com/office/drawing/2014/main" id="{D51239DD-0F02-1849-C3BD-DEDE5DE8809A}"/>
              </a:ext>
            </a:extLst>
          </p:cNvPr>
          <p:cNvPicPr>
            <a:picLocks noChangeAspect="1"/>
          </p:cNvPicPr>
          <p:nvPr/>
        </p:nvPicPr>
        <p:blipFill>
          <a:blip r:embed="rId3"/>
          <a:srcRect b="11060"/>
          <a:stretch>
            <a:fillRect/>
          </a:stretch>
        </p:blipFill>
        <p:spPr>
          <a:xfrm>
            <a:off x="-308256" y="1582615"/>
            <a:ext cx="11838678" cy="4435158"/>
          </a:xfrm>
          <a:prstGeom prst="rect">
            <a:avLst/>
          </a:prstGeom>
        </p:spPr>
      </p:pic>
      <p:sp>
        <p:nvSpPr>
          <p:cNvPr id="7" name="Rectangle 6">
            <a:extLst>
              <a:ext uri="{FF2B5EF4-FFF2-40B4-BE49-F238E27FC236}">
                <a16:creationId xmlns:a16="http://schemas.microsoft.com/office/drawing/2014/main" id="{F941701C-4EC4-262F-05AF-C9165C429863}"/>
              </a:ext>
            </a:extLst>
          </p:cNvPr>
          <p:cNvSpPr/>
          <p:nvPr/>
        </p:nvSpPr>
        <p:spPr>
          <a:xfrm>
            <a:off x="0" y="5391080"/>
            <a:ext cx="314984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3710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II — Comparing whole distributions</a:t>
            </a:r>
          </a:p>
        </p:txBody>
      </p:sp>
    </p:spTree>
    <p:extLst>
      <p:ext uri="{BB962C8B-B14F-4D97-AF65-F5344CB8AC3E}">
        <p14:creationId xmlns:p14="http://schemas.microsoft.com/office/powerpoint/2010/main" val="1549153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8</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The Kolmogorov–Smirnov test</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6101694" cy="5439092"/>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Do two samples come from the same distribution?</a:t>
            </a:r>
          </a:p>
          <a:p>
            <a:pPr marL="0" indent="0" algn="just">
              <a:buNone/>
            </a:pPr>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Nonparametric; compares entire CDFs</a:t>
            </a:r>
          </a:p>
          <a:p>
            <a:pPr algn="just"/>
            <a:r>
              <a:rPr lang="en-GB" sz="2000" noProof="0" dirty="0">
                <a:latin typeface="Geogrotesque Rg" panose="02000000000000000000" pitchFamily="2" charset="77"/>
              </a:rPr>
              <a:t>a sample against a reference (1-sample)</a:t>
            </a:r>
          </a:p>
          <a:p>
            <a:pPr algn="just"/>
            <a:r>
              <a:rPr lang="en-GB" sz="2000" dirty="0">
                <a:latin typeface="Geogrotesque Rg" panose="02000000000000000000" pitchFamily="2" charset="77"/>
              </a:rPr>
              <a:t>o</a:t>
            </a:r>
            <a:r>
              <a:rPr lang="en-GB" sz="2000" noProof="0" dirty="0">
                <a:latin typeface="Geogrotesque Rg" panose="02000000000000000000" pitchFamily="2" charset="77"/>
              </a:rPr>
              <a:t>r two samples against each other (2-sample).</a:t>
            </a:r>
          </a:p>
          <a:p>
            <a:pPr algn="just"/>
            <a:endParaRPr lang="en-GB" sz="2000" dirty="0">
              <a:latin typeface="Geogrotesque Rg" panose="02000000000000000000" pitchFamily="2" charset="77"/>
            </a:endParaRPr>
          </a:p>
          <a:p>
            <a:pPr algn="just"/>
            <a:r>
              <a:rPr lang="en-GB" sz="2000" noProof="0" dirty="0">
                <a:latin typeface="Geogrotesque Rg" panose="02000000000000000000" pitchFamily="2" charset="77"/>
              </a:rPr>
              <a:t>Statistic = the largest vertical gap between the two cumulative curves.</a:t>
            </a: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Unlike the t-test (location only), it detects diﬀerences in location, scale, or shape.</a:t>
            </a:r>
          </a:p>
          <a:p>
            <a:pPr algn="just"/>
            <a:endParaRPr lang="en-GB" sz="2000" noProof="0" dirty="0">
              <a:latin typeface="Geogrotesque Rg" panose="02000000000000000000" pitchFamily="2" charset="77"/>
            </a:endParaRPr>
          </a:p>
          <a:p>
            <a:pPr marL="0" indent="0" algn="just">
              <a:buNone/>
            </a:pPr>
            <a:endParaRPr lang="en-GB" sz="2000" noProof="0" dirty="0">
              <a:latin typeface="Geogrotesque Rg" panose="02000000000000000000" pitchFamily="2" charset="77"/>
            </a:endParaRP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927274" y="615950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A generalist: sees any difference, but weakly.</a:t>
            </a:r>
          </a:p>
        </p:txBody>
      </p:sp>
      <p:pic>
        <p:nvPicPr>
          <p:cNvPr id="7" name="Picture 6">
            <a:extLst>
              <a:ext uri="{FF2B5EF4-FFF2-40B4-BE49-F238E27FC236}">
                <a16:creationId xmlns:a16="http://schemas.microsoft.com/office/drawing/2014/main" id="{D25CB15F-B9A4-4FAD-D76C-D0826B40F23D}"/>
              </a:ext>
            </a:extLst>
          </p:cNvPr>
          <p:cNvPicPr>
            <a:picLocks noChangeAspect="1"/>
          </p:cNvPicPr>
          <p:nvPr/>
        </p:nvPicPr>
        <p:blipFill>
          <a:blip r:embed="rId3"/>
          <a:srcRect l="50668"/>
          <a:stretch>
            <a:fillRect/>
          </a:stretch>
        </p:blipFill>
        <p:spPr>
          <a:xfrm>
            <a:off x="7482623" y="3057265"/>
            <a:ext cx="3824440" cy="2870598"/>
          </a:xfrm>
          <a:prstGeom prst="rect">
            <a:avLst/>
          </a:prstGeom>
        </p:spPr>
      </p:pic>
      <p:pic>
        <p:nvPicPr>
          <p:cNvPr id="8" name="Picture 7">
            <a:extLst>
              <a:ext uri="{FF2B5EF4-FFF2-40B4-BE49-F238E27FC236}">
                <a16:creationId xmlns:a16="http://schemas.microsoft.com/office/drawing/2014/main" id="{0B5A9E51-9083-1B1E-FF8F-1C7116884886}"/>
              </a:ext>
            </a:extLst>
          </p:cNvPr>
          <p:cNvPicPr>
            <a:picLocks noChangeAspect="1"/>
          </p:cNvPicPr>
          <p:nvPr/>
        </p:nvPicPr>
        <p:blipFill>
          <a:blip r:embed="rId3"/>
          <a:srcRect r="49139"/>
          <a:stretch>
            <a:fillRect/>
          </a:stretch>
        </p:blipFill>
        <p:spPr>
          <a:xfrm>
            <a:off x="7428161" y="179278"/>
            <a:ext cx="3953141" cy="2877987"/>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2800" noProof="0">
                <a:latin typeface="Geogrotesque Rg" panose="02000000000000000000" pitchFamily="2" charset="77"/>
              </a:rPr>
              <a:t>Part III — Comparing more than two groups</a:t>
            </a:r>
          </a:p>
        </p:txBody>
      </p:sp>
    </p:spTree>
    <p:extLst>
      <p:ext uri="{BB962C8B-B14F-4D97-AF65-F5344CB8AC3E}">
        <p14:creationId xmlns:p14="http://schemas.microsoft.com/office/powerpoint/2010/main" val="154915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10</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200" noProof="0" dirty="0">
                <a:latin typeface="Geogrotesque Rg" panose="02000000000000000000" pitchFamily="2" charset="77"/>
              </a:rPr>
              <a:t>First, check the variances: Bartlett (and Levene)</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60" y="917258"/>
            <a:ext cx="5497558" cy="5164887"/>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The tools ahead assume equal variances — test that first.</a:t>
            </a:r>
          </a:p>
          <a:p>
            <a:pPr marL="0" indent="0" algn="just">
              <a:buNone/>
            </a:pPr>
            <a:endParaRPr lang="en-GB" sz="2000" noProof="0" dirty="0"/>
          </a:p>
          <a:p>
            <a:pPr algn="just"/>
            <a:r>
              <a:rPr lang="en-GB" sz="2000" dirty="0">
                <a:solidFill>
                  <a:srgbClr val="F25331"/>
                </a:solidFill>
                <a:latin typeface="Geogrotesque Rg" panose="02000000000000000000" pitchFamily="2" charset="77"/>
              </a:rPr>
              <a:t>Bartlett's test </a:t>
            </a:r>
            <a:r>
              <a:rPr lang="en-GB" sz="2000" dirty="0">
                <a:latin typeface="Geogrotesque Rg" panose="02000000000000000000" pitchFamily="2" charset="77"/>
              </a:rPr>
              <a:t>tries to reject the null hypothesis of </a:t>
            </a:r>
            <a:r>
              <a:rPr lang="en-GB" sz="2000" dirty="0">
                <a:solidFill>
                  <a:srgbClr val="F25331"/>
                </a:solidFill>
                <a:latin typeface="Geogrotesque Rg" panose="02000000000000000000" pitchFamily="2" charset="77"/>
              </a:rPr>
              <a:t>h</a:t>
            </a:r>
            <a:r>
              <a:rPr lang="en-GB" sz="2000" noProof="0" dirty="0" err="1">
                <a:solidFill>
                  <a:srgbClr val="F25331"/>
                </a:solidFill>
                <a:latin typeface="Geogrotesque Rg" panose="02000000000000000000" pitchFamily="2" charset="77"/>
              </a:rPr>
              <a:t>omoscedasticity</a:t>
            </a:r>
            <a:r>
              <a:rPr lang="en-GB" sz="2000" noProof="0" dirty="0">
                <a:latin typeface="Geogrotesque Rg" panose="02000000000000000000" pitchFamily="2" charset="77"/>
              </a:rPr>
              <a:t> = equal variances across the m groups</a:t>
            </a:r>
          </a:p>
          <a:p>
            <a:pPr algn="just"/>
            <a:endParaRPr lang="en-GB" sz="2000" noProof="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statistic ~ χ² with m−1 </a:t>
            </a:r>
            <a:r>
              <a:rPr lang="en-GB" sz="2000" noProof="0" dirty="0" err="1">
                <a:latin typeface="Geogrotesque Rg" panose="02000000000000000000" pitchFamily="2" charset="77"/>
              </a:rPr>
              <a:t>df</a:t>
            </a:r>
            <a:endParaRPr lang="en-GB" sz="2000" noProof="0" dirty="0">
              <a:latin typeface="Geogrotesque Rg" panose="02000000000000000000" pitchFamily="2" charset="77"/>
            </a:endParaRPr>
          </a:p>
          <a:p>
            <a:pPr algn="just"/>
            <a:r>
              <a:rPr lang="en-GB" sz="2000" noProof="0" dirty="0">
                <a:latin typeface="Geogrotesque Rg" panose="02000000000000000000" pitchFamily="2" charset="77"/>
              </a:rPr>
              <a:t>Bartlett assumes normal data; if normality is doubtful, use </a:t>
            </a:r>
            <a:r>
              <a:rPr lang="en-GB" sz="2000" noProof="0" dirty="0">
                <a:solidFill>
                  <a:srgbClr val="F25331"/>
                </a:solidFill>
                <a:latin typeface="Geogrotesque Rg" panose="02000000000000000000" pitchFamily="2" charset="77"/>
              </a:rPr>
              <a:t>Levene's test</a:t>
            </a:r>
            <a:r>
              <a:rPr lang="en-GB" sz="2000" noProof="0" dirty="0">
                <a:latin typeface="Geogrotesque Rg" panose="02000000000000000000" pitchFamily="2" charset="77"/>
              </a:rPr>
              <a:t> (more robust).</a:t>
            </a:r>
          </a:p>
          <a:p>
            <a:pPr algn="just"/>
            <a:endParaRPr lang="en-GB" sz="2000" dirty="0">
              <a:latin typeface="Geogrotesque Rg" panose="02000000000000000000" pitchFamily="2" charset="77"/>
            </a:endParaRPr>
          </a:p>
          <a:p>
            <a:pPr algn="just"/>
            <a:r>
              <a:rPr lang="en-GB" sz="2000" noProof="0" dirty="0">
                <a:latin typeface="Geogrotesque Rg" panose="02000000000000000000" pitchFamily="2" charset="77"/>
              </a:rPr>
              <a:t>C.f. </a:t>
            </a:r>
            <a:r>
              <a:rPr lang="en-GB" sz="2000" dirty="0">
                <a:solidFill>
                  <a:srgbClr val="F25331"/>
                </a:solidFill>
                <a:latin typeface="Geogrotesque Rg" panose="02000000000000000000" pitchFamily="2" charset="77"/>
              </a:rPr>
              <a:t>heteroscedasticity</a:t>
            </a:r>
            <a:endParaRPr lang="en-GB" sz="2000" noProof="0" dirty="0">
              <a:latin typeface="Geogrotesque Rg" panose="02000000000000000000" pitchFamily="2" charset="77"/>
            </a:endParaRP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224954" y="590635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Equal variances? The answer picks which ANOVA to run.</a:t>
            </a:r>
          </a:p>
        </p:txBody>
      </p:sp>
      <p:pic>
        <p:nvPicPr>
          <p:cNvPr id="94" name="bartlett_H0"/>
          <p:cNvPicPr>
            <a:picLocks noChangeAspect="1"/>
          </p:cNvPicPr>
          <p:nvPr/>
        </p:nvPicPr>
        <p:blipFill>
          <a:blip r:embed="rId3"/>
          <a:stretch>
            <a:fillRect/>
          </a:stretch>
        </p:blipFill>
        <p:spPr>
          <a:xfrm>
            <a:off x="1584954" y="3001394"/>
            <a:ext cx="3216248" cy="427606"/>
          </a:xfrm>
          <a:prstGeom prst="rect">
            <a:avLst/>
          </a:prstGeom>
        </p:spPr>
      </p:pic>
      <p:pic>
        <p:nvPicPr>
          <p:cNvPr id="1026" name="Picture 2">
            <a:extLst>
              <a:ext uri="{FF2B5EF4-FFF2-40B4-BE49-F238E27FC236}">
                <a16:creationId xmlns:a16="http://schemas.microsoft.com/office/drawing/2014/main" id="{1659DE41-1A7C-3ABB-C374-8ED111152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9223" y="901421"/>
            <a:ext cx="5891625" cy="4418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177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11</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One-way ANOVA</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The t-test, generalised to many groups.</a:t>
            </a:r>
            <a:endParaRPr lang="en-GB" sz="2000" noProof="0" dirty="0"/>
          </a:p>
          <a:p>
            <a:pPr algn="just"/>
            <a:r>
              <a:rPr lang="en-GB" sz="2000" dirty="0"/>
              <a:t>Compares the means of a numerical variable across groups set by one categorical variable. </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5165629" y="6281217"/>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Signal / noise: between-group spread over within-group scatter.</a:t>
            </a:r>
          </a:p>
        </p:txBody>
      </p:sp>
      <p:pic>
        <p:nvPicPr>
          <p:cNvPr id="95" name="fig_anova_ss"/>
          <p:cNvPicPr>
            <a:picLocks noChangeAspect="1"/>
          </p:cNvPicPr>
          <p:nvPr/>
        </p:nvPicPr>
        <p:blipFill>
          <a:blip r:embed="rId3"/>
          <a:srcRect t="21517"/>
          <a:stretch>
            <a:fillRect/>
          </a:stretch>
        </p:blipFill>
        <p:spPr>
          <a:xfrm>
            <a:off x="349059" y="2130737"/>
            <a:ext cx="10727483" cy="3590125"/>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A53A1-5BDE-CC87-B44B-8A2BAABA34FC}"/>
            </a:ext>
          </a:extLst>
        </p:cNvPr>
        <p:cNvGrpSpPr/>
        <p:nvPr/>
      </p:nvGrpSpPr>
      <p:grpSpPr>
        <a:xfrm>
          <a:off x="0" y="0"/>
          <a:ext cx="0" cy="0"/>
          <a:chOff x="0" y="0"/>
          <a:chExt cx="0" cy="0"/>
        </a:xfrm>
      </p:grpSpPr>
      <p:sp>
        <p:nvSpPr>
          <p:cNvPr id="12" name="Vertical Text Placeholder 2">
            <a:extLst>
              <a:ext uri="{FF2B5EF4-FFF2-40B4-BE49-F238E27FC236}">
                <a16:creationId xmlns:a16="http://schemas.microsoft.com/office/drawing/2014/main" id="{51A6BDBA-47EB-70FB-D5D2-E91760A29915}"/>
              </a:ext>
            </a:extLst>
          </p:cNvPr>
          <p:cNvSpPr txBox="1">
            <a:spLocks/>
          </p:cNvSpPr>
          <p:nvPr/>
        </p:nvSpPr>
        <p:spPr>
          <a:xfrm>
            <a:off x="157822" y="1033799"/>
            <a:ext cx="6589928" cy="5705215"/>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sz="2000" noProof="0" dirty="0"/>
              <a:t>Compares the means of a numerical variable across groups set by one categorical variable. </a:t>
            </a:r>
          </a:p>
          <a:p>
            <a:pPr algn="just"/>
            <a:r>
              <a:rPr lang="en-GB" sz="2000" dirty="0">
                <a:solidFill>
                  <a:srgbClr val="0089D1"/>
                </a:solidFill>
              </a:rPr>
              <a:t>H</a:t>
            </a:r>
            <a:r>
              <a:rPr lang="en-GB" sz="2000" baseline="-25000" dirty="0">
                <a:solidFill>
                  <a:srgbClr val="0089D1"/>
                </a:solidFill>
              </a:rPr>
              <a:t>0</a:t>
            </a:r>
            <a:r>
              <a:rPr lang="en-GB" sz="2000" dirty="0">
                <a:solidFill>
                  <a:srgbClr val="0089D1"/>
                </a:solidFill>
              </a:rPr>
              <a:t>: 𝑚 </a:t>
            </a:r>
            <a:r>
              <a:rPr lang="en-GB" sz="2000" noProof="0" dirty="0">
                <a:solidFill>
                  <a:srgbClr val="0089D1"/>
                </a:solidFill>
              </a:rPr>
              <a:t>group means are equal</a:t>
            </a:r>
          </a:p>
          <a:p>
            <a:pPr algn="just"/>
            <a:endParaRPr lang="en-GB" sz="2000" noProof="0" dirty="0"/>
          </a:p>
          <a:p>
            <a:pPr algn="just"/>
            <a:r>
              <a:rPr lang="en-GB" sz="2000" noProof="0" dirty="0"/>
              <a:t>Splits the total variation into between-group and within-group parts:</a:t>
            </a:r>
          </a:p>
          <a:p>
            <a:pPr algn="just"/>
            <a:r>
              <a:rPr lang="en-GB" sz="2000" noProof="0" dirty="0"/>
              <a:t>Total variation: every point’s deviation from the grand mean</a:t>
            </a:r>
          </a:p>
          <a:p>
            <a:pPr algn="just"/>
            <a:endParaRPr lang="en-GB" sz="2000" dirty="0"/>
          </a:p>
          <a:p>
            <a:pPr marL="0" indent="0" algn="just">
              <a:buNone/>
            </a:pPr>
            <a:endParaRPr lang="en-GB" sz="2000" dirty="0"/>
          </a:p>
          <a:p>
            <a:pPr algn="just"/>
            <a:r>
              <a:rPr lang="en-GB" sz="2000" noProof="0" dirty="0"/>
              <a:t>Between group: each group mean vs. the grand mean (</a:t>
            </a:r>
            <a:r>
              <a:rPr lang="en-GB" sz="2000" noProof="0" dirty="0">
                <a:solidFill>
                  <a:srgbClr val="F25331"/>
                </a:solidFill>
              </a:rPr>
              <a:t>signal</a:t>
            </a:r>
            <a:r>
              <a:rPr lang="en-GB" sz="2000" noProof="0" dirty="0"/>
              <a:t>)</a:t>
            </a:r>
            <a:endParaRPr lang="en-GB" sz="2000" dirty="0"/>
          </a:p>
          <a:p>
            <a:pPr algn="just"/>
            <a:r>
              <a:rPr lang="en-GB" sz="2000" noProof="0" dirty="0"/>
              <a:t>Within group: each point vs. its own group mean (</a:t>
            </a:r>
            <a:r>
              <a:rPr lang="en-GB" sz="2000" noProof="0" dirty="0">
                <a:solidFill>
                  <a:srgbClr val="F25331"/>
                </a:solidFill>
              </a:rPr>
              <a:t>noise</a:t>
            </a:r>
            <a:r>
              <a:rPr lang="en-GB" sz="2000" noProof="0" dirty="0"/>
              <a:t>)</a:t>
            </a:r>
          </a:p>
          <a:p>
            <a:pPr algn="just"/>
            <a:endParaRPr lang="en-GB" sz="2000" noProof="0" dirty="0"/>
          </a:p>
        </p:txBody>
      </p:sp>
      <p:sp>
        <p:nvSpPr>
          <p:cNvPr id="4" name="Slide Number Placeholder 3">
            <a:extLst>
              <a:ext uri="{FF2B5EF4-FFF2-40B4-BE49-F238E27FC236}">
                <a16:creationId xmlns:a16="http://schemas.microsoft.com/office/drawing/2014/main" id="{1D727F12-1789-604E-7288-8D4E2931BC0A}"/>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12</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464A20AD-CEFF-46C5-22A1-5EABEF1C5541}"/>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One-way ANOVA</a:t>
            </a:r>
          </a:p>
        </p:txBody>
      </p:sp>
      <p:sp>
        <p:nvSpPr>
          <p:cNvPr id="2" name="Rectangle 2">
            <a:extLst>
              <a:ext uri="{FF2B5EF4-FFF2-40B4-BE49-F238E27FC236}">
                <a16:creationId xmlns:a16="http://schemas.microsoft.com/office/drawing/2014/main" id="{4F473550-88DA-009B-85E6-7BEC412428D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72641F83-B999-EF1D-4E58-4D77DF8C2C88}"/>
              </a:ext>
            </a:extLst>
          </p:cNvPr>
          <p:cNvSpPr txBox="1"/>
          <p:nvPr/>
        </p:nvSpPr>
        <p:spPr>
          <a:xfrm>
            <a:off x="5165629" y="6281217"/>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Signal / noise: between-group spread over within-group scatter.</a:t>
            </a:r>
          </a:p>
        </p:txBody>
      </p:sp>
      <p:pic>
        <p:nvPicPr>
          <p:cNvPr id="95" name="fig_anova_ss">
            <a:extLst>
              <a:ext uri="{FF2B5EF4-FFF2-40B4-BE49-F238E27FC236}">
                <a16:creationId xmlns:a16="http://schemas.microsoft.com/office/drawing/2014/main" id="{E98159A2-FF3A-C5E7-8AD7-8F52943C56B6}"/>
              </a:ext>
            </a:extLst>
          </p:cNvPr>
          <p:cNvPicPr>
            <a:picLocks noChangeAspect="1"/>
          </p:cNvPicPr>
          <p:nvPr/>
        </p:nvPicPr>
        <p:blipFill>
          <a:blip r:embed="rId3"/>
          <a:srcRect t="21517"/>
          <a:stretch>
            <a:fillRect/>
          </a:stretch>
        </p:blipFill>
        <p:spPr>
          <a:xfrm>
            <a:off x="6806957" y="904022"/>
            <a:ext cx="5110072" cy="1710168"/>
          </a:xfrm>
          <a:prstGeom prst="rect">
            <a:avLst/>
          </a:prstGeom>
        </p:spPr>
      </p:pic>
      <p:pic>
        <p:nvPicPr>
          <p:cNvPr id="7" name="Picture 6">
            <a:extLst>
              <a:ext uri="{FF2B5EF4-FFF2-40B4-BE49-F238E27FC236}">
                <a16:creationId xmlns:a16="http://schemas.microsoft.com/office/drawing/2014/main" id="{16A4242E-44B9-CC25-1596-787D76CF521F}"/>
              </a:ext>
            </a:extLst>
          </p:cNvPr>
          <p:cNvPicPr>
            <a:picLocks noChangeAspect="1"/>
          </p:cNvPicPr>
          <p:nvPr/>
        </p:nvPicPr>
        <p:blipFill>
          <a:blip r:embed="rId4">
            <a:duotone>
              <a:schemeClr val="accent4">
                <a:shade val="45000"/>
                <a:satMod val="135000"/>
              </a:schemeClr>
              <a:prstClr val="white"/>
            </a:duotone>
          </a:blip>
          <a:srcRect l="11041" r="45527" b="82966"/>
          <a:stretch>
            <a:fillRect/>
          </a:stretch>
        </p:blipFill>
        <p:spPr>
          <a:xfrm>
            <a:off x="6947407" y="3127616"/>
            <a:ext cx="2414586" cy="485847"/>
          </a:xfrm>
          <a:prstGeom prst="rect">
            <a:avLst/>
          </a:prstGeom>
        </p:spPr>
      </p:pic>
      <p:pic>
        <p:nvPicPr>
          <p:cNvPr id="8" name="Picture 7">
            <a:extLst>
              <a:ext uri="{FF2B5EF4-FFF2-40B4-BE49-F238E27FC236}">
                <a16:creationId xmlns:a16="http://schemas.microsoft.com/office/drawing/2014/main" id="{6424894E-3E63-75BE-A36D-C6860586AD0E}"/>
              </a:ext>
            </a:extLst>
          </p:cNvPr>
          <p:cNvPicPr>
            <a:picLocks noChangeAspect="1"/>
          </p:cNvPicPr>
          <p:nvPr/>
        </p:nvPicPr>
        <p:blipFill>
          <a:blip r:embed="rId4">
            <a:duotone>
              <a:schemeClr val="accent4">
                <a:shade val="45000"/>
                <a:satMod val="135000"/>
              </a:schemeClr>
              <a:prstClr val="white"/>
            </a:duotone>
          </a:blip>
          <a:srcRect l="10478" t="22121" r="37117" b="55372"/>
          <a:stretch>
            <a:fillRect/>
          </a:stretch>
        </p:blipFill>
        <p:spPr>
          <a:xfrm>
            <a:off x="6933552" y="4612407"/>
            <a:ext cx="2913429" cy="641958"/>
          </a:xfrm>
          <a:prstGeom prst="rect">
            <a:avLst/>
          </a:prstGeom>
        </p:spPr>
      </p:pic>
      <p:pic>
        <p:nvPicPr>
          <p:cNvPr id="9" name="Picture 8">
            <a:extLst>
              <a:ext uri="{FF2B5EF4-FFF2-40B4-BE49-F238E27FC236}">
                <a16:creationId xmlns:a16="http://schemas.microsoft.com/office/drawing/2014/main" id="{74A7262B-A37C-E4FF-33A8-32D2AD996D6E}"/>
              </a:ext>
            </a:extLst>
          </p:cNvPr>
          <p:cNvPicPr>
            <a:picLocks noChangeAspect="1"/>
          </p:cNvPicPr>
          <p:nvPr/>
        </p:nvPicPr>
        <p:blipFill>
          <a:blip r:embed="rId4">
            <a:duotone>
              <a:schemeClr val="accent4">
                <a:shade val="45000"/>
                <a:satMod val="135000"/>
              </a:schemeClr>
              <a:prstClr val="white"/>
            </a:duotone>
          </a:blip>
          <a:srcRect l="44118" t="61336" b="20051"/>
          <a:stretch>
            <a:fillRect/>
          </a:stretch>
        </p:blipFill>
        <p:spPr>
          <a:xfrm>
            <a:off x="6947407" y="3619693"/>
            <a:ext cx="3106772" cy="530883"/>
          </a:xfrm>
          <a:prstGeom prst="rect">
            <a:avLst/>
          </a:prstGeom>
        </p:spPr>
      </p:pic>
      <p:pic>
        <p:nvPicPr>
          <p:cNvPr id="11" name="Picture 10">
            <a:extLst>
              <a:ext uri="{FF2B5EF4-FFF2-40B4-BE49-F238E27FC236}">
                <a16:creationId xmlns:a16="http://schemas.microsoft.com/office/drawing/2014/main" id="{3FD5DDD9-78F5-8EA6-BB5E-CD9FFAB54B05}"/>
              </a:ext>
            </a:extLst>
          </p:cNvPr>
          <p:cNvPicPr>
            <a:picLocks noChangeAspect="1"/>
          </p:cNvPicPr>
          <p:nvPr/>
        </p:nvPicPr>
        <p:blipFill>
          <a:blip r:embed="rId4">
            <a:duotone>
              <a:schemeClr val="accent4">
                <a:shade val="45000"/>
                <a:satMod val="135000"/>
              </a:schemeClr>
              <a:prstClr val="white"/>
            </a:duotone>
          </a:blip>
          <a:srcRect l="10573" t="44671" r="41913" b="32822"/>
          <a:stretch>
            <a:fillRect/>
          </a:stretch>
        </p:blipFill>
        <p:spPr>
          <a:xfrm>
            <a:off x="6933552" y="5381345"/>
            <a:ext cx="2641637" cy="641958"/>
          </a:xfrm>
          <a:prstGeom prst="rect">
            <a:avLst/>
          </a:prstGeom>
        </p:spPr>
      </p:pic>
    </p:spTree>
    <p:extLst>
      <p:ext uri="{BB962C8B-B14F-4D97-AF65-F5344CB8AC3E}">
        <p14:creationId xmlns:p14="http://schemas.microsoft.com/office/powerpoint/2010/main" val="3806192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562F-C148-28CC-BE28-D624CD54DA0E}"/>
            </a:ext>
          </a:extLst>
        </p:cNvPr>
        <p:cNvGrpSpPr/>
        <p:nvPr/>
      </p:nvGrpSpPr>
      <p:grpSpPr>
        <a:xfrm>
          <a:off x="0" y="0"/>
          <a:ext cx="0" cy="0"/>
          <a:chOff x="0" y="0"/>
          <a:chExt cx="0" cy="0"/>
        </a:xfrm>
      </p:grpSpPr>
      <p:sp>
        <p:nvSpPr>
          <p:cNvPr id="12" name="Vertical Text Placeholder 2">
            <a:extLst>
              <a:ext uri="{FF2B5EF4-FFF2-40B4-BE49-F238E27FC236}">
                <a16:creationId xmlns:a16="http://schemas.microsoft.com/office/drawing/2014/main" id="{B62B870E-2DF1-BEC6-C29E-01C7E8B27CA3}"/>
              </a:ext>
            </a:extLst>
          </p:cNvPr>
          <p:cNvSpPr txBox="1">
            <a:spLocks/>
          </p:cNvSpPr>
          <p:nvPr/>
        </p:nvSpPr>
        <p:spPr>
          <a:xfrm>
            <a:off x="157822" y="1033799"/>
            <a:ext cx="10627345" cy="5705215"/>
          </a:xfrm>
          <a:prstGeom prst="rect">
            <a:avLst/>
          </a:prstGeom>
          <a:no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GB" sz="2000" noProof="0" dirty="0"/>
              <a:t>Compares the means of a numerical variable across groups set by one categorical variable. </a:t>
            </a:r>
          </a:p>
          <a:p>
            <a:pPr algn="just"/>
            <a:r>
              <a:rPr lang="en-GB" sz="2000" dirty="0">
                <a:solidFill>
                  <a:srgbClr val="0089D1"/>
                </a:solidFill>
              </a:rPr>
              <a:t>H</a:t>
            </a:r>
            <a:r>
              <a:rPr lang="en-GB" sz="2000" baseline="-25000" dirty="0">
                <a:solidFill>
                  <a:srgbClr val="0089D1"/>
                </a:solidFill>
              </a:rPr>
              <a:t>0</a:t>
            </a:r>
            <a:r>
              <a:rPr lang="en-GB" sz="2000" dirty="0">
                <a:solidFill>
                  <a:srgbClr val="0089D1"/>
                </a:solidFill>
              </a:rPr>
              <a:t>: 𝑚 </a:t>
            </a:r>
            <a:r>
              <a:rPr lang="en-GB" sz="2000" noProof="0" dirty="0">
                <a:solidFill>
                  <a:srgbClr val="0089D1"/>
                </a:solidFill>
              </a:rPr>
              <a:t>group means are equal</a:t>
            </a:r>
            <a:endParaRPr lang="en-GB" sz="2000" noProof="0" dirty="0"/>
          </a:p>
          <a:p>
            <a:pPr algn="just"/>
            <a:r>
              <a:rPr lang="en-GB" sz="2000" noProof="0" dirty="0"/>
              <a:t>The statistic is the signal over noise ratio</a:t>
            </a:r>
          </a:p>
          <a:p>
            <a:pPr marL="0" indent="0" algn="just">
              <a:buNone/>
            </a:pPr>
            <a:endParaRPr lang="en-GB" sz="2000" noProof="0" dirty="0"/>
          </a:p>
          <a:p>
            <a:pPr algn="just"/>
            <a:r>
              <a:rPr lang="en-GB" sz="2000" noProof="0" dirty="0"/>
              <a:t>Large F ⟹ groups diﬀer</a:t>
            </a:r>
          </a:p>
          <a:p>
            <a:pPr algn="just"/>
            <a:r>
              <a:rPr lang="en-GB" sz="2000" dirty="0"/>
              <a:t>Follows F</a:t>
            </a:r>
            <a:r>
              <a:rPr lang="en-GB" sz="2000" noProof="0" dirty="0"/>
              <a:t>-distribution.</a:t>
            </a:r>
          </a:p>
          <a:p>
            <a:pPr algn="just"/>
            <a:endParaRPr lang="en-GB" sz="2000" noProof="0" dirty="0"/>
          </a:p>
        </p:txBody>
      </p:sp>
      <p:sp>
        <p:nvSpPr>
          <p:cNvPr id="4" name="Slide Number Placeholder 3">
            <a:extLst>
              <a:ext uri="{FF2B5EF4-FFF2-40B4-BE49-F238E27FC236}">
                <a16:creationId xmlns:a16="http://schemas.microsoft.com/office/drawing/2014/main" id="{EA368943-5CAA-718D-A0E0-80BEE5C2CDB1}"/>
              </a:ext>
            </a:extLst>
          </p:cNvPr>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13</a:t>
            </a:fld>
            <a:endParaRPr lang="en-GB" noProof="0" dirty="0">
              <a:latin typeface="Geogrotesque Rg" panose="02000000000000000000" pitchFamily="2" charset="77"/>
            </a:endParaRPr>
          </a:p>
        </p:txBody>
      </p:sp>
      <p:sp>
        <p:nvSpPr>
          <p:cNvPr id="5" name="TextBox 4">
            <a:extLst>
              <a:ext uri="{FF2B5EF4-FFF2-40B4-BE49-F238E27FC236}">
                <a16:creationId xmlns:a16="http://schemas.microsoft.com/office/drawing/2014/main" id="{5D57F64E-9B2E-26EA-E11E-C4C5BDA767BC}"/>
              </a:ext>
            </a:extLst>
          </p:cNvPr>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One-way ANOVA</a:t>
            </a:r>
          </a:p>
        </p:txBody>
      </p:sp>
      <p:sp>
        <p:nvSpPr>
          <p:cNvPr id="2" name="Rectangle 2">
            <a:extLst>
              <a:ext uri="{FF2B5EF4-FFF2-40B4-BE49-F238E27FC236}">
                <a16:creationId xmlns:a16="http://schemas.microsoft.com/office/drawing/2014/main" id="{73AA043D-4731-AE5D-658F-0C9C66DF1C1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EE91511D-BCCD-1796-BB58-65078BD2C1C5}"/>
              </a:ext>
            </a:extLst>
          </p:cNvPr>
          <p:cNvSpPr txBox="1"/>
          <p:nvPr/>
        </p:nvSpPr>
        <p:spPr>
          <a:xfrm>
            <a:off x="5165629" y="6281217"/>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Signal / noise: between-group spread over within-group scatter.</a:t>
            </a:r>
          </a:p>
        </p:txBody>
      </p:sp>
      <p:pic>
        <p:nvPicPr>
          <p:cNvPr id="95" name="fig_anova_ss">
            <a:extLst>
              <a:ext uri="{FF2B5EF4-FFF2-40B4-BE49-F238E27FC236}">
                <a16:creationId xmlns:a16="http://schemas.microsoft.com/office/drawing/2014/main" id="{E436BC51-0DD9-02A2-4AA1-3EAF9C28D92E}"/>
              </a:ext>
            </a:extLst>
          </p:cNvPr>
          <p:cNvPicPr>
            <a:picLocks noChangeAspect="1"/>
          </p:cNvPicPr>
          <p:nvPr/>
        </p:nvPicPr>
        <p:blipFill>
          <a:blip r:embed="rId3"/>
          <a:srcRect t="21517"/>
          <a:stretch>
            <a:fillRect/>
          </a:stretch>
        </p:blipFill>
        <p:spPr>
          <a:xfrm>
            <a:off x="3129510" y="3157860"/>
            <a:ext cx="9061560" cy="3032597"/>
          </a:xfrm>
          <a:prstGeom prst="rect">
            <a:avLst/>
          </a:prstGeom>
        </p:spPr>
      </p:pic>
      <p:pic>
        <p:nvPicPr>
          <p:cNvPr id="13" name="Picture 12">
            <a:extLst>
              <a:ext uri="{FF2B5EF4-FFF2-40B4-BE49-F238E27FC236}">
                <a16:creationId xmlns:a16="http://schemas.microsoft.com/office/drawing/2014/main" id="{AD192433-F277-3B2A-7680-AAB42285CDCE}"/>
              </a:ext>
            </a:extLst>
          </p:cNvPr>
          <p:cNvPicPr>
            <a:picLocks noChangeAspect="1"/>
          </p:cNvPicPr>
          <p:nvPr/>
        </p:nvPicPr>
        <p:blipFill>
          <a:blip r:embed="rId4">
            <a:duotone>
              <a:schemeClr val="accent4">
                <a:shade val="45000"/>
                <a:satMod val="135000"/>
              </a:schemeClr>
              <a:prstClr val="white"/>
            </a:duotone>
          </a:blip>
          <a:srcRect t="77494" r="54856"/>
          <a:stretch>
            <a:fillRect/>
          </a:stretch>
        </p:blipFill>
        <p:spPr>
          <a:xfrm>
            <a:off x="4971664" y="1767113"/>
            <a:ext cx="2570466" cy="657433"/>
          </a:xfrm>
          <a:prstGeom prst="rect">
            <a:avLst/>
          </a:prstGeom>
        </p:spPr>
      </p:pic>
    </p:spTree>
    <p:extLst>
      <p:ext uri="{BB962C8B-B14F-4D97-AF65-F5344CB8AC3E}">
        <p14:creationId xmlns:p14="http://schemas.microsoft.com/office/powerpoint/2010/main" val="2748929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14</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ANOVA assumptions &amp; alternatives</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Three assumptions — and a backup for each failure.</a:t>
            </a:r>
          </a:p>
          <a:p>
            <a:pPr marL="0" indent="0" algn="just">
              <a:buNone/>
            </a:pPr>
            <a:endParaRPr lang="en-GB" sz="2000" noProof="0" dirty="0"/>
          </a:p>
          <a:p>
            <a:pPr algn="just"/>
            <a:r>
              <a:rPr lang="en-GB" sz="2000" noProof="0" dirty="0">
                <a:latin typeface="Geogrotesque Rg" panose="02000000000000000000" pitchFamily="2" charset="77"/>
              </a:rPr>
              <a:t>Assumes </a:t>
            </a:r>
            <a:r>
              <a:rPr lang="en-GB" sz="2000" noProof="0" dirty="0">
                <a:solidFill>
                  <a:srgbClr val="F25331"/>
                </a:solidFill>
                <a:latin typeface="Geogrotesque Rg" panose="02000000000000000000" pitchFamily="2" charset="77"/>
              </a:rPr>
              <a:t>normal</a:t>
            </a:r>
            <a:r>
              <a:rPr lang="en-GB" sz="2000" noProof="0" dirty="0">
                <a:latin typeface="Geogrotesque Rg" panose="02000000000000000000" pitchFamily="2" charset="77"/>
              </a:rPr>
              <a:t> subpopulations, </a:t>
            </a:r>
            <a:r>
              <a:rPr lang="en-GB" sz="2000" noProof="0" dirty="0">
                <a:solidFill>
                  <a:srgbClr val="F25331"/>
                </a:solidFill>
                <a:latin typeface="Geogrotesque Rg" panose="02000000000000000000" pitchFamily="2" charset="77"/>
              </a:rPr>
              <a:t>equal variances</a:t>
            </a:r>
            <a:r>
              <a:rPr lang="en-GB" sz="2000" noProof="0" dirty="0">
                <a:latin typeface="Geogrotesque Rg" panose="02000000000000000000" pitchFamily="2" charset="77"/>
              </a:rPr>
              <a:t>, and </a:t>
            </a:r>
            <a:r>
              <a:rPr lang="en-GB" sz="2000" noProof="0" dirty="0">
                <a:solidFill>
                  <a:srgbClr val="F25331"/>
                </a:solidFill>
                <a:latin typeface="Geogrotesque Rg" panose="02000000000000000000" pitchFamily="2" charset="77"/>
              </a:rPr>
              <a:t>independent</a:t>
            </a:r>
            <a:r>
              <a:rPr lang="en-GB" sz="2000" noProof="0" dirty="0">
                <a:latin typeface="Geogrotesque Rg" panose="02000000000000000000" pitchFamily="2" charset="77"/>
              </a:rPr>
              <a:t> observations.</a:t>
            </a:r>
          </a:p>
          <a:p>
            <a:pPr algn="just"/>
            <a:r>
              <a:rPr lang="en-GB" sz="2000" noProof="0" dirty="0">
                <a:latin typeface="Geogrotesque Rg" panose="02000000000000000000" pitchFamily="2" charset="77"/>
              </a:rPr>
              <a:t>Normal but unequal variances → </a:t>
            </a:r>
            <a:r>
              <a:rPr lang="en-GB" sz="2000" noProof="0" dirty="0">
                <a:solidFill>
                  <a:srgbClr val="F25331"/>
                </a:solidFill>
                <a:latin typeface="Geogrotesque Rg" panose="02000000000000000000" pitchFamily="2" charset="77"/>
              </a:rPr>
              <a:t>Welch's ANOVA</a:t>
            </a:r>
            <a:r>
              <a:rPr lang="en-GB" sz="2000" noProof="0" dirty="0">
                <a:latin typeface="Geogrotesque Rg" panose="02000000000000000000" pitchFamily="2" charset="77"/>
              </a:rPr>
              <a:t> or Alexander–Govern test.</a:t>
            </a:r>
          </a:p>
          <a:p>
            <a:pPr algn="just"/>
            <a:r>
              <a:rPr lang="en-GB" sz="2000" noProof="0" dirty="0">
                <a:latin typeface="Geogrotesque Rg" panose="02000000000000000000" pitchFamily="2" charset="77"/>
              </a:rPr>
              <a:t>Non-normal → </a:t>
            </a:r>
            <a:r>
              <a:rPr lang="en-GB" sz="2000" noProof="0" dirty="0">
                <a:solidFill>
                  <a:srgbClr val="F25331"/>
                </a:solidFill>
                <a:latin typeface="Geogrotesque Rg" panose="02000000000000000000" pitchFamily="2" charset="77"/>
              </a:rPr>
              <a:t>Kruskal–Wallis</a:t>
            </a:r>
            <a:r>
              <a:rPr lang="en-GB" sz="2000" noProof="0" dirty="0">
                <a:latin typeface="Geogrotesque Rg" panose="02000000000000000000" pitchFamily="2" charset="77"/>
              </a:rPr>
              <a:t> H test, a rank-based test of median equality.</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6482862" y="5906350"/>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Match the test to the assumptions that actually hold.</a:t>
            </a:r>
          </a:p>
        </p:txBody>
      </p:sp>
    </p:spTree>
    <p:extLst>
      <p:ext uri="{BB962C8B-B14F-4D97-AF65-F5344CB8AC3E}">
        <p14:creationId xmlns:p14="http://schemas.microsoft.com/office/powerpoint/2010/main" val="558177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15</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2600" noProof="0" dirty="0">
                <a:latin typeface="Geogrotesque Rg" panose="02000000000000000000" pitchFamily="2" charset="77"/>
              </a:rPr>
              <a:t>Which groups differ? Tukey's HSD</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10111123" cy="4803604"/>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ANOVA says “someone differs” — Tukey says who, without inflating error.</a:t>
            </a:r>
          </a:p>
          <a:p>
            <a:pPr marL="0" indent="0" algn="just">
              <a:buNone/>
            </a:pPr>
            <a:endParaRPr lang="en-GB" sz="2000" noProof="0" dirty="0"/>
          </a:p>
          <a:p>
            <a:pPr algn="just"/>
            <a:r>
              <a:rPr lang="en-GB" sz="2000" noProof="0" dirty="0">
                <a:latin typeface="Geogrotesque Rg" panose="02000000000000000000" pitchFamily="2" charset="77"/>
              </a:rPr>
              <a:t>Run after a significant ANOVA: all pairwise differences at once, holding the false </a:t>
            </a:r>
            <a:r>
              <a:rPr lang="en-GB" sz="2000" dirty="0">
                <a:latin typeface="Geogrotesque Rg" panose="02000000000000000000" pitchFamily="2" charset="77"/>
              </a:rPr>
              <a:t>positives at α using </a:t>
            </a:r>
            <a:r>
              <a:rPr lang="en-GB" sz="2000" noProof="0" dirty="0">
                <a:solidFill>
                  <a:srgbClr val="F25331"/>
                </a:solidFill>
                <a:latin typeface="Geogrotesque Rg" panose="02000000000000000000" pitchFamily="2" charset="77"/>
              </a:rPr>
              <a:t>family-wise error rate</a:t>
            </a:r>
            <a:r>
              <a:rPr lang="en-GB" sz="2000" noProof="0" dirty="0">
                <a:latin typeface="Geogrotesque Rg" panose="02000000000000000000" pitchFamily="2" charset="77"/>
              </a:rPr>
              <a:t>.</a:t>
            </a:r>
          </a:p>
          <a:p>
            <a:pPr algn="just"/>
            <a:r>
              <a:rPr lang="en-GB" sz="2000" noProof="0" dirty="0">
                <a:latin typeface="Geogrotesque Rg" panose="02000000000000000000" pitchFamily="2" charset="77"/>
              </a:rPr>
              <a:t>Yardstick is </a:t>
            </a:r>
            <a:r>
              <a:rPr lang="en-GB" sz="2000" noProof="0" dirty="0">
                <a:solidFill>
                  <a:srgbClr val="F25331"/>
                </a:solidFill>
                <a:latin typeface="Geogrotesque Rg" panose="02000000000000000000" pitchFamily="2" charset="77"/>
              </a:rPr>
              <a:t>MS within</a:t>
            </a:r>
            <a:r>
              <a:rPr lang="en-GB" sz="2000" noProof="0" dirty="0">
                <a:latin typeface="Geogrotesque Rg" panose="02000000000000000000" pitchFamily="2" charset="77"/>
              </a:rPr>
              <a:t> — ANOVA's pooled estimate of the common noise σ² over all n−m residual df, so it is stable and on the same scale.</a:t>
            </a:r>
          </a:p>
          <a:p>
            <a:pPr algn="just"/>
            <a:endParaRPr lang="en-GB" sz="200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endParaRPr lang="en-GB" sz="2000" noProof="0" dirty="0">
              <a:latin typeface="Geogrotesque Rg" panose="02000000000000000000" pitchFamily="2" charset="77"/>
            </a:endParaRPr>
          </a:p>
          <a:p>
            <a:pPr algn="just"/>
            <a:r>
              <a:rPr lang="en-GB" sz="2000" dirty="0">
                <a:latin typeface="Geogrotesque Rg" panose="02000000000000000000" pitchFamily="2" charset="77"/>
              </a:rPr>
              <a:t>𝑞 is compared to Studentized Range distribution 𝑞</a:t>
            </a:r>
            <a:r>
              <a:rPr lang="en-GB" sz="2000" baseline="-25000" dirty="0">
                <a:latin typeface="Geogrotesque Rg" panose="02000000000000000000" pitchFamily="2" charset="77"/>
              </a:rPr>
              <a:t>𝛼, 𝑚, 𝑛−𝑚</a:t>
            </a:r>
            <a:r>
              <a:rPr lang="en-GB" sz="2000" dirty="0">
                <a:latin typeface="Geogrotesque Rg" panose="02000000000000000000" pitchFamily="2" charset="77"/>
              </a:rPr>
              <a:t> — the distribution of the largest difference among 𝑚 means </a:t>
            </a:r>
            <a:r>
              <a:rPr lang="en-GB" sz="2000" dirty="0">
                <a:solidFill>
                  <a:schemeClr val="bg2">
                    <a:lumMod val="50000"/>
                  </a:schemeClr>
                </a:solidFill>
                <a:latin typeface="Geogrotesque Rg" panose="02000000000000000000" pitchFamily="2" charset="77"/>
              </a:rPr>
              <a:t>(, which is what makes the FWER correction automatic).</a:t>
            </a:r>
          </a:p>
          <a:p>
            <a:pPr algn="just"/>
            <a:r>
              <a:rPr lang="en-GB" sz="2000" dirty="0">
                <a:latin typeface="Geogrotesque Rg" panose="02000000000000000000" pitchFamily="2" charset="77"/>
              </a:rPr>
              <a:t>Honestly Significant Diﬀerence (HSD) = the smallest mean gap that clears that critical value; pairs farther apart than the HSD are significant.</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4285727" y="6081253"/>
            <a:ext cx="7900000" cy="338554"/>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It reuses ANOVA's </a:t>
            </a:r>
            <a:r>
              <a:rPr lang="en-GB" sz="1600" i="1" noProof="0" dirty="0" err="1">
                <a:solidFill>
                  <a:srgbClr val="0089D1"/>
                </a:solidFill>
                <a:latin typeface="Geogrotesque Rg" panose="02000000000000000000" pitchFamily="2" charset="77"/>
              </a:rPr>
              <a:t>MS_within</a:t>
            </a:r>
            <a:r>
              <a:rPr lang="en-GB" sz="1600" i="1" noProof="0" dirty="0">
                <a:solidFill>
                  <a:srgbClr val="0089D1"/>
                </a:solidFill>
                <a:latin typeface="Geogrotesque Rg" panose="02000000000000000000" pitchFamily="2" charset="77"/>
              </a:rPr>
              <a:t> as the common yardstick (same equal-variance assumption)</a:t>
            </a:r>
          </a:p>
        </p:txBody>
      </p:sp>
      <p:pic>
        <p:nvPicPr>
          <p:cNvPr id="96" name="tukey_q"/>
          <p:cNvPicPr>
            <a:picLocks noChangeAspect="1"/>
          </p:cNvPicPr>
          <p:nvPr/>
        </p:nvPicPr>
        <p:blipFill>
          <a:blip r:embed="rId3">
            <a:duotone>
              <a:schemeClr val="accent4">
                <a:shade val="45000"/>
                <a:satMod val="135000"/>
              </a:schemeClr>
              <a:prstClr val="white"/>
            </a:duotone>
          </a:blip>
          <a:stretch>
            <a:fillRect/>
          </a:stretch>
        </p:blipFill>
        <p:spPr>
          <a:xfrm>
            <a:off x="3199600" y="3319060"/>
            <a:ext cx="5036127" cy="783243"/>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286B-5B47-A28A-F3D8-8D3F6A86FDA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EF431C-C757-F7CE-D787-9F44F747D6B6}"/>
              </a:ext>
            </a:extLst>
          </p:cNvPr>
          <p:cNvSpPr txBox="1"/>
          <p:nvPr/>
        </p:nvSpPr>
        <p:spPr>
          <a:xfrm>
            <a:off x="0" y="1232266"/>
            <a:ext cx="12192000" cy="707886"/>
          </a:xfrm>
          <a:prstGeom prst="rect">
            <a:avLst/>
          </a:prstGeom>
        </p:spPr>
        <p:txBody>
          <a:bodyPr wrap="square">
            <a:spAutoFit/>
          </a:bodyPr>
          <a:lstStyle>
            <a:defPPr>
              <a:defRPr lang="en-US"/>
            </a:defPPr>
            <a:lvl1pPr>
              <a:defRPr>
                <a:solidFill>
                  <a:srgbClr val="DE492D"/>
                </a:solidFill>
                <a:latin typeface="Geogrotesque Md" panose="02000000000000000000" pitchFamily="50" charset="0"/>
              </a:defRPr>
            </a:lvl1pPr>
          </a:lstStyle>
          <a:p>
            <a:pPr algn="ctr"/>
            <a:r>
              <a:rPr lang="en-GB" sz="3200" noProof="0">
                <a:latin typeface="Geogrotesque Rg" panose="02000000000000000000" pitchFamily="2" charset="77"/>
              </a:rPr>
              <a:t>Part IV — Running many tests at once</a:t>
            </a:r>
          </a:p>
        </p:txBody>
      </p:sp>
    </p:spTree>
    <p:extLst>
      <p:ext uri="{BB962C8B-B14F-4D97-AF65-F5344CB8AC3E}">
        <p14:creationId xmlns:p14="http://schemas.microsoft.com/office/powerpoint/2010/main" val="1549153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17</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The multiple-testing problem</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3979369"/>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Run enough tests and you'll be “significant” by luck.</a:t>
            </a:r>
          </a:p>
          <a:p>
            <a:pPr marL="0" indent="0" algn="just">
              <a:buNone/>
            </a:pPr>
            <a:endParaRPr lang="en-GB" sz="2000" noProof="0" dirty="0"/>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8379578" y="6130189"/>
            <a:ext cx="7900000" cy="900000"/>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5% per test ≠ 5% overall.</a:t>
            </a:r>
          </a:p>
        </p:txBody>
      </p:sp>
      <p:pic>
        <p:nvPicPr>
          <p:cNvPr id="97" name="fig_multiple_testing"/>
          <p:cNvPicPr>
            <a:picLocks noChangeAspect="1"/>
          </p:cNvPicPr>
          <p:nvPr/>
        </p:nvPicPr>
        <p:blipFill>
          <a:blip r:embed="rId3"/>
          <a:stretch>
            <a:fillRect/>
          </a:stretch>
        </p:blipFill>
        <p:spPr>
          <a:xfrm>
            <a:off x="349059" y="1713489"/>
            <a:ext cx="6562012" cy="3799919"/>
          </a:xfrm>
          <a:prstGeom prst="rect">
            <a:avLst/>
          </a:prstGeom>
        </p:spPr>
      </p:pic>
      <p:pic>
        <p:nvPicPr>
          <p:cNvPr id="9" name="Picture 8">
            <a:extLst>
              <a:ext uri="{FF2B5EF4-FFF2-40B4-BE49-F238E27FC236}">
                <a16:creationId xmlns:a16="http://schemas.microsoft.com/office/drawing/2014/main" id="{D3EFEAAE-D7C5-E2ED-37BC-DCDE03373DF3}"/>
              </a:ext>
            </a:extLst>
          </p:cNvPr>
          <p:cNvPicPr>
            <a:picLocks noChangeAspect="1"/>
          </p:cNvPicPr>
          <p:nvPr/>
        </p:nvPicPr>
        <p:blipFill>
          <a:blip r:embed="rId4"/>
          <a:srcRect l="5457" r="40809" b="7418"/>
          <a:stretch>
            <a:fillRect/>
          </a:stretch>
        </p:blipFill>
        <p:spPr>
          <a:xfrm>
            <a:off x="8379577" y="353679"/>
            <a:ext cx="3737605" cy="3075313"/>
          </a:xfrm>
          <a:prstGeom prst="rect">
            <a:avLst/>
          </a:prstGeom>
        </p:spPr>
      </p:pic>
      <p:pic>
        <p:nvPicPr>
          <p:cNvPr id="11" name="Picture 10">
            <a:extLst>
              <a:ext uri="{FF2B5EF4-FFF2-40B4-BE49-F238E27FC236}">
                <a16:creationId xmlns:a16="http://schemas.microsoft.com/office/drawing/2014/main" id="{CF5DD97B-3F91-847F-97DA-D26CDCC7858F}"/>
              </a:ext>
            </a:extLst>
          </p:cNvPr>
          <p:cNvPicPr>
            <a:picLocks noChangeAspect="1"/>
          </p:cNvPicPr>
          <p:nvPr/>
        </p:nvPicPr>
        <p:blipFill>
          <a:blip r:embed="rId5"/>
          <a:stretch>
            <a:fillRect/>
          </a:stretch>
        </p:blipFill>
        <p:spPr>
          <a:xfrm>
            <a:off x="8998259" y="2450765"/>
            <a:ext cx="2184400" cy="2171700"/>
          </a:xfrm>
          <a:prstGeom prst="rect">
            <a:avLst/>
          </a:prstGeom>
        </p:spPr>
      </p:pic>
    </p:spTree>
    <p:extLst>
      <p:ext uri="{BB962C8B-B14F-4D97-AF65-F5344CB8AC3E}">
        <p14:creationId xmlns:p14="http://schemas.microsoft.com/office/powerpoint/2010/main" val="558177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365659-E5A7-483A-9350-80D7042BE98B}" type="slidenum">
              <a:rPr lang="en-GB" noProof="0" smtClean="0">
                <a:latin typeface="Geogrotesque Rg" panose="02000000000000000000" pitchFamily="2" charset="77"/>
              </a:rPr>
              <a:t>18</a:t>
            </a:fld>
            <a:endParaRPr lang="en-GB" noProof="0" dirty="0">
              <a:latin typeface="Geogrotesque Rg" panose="02000000000000000000" pitchFamily="2" charset="77"/>
            </a:endParaRPr>
          </a:p>
        </p:txBody>
      </p:sp>
      <p:sp>
        <p:nvSpPr>
          <p:cNvPr id="5" name="TextBox 4"/>
          <p:cNvSpPr txBox="1"/>
          <p:nvPr/>
        </p:nvSpPr>
        <p:spPr>
          <a:xfrm>
            <a:off x="157822" y="-13311"/>
            <a:ext cx="11700000" cy="715324"/>
          </a:xfrm>
          <a:prstGeom prst="rect">
            <a:avLst/>
          </a:prstGeom>
          <a:ln>
            <a:noFill/>
          </a:ln>
        </p:spPr>
        <p:txBody>
          <a:bodyPr wrap="square">
            <a:spAutoFit/>
          </a:bodyPr>
          <a:lstStyle>
            <a:defPPr>
              <a:defRPr lang="en-US"/>
            </a:defPPr>
            <a:lvl1pPr>
              <a:defRPr>
                <a:solidFill>
                  <a:srgbClr val="DE492D"/>
                </a:solidFill>
                <a:latin typeface="Geogrotesque Md" panose="02000000000000000000" pitchFamily="50" charset="0"/>
              </a:defRPr>
            </a:lvl1pPr>
          </a:lstStyle>
          <a:p>
            <a:pPr>
              <a:lnSpc>
                <a:spcPct val="150000"/>
              </a:lnSpc>
            </a:pPr>
            <a:r>
              <a:rPr lang="en-GB" sz="3000" noProof="0" dirty="0">
                <a:latin typeface="Geogrotesque Rg" panose="02000000000000000000" pitchFamily="2" charset="77"/>
              </a:rPr>
              <a:t>Controlling error: FWER vs FDR</a:t>
            </a:r>
          </a:p>
        </p:txBody>
      </p:sp>
      <p:sp>
        <p:nvSpPr>
          <p:cNvPr id="3" name="Rectangle 2">
            <a:extLst>
              <a:ext uri="{FF2B5EF4-FFF2-40B4-BE49-F238E27FC236}">
                <a16:creationId xmlns:a16="http://schemas.microsoft.com/office/drawing/2014/main" id="{73A74FCD-0727-7C4E-941A-30BBA63A20FB}"/>
              </a:ext>
            </a:extLst>
          </p:cNvPr>
          <p:cNvSpPr/>
          <p:nvPr/>
        </p:nvSpPr>
        <p:spPr>
          <a:xfrm>
            <a:off x="5967046" y="1137138"/>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0" name="Rectangle 9">
            <a:extLst>
              <a:ext uri="{FF2B5EF4-FFF2-40B4-BE49-F238E27FC236}">
                <a16:creationId xmlns:a16="http://schemas.microsoft.com/office/drawing/2014/main" id="{E451EBF8-E52C-7D49-8813-E27A9BCFEBB3}"/>
              </a:ext>
            </a:extLst>
          </p:cNvPr>
          <p:cNvSpPr/>
          <p:nvPr/>
        </p:nvSpPr>
        <p:spPr>
          <a:xfrm>
            <a:off x="5967046" y="5111872"/>
            <a:ext cx="515816" cy="445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latin typeface="Geogrotesque Rg" panose="02000000000000000000" pitchFamily="2" charset="77"/>
            </a:endParaRPr>
          </a:p>
        </p:txBody>
      </p:sp>
      <p:sp>
        <p:nvSpPr>
          <p:cNvPr id="12" name="Vertical Text Placeholder 2">
            <a:extLst>
              <a:ext uri="{FF2B5EF4-FFF2-40B4-BE49-F238E27FC236}">
                <a16:creationId xmlns:a16="http://schemas.microsoft.com/office/drawing/2014/main" id="{CDC7A08B-7709-4D45-9E43-CB51EAB28FD3}"/>
              </a:ext>
            </a:extLst>
          </p:cNvPr>
          <p:cNvSpPr txBox="1">
            <a:spLocks/>
          </p:cNvSpPr>
          <p:nvPr/>
        </p:nvSpPr>
        <p:spPr>
          <a:xfrm>
            <a:off x="349059" y="917258"/>
            <a:ext cx="9633141" cy="4737080"/>
          </a:xfrm>
          <a:prstGeom prst="rect">
            <a:avLst/>
          </a:prstGeom>
          <a:solidFill>
            <a:schemeClr val="bg1">
              <a:alpha val="63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2000" noProof="0" dirty="0">
                <a:solidFill>
                  <a:srgbClr val="007FBA"/>
                </a:solidFill>
                <a:latin typeface="Geogrotesque Rg" panose="02000000000000000000" pitchFamily="2" charset="77"/>
              </a:rPr>
              <a:t>Two different things you might choose to control.</a:t>
            </a:r>
          </a:p>
          <a:p>
            <a:pPr marL="0" indent="0" algn="just">
              <a:buNone/>
            </a:pPr>
            <a:endParaRPr lang="en-GB" sz="2000" noProof="0" dirty="0"/>
          </a:p>
          <a:p>
            <a:pPr marL="0" indent="0" algn="just">
              <a:buNone/>
            </a:pPr>
            <a:r>
              <a:rPr lang="en-GB" sz="2000" noProof="0" dirty="0">
                <a:solidFill>
                  <a:srgbClr val="F25331"/>
                </a:solidFill>
                <a:latin typeface="Geogrotesque Rg" panose="02000000000000000000" pitchFamily="2" charset="77"/>
              </a:rPr>
              <a:t>FWER</a:t>
            </a:r>
            <a:r>
              <a:rPr lang="en-GB" sz="2000" noProof="0" dirty="0">
                <a:latin typeface="Geogrotesque Rg" panose="02000000000000000000" pitchFamily="2" charset="77"/>
              </a:rPr>
              <a:t> (family-wise error rate)</a:t>
            </a:r>
          </a:p>
          <a:p>
            <a:pPr algn="just"/>
            <a:r>
              <a:rPr lang="en-GB" sz="2000" noProof="0" dirty="0">
                <a:latin typeface="Geogrotesque Rg" panose="02000000000000000000" pitchFamily="2" charset="77"/>
              </a:rPr>
              <a:t>Controls Prob(any false positive). </a:t>
            </a:r>
          </a:p>
          <a:p>
            <a:pPr algn="just"/>
            <a:r>
              <a:rPr lang="en-GB" sz="2000" noProof="0" dirty="0">
                <a:solidFill>
                  <a:srgbClr val="F25331"/>
                </a:solidFill>
                <a:latin typeface="Geogrotesque Rg" panose="02000000000000000000" pitchFamily="2" charset="77"/>
              </a:rPr>
              <a:t>Bonferroni-</a:t>
            </a:r>
            <a:r>
              <a:rPr lang="en-GB" sz="2000" noProof="0" dirty="0" err="1">
                <a:solidFill>
                  <a:srgbClr val="F25331"/>
                </a:solidFill>
                <a:latin typeface="Geogrotesque Rg" panose="02000000000000000000" pitchFamily="2" charset="77"/>
              </a:rPr>
              <a:t>Šidák</a:t>
            </a:r>
            <a:r>
              <a:rPr lang="en-GB" sz="2000" noProof="0" dirty="0">
                <a:latin typeface="Geogrotesque Rg" panose="02000000000000000000" pitchFamily="2" charset="77"/>
              </a:rPr>
              <a:t>: call significant only below p &lt; α/N</a:t>
            </a:r>
          </a:p>
          <a:p>
            <a:pPr algn="just"/>
            <a:r>
              <a:rPr lang="en-GB" sz="2000" dirty="0">
                <a:latin typeface="Geogrotesque Rg" panose="02000000000000000000" pitchFamily="2" charset="77"/>
              </a:rPr>
              <a:t>FWER is strict (few false positives, many misses)</a:t>
            </a:r>
            <a:endParaRPr lang="en-GB" sz="2000" noProof="0" dirty="0">
              <a:latin typeface="Geogrotesque Rg" panose="02000000000000000000" pitchFamily="2" charset="77"/>
            </a:endParaRPr>
          </a:p>
          <a:p>
            <a:pPr algn="just"/>
            <a:endParaRPr lang="en-GB" sz="2000" noProof="0" dirty="0">
              <a:solidFill>
                <a:srgbClr val="F25331"/>
              </a:solidFill>
              <a:latin typeface="Geogrotesque Rg" panose="02000000000000000000" pitchFamily="2" charset="77"/>
            </a:endParaRPr>
          </a:p>
          <a:p>
            <a:pPr marL="0" indent="0" algn="just">
              <a:buNone/>
            </a:pPr>
            <a:r>
              <a:rPr lang="en-GB" sz="2000" noProof="0" dirty="0">
                <a:solidFill>
                  <a:srgbClr val="F25331"/>
                </a:solidFill>
                <a:latin typeface="Geogrotesque Rg" panose="02000000000000000000" pitchFamily="2" charset="77"/>
              </a:rPr>
              <a:t>FDR</a:t>
            </a:r>
            <a:r>
              <a:rPr lang="en-GB" sz="2000" noProof="0" dirty="0">
                <a:latin typeface="Geogrotesque Rg" panose="02000000000000000000" pitchFamily="2" charset="77"/>
              </a:rPr>
              <a:t> (false discovery rate)</a:t>
            </a:r>
          </a:p>
          <a:p>
            <a:pPr algn="just"/>
            <a:r>
              <a:rPr lang="en-GB" sz="2000" dirty="0">
                <a:latin typeface="Geogrotesque Rg" panose="02000000000000000000" pitchFamily="2" charset="77"/>
              </a:rPr>
              <a:t>E</a:t>
            </a:r>
            <a:r>
              <a:rPr lang="en-GB" sz="2000" noProof="0" dirty="0" err="1">
                <a:latin typeface="Geogrotesque Rg" panose="02000000000000000000" pitchFamily="2" charset="77"/>
              </a:rPr>
              <a:t>xpected</a:t>
            </a:r>
            <a:r>
              <a:rPr lang="en-GB" sz="2000" noProof="0" dirty="0">
                <a:latin typeface="Geogrotesque Rg" panose="02000000000000000000" pitchFamily="2" charset="77"/>
              </a:rPr>
              <a:t> proportion of false positives among hits. </a:t>
            </a:r>
          </a:p>
          <a:p>
            <a:pPr algn="just"/>
            <a:r>
              <a:rPr lang="en-GB" sz="2000" noProof="0" dirty="0">
                <a:solidFill>
                  <a:srgbClr val="F25331"/>
                </a:solidFill>
                <a:latin typeface="Geogrotesque Rg" panose="02000000000000000000" pitchFamily="2" charset="77"/>
              </a:rPr>
              <a:t>Benjamini–Hochberg</a:t>
            </a:r>
            <a:r>
              <a:rPr lang="en-GB" sz="2000" noProof="0" dirty="0">
                <a:latin typeface="Geogrotesque Rg" panose="02000000000000000000" pitchFamily="2" charset="77"/>
              </a:rPr>
              <a:t>.</a:t>
            </a:r>
          </a:p>
          <a:p>
            <a:pPr algn="just"/>
            <a:r>
              <a:rPr lang="en-GB" sz="2000" noProof="0" dirty="0">
                <a:latin typeface="Geogrotesque Rg" panose="02000000000000000000" pitchFamily="2" charset="77"/>
              </a:rPr>
              <a:t>FDR keeps power for large screens</a:t>
            </a:r>
          </a:p>
        </p:txBody>
      </p:sp>
      <p:sp>
        <p:nvSpPr>
          <p:cNvPr id="2" name="Rectangle 2">
            <a:extLst>
              <a:ext uri="{FF2B5EF4-FFF2-40B4-BE49-F238E27FC236}">
                <a16:creationId xmlns:a16="http://schemas.microsoft.com/office/drawing/2014/main" id="{EB3F0B19-5AAF-4B3E-8C06-FE07906B74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noProof="0" dirty="0"/>
          </a:p>
        </p:txBody>
      </p:sp>
      <p:sp>
        <p:nvSpPr>
          <p:cNvPr id="6" name="TextBox 5">
            <a:extLst>
              <a:ext uri="{FF2B5EF4-FFF2-40B4-BE49-F238E27FC236}">
                <a16:creationId xmlns:a16="http://schemas.microsoft.com/office/drawing/2014/main" id="{6BF11D41-7CFD-A87B-64F8-47E209C38CA7}"/>
              </a:ext>
            </a:extLst>
          </p:cNvPr>
          <p:cNvSpPr txBox="1"/>
          <p:nvPr/>
        </p:nvSpPr>
        <p:spPr>
          <a:xfrm>
            <a:off x="5728426" y="6382921"/>
            <a:ext cx="5735667" cy="338554"/>
          </a:xfrm>
          <a:prstGeom prst="rect">
            <a:avLst/>
          </a:prstGeom>
          <a:noFill/>
        </p:spPr>
        <p:txBody>
          <a:bodyPr wrap="square" rtlCol="0">
            <a:spAutoFit/>
          </a:bodyPr>
          <a:lstStyle/>
          <a:p>
            <a:r>
              <a:rPr lang="en-GB" sz="1600" i="1" noProof="0" dirty="0">
                <a:solidFill>
                  <a:srgbClr val="0089D1"/>
                </a:solidFill>
                <a:latin typeface="Geogrotesque Rg" panose="02000000000000000000" pitchFamily="2" charset="77"/>
              </a:rPr>
              <a:t>Bonferroni for certainty; Benjamini–Hochberg for discovery.</a:t>
            </a:r>
          </a:p>
        </p:txBody>
      </p:sp>
      <p:pic>
        <p:nvPicPr>
          <p:cNvPr id="7" name="Picture 6">
            <a:extLst>
              <a:ext uri="{FF2B5EF4-FFF2-40B4-BE49-F238E27FC236}">
                <a16:creationId xmlns:a16="http://schemas.microsoft.com/office/drawing/2014/main" id="{DAB946A5-5C4A-7683-4436-5B08109C7BBD}"/>
              </a:ext>
            </a:extLst>
          </p:cNvPr>
          <p:cNvPicPr>
            <a:picLocks noChangeAspect="1"/>
          </p:cNvPicPr>
          <p:nvPr/>
        </p:nvPicPr>
        <p:blipFill>
          <a:blip r:embed="rId3"/>
          <a:stretch>
            <a:fillRect/>
          </a:stretch>
        </p:blipFill>
        <p:spPr>
          <a:xfrm>
            <a:off x="6847301" y="917258"/>
            <a:ext cx="5219700" cy="3708400"/>
          </a:xfrm>
          <a:prstGeom prst="rect">
            <a:avLst/>
          </a:prstGeom>
        </p:spPr>
      </p:pic>
    </p:spTree>
    <p:extLst>
      <p:ext uri="{BB962C8B-B14F-4D97-AF65-F5344CB8AC3E}">
        <p14:creationId xmlns:p14="http://schemas.microsoft.com/office/powerpoint/2010/main" val="558177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2113</Words>
  <Application>Microsoft Macintosh PowerPoint</Application>
  <PresentationFormat>Widescreen</PresentationFormat>
  <Paragraphs>154</Paragraphs>
  <Slides>18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Geogrotesque Rg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Michal Kolar</dc:creator>
  <cp:lastModifiedBy>Michal Kolar</cp:lastModifiedBy>
  <cp:revision>20</cp:revision>
  <dcterms:created xsi:type="dcterms:W3CDTF">2026-06-02T19:34:51Z</dcterms:created>
  <dcterms:modified xsi:type="dcterms:W3CDTF">2026-07-01T19:39:24Z</dcterms:modified>
</cp:coreProperties>
</file>