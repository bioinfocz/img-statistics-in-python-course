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300" r:id="rId2"/>
    <p:sldId id="301" r:id="rId3"/>
    <p:sldId id="302" r:id="rId4"/>
    <p:sldId id="303" r:id="rId5"/>
    <p:sldId id="304" r:id="rId6"/>
    <p:sldId id="305" r:id="rId7"/>
    <p:sldId id="306" r:id="rId8"/>
    <p:sldId id="307" r:id="rId9"/>
    <p:sldId id="308" r:id="rId10"/>
    <p:sldId id="309" r:id="rId11"/>
    <p:sldId id="257" r:id="rId12"/>
    <p:sldId id="310" r:id="rId13"/>
    <p:sldId id="311" r:id="rId14"/>
    <p:sldId id="312" r:id="rId15"/>
    <p:sldId id="321" r:id="rId16"/>
    <p:sldId id="322" r:id="rId17"/>
    <p:sldId id="313" r:id="rId18"/>
    <p:sldId id="314" r:id="rId19"/>
    <p:sldId id="315" r:id="rId20"/>
    <p:sldId id="316" r:id="rId21"/>
    <p:sldId id="317" r:id="rId22"/>
    <p:sldId id="318" r:id="rId23"/>
    <p:sldId id="319" r:id="rId24"/>
    <p:sldId id="32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9D1"/>
    <a:srgbClr val="F2533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19"/>
    <p:restoredTop sz="74101"/>
  </p:normalViewPr>
  <p:slideViewPr>
    <p:cSldViewPr snapToGrid="0">
      <p:cViewPr varScale="1">
        <p:scale>
          <a:sx n="107" d="100"/>
          <a:sy n="107" d="100"/>
        </p:scale>
        <p:origin x="336"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C996B-914B-5148-85F1-ACCBABE58BEE}" type="datetimeFigureOut">
              <a:rPr lang="en-US" smtClean="0"/>
              <a:t>7/1/26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0852B2-2108-A947-8403-D1973C51B1E5}" type="slidenum">
              <a:rPr lang="en-US" smtClean="0"/>
              <a:t>‹#›</a:t>
            </a:fld>
            <a:endParaRPr lang="en-US"/>
          </a:p>
        </p:txBody>
      </p:sp>
    </p:spTree>
    <p:extLst>
      <p:ext uri="{BB962C8B-B14F-4D97-AF65-F5344CB8AC3E}">
        <p14:creationId xmlns:p14="http://schemas.microsoft.com/office/powerpoint/2010/main" val="40813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85B3B6-0D1D-4AF2-A283-5E0C73008F17}" type="slidenum">
              <a:rPr lang="en-US" smtClean="0"/>
              <a:t>1</a:t>
            </a:fld>
            <a:endParaRPr lang="en-US"/>
          </a:p>
        </p:txBody>
      </p:sp>
    </p:spTree>
    <p:extLst>
      <p:ext uri="{BB962C8B-B14F-4D97-AF65-F5344CB8AC3E}">
        <p14:creationId xmlns:p14="http://schemas.microsoft.com/office/powerpoint/2010/main" val="385567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F0592-CF96-A03F-6264-8BAE9BC81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DAB8B-70A2-997A-11D7-DCEB3B22A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2F2A6-F343-0BB5-43D3-BFBBE2E15D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EF444F-A24D-16E6-6564-D5D8ECA420AA}"/>
              </a:ext>
            </a:extLst>
          </p:cNvPr>
          <p:cNvSpPr>
            <a:spLocks noGrp="1"/>
          </p:cNvSpPr>
          <p:nvPr>
            <p:ph type="sldNum" sz="quarter" idx="10"/>
          </p:nvPr>
        </p:nvSpPr>
        <p:spPr/>
        <p:txBody>
          <a:bodyPr/>
          <a:lstStyle/>
          <a:p>
            <a:fld id="{5F85B3B6-0D1D-4AF2-A283-5E0C73008F17}" type="slidenum">
              <a:rPr lang="en-US" smtClean="0"/>
              <a:t>2</a:t>
            </a:fld>
            <a:endParaRPr lang="en-US"/>
          </a:p>
        </p:txBody>
      </p:sp>
    </p:spTree>
    <p:extLst>
      <p:ext uri="{BB962C8B-B14F-4D97-AF65-F5344CB8AC3E}">
        <p14:creationId xmlns:p14="http://schemas.microsoft.com/office/powerpoint/2010/main" val="1265525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This is the conceptual hinge between the two sessions — say it explicitly. In Session 1 we looked at data; here we posit that an unseen random process with a distribution generated it, and everything that follows (estimation, testing) is reasoning back to that process. Keep the coin example concrete; resist formal probability-space machinery.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The single most common confusion is reading a PDF's height as a probability — hammer 'density, area, not height.' A density can even exceed 1 (narrow distributions) without contradiction, because it's area that must total 1. The CDF is worth dwelling on: it's what every p-value calculation secretly uses. Tie back to Session 1 — a histogram estimates the PMF/PDF, the empirical cumulative curve estimates the CDF.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Two levers worth showing live: shifting μ slides the whole curve along the axis; changing σ stretches or compresses it without moving the centre. Read X ~ N(μ,σ) aloud the first time. Caveat to flag: parameterisation conventions differ — some references and software specify the normal by its variance σ² rather than the SD σ, so always check whether a formula or function wants the SD or the variance.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The CLT is the engine of the whole session — without it, none of the mean-based tests would be justified for non-normal data. The σ/√n is the SEM from Session 1 reappearing; make that link. Caveats/pitfalls: the famous 'n ≥ 30' is a rule of thumb with no universal threshold — heavy-tailed distributions (e.g. Pareto) need far larger n, and the notebook demonstrates this failing. When you actually know the generating distribution, use it directly rather than leaning on the CLT approximation.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Define the terms explicitly while quantiles are on screen: the median is the 0.5 quantile (half the data below); the quartiles Q1/Q2/Q3 are the 0.25/0.5/0.75 quantiles, the same Q1/Q3/IQR from Session 1, now seen as special cases of the general quantile. Then pre-empt the universal misinterpretation: a 95% CI does NOT mean '95% probability the true mean is in this interval.' The correct reading is about the procedure — over many repeated samples, 95% of such intervals contain the true mean. For a fixed interval the truth is either in or out; the 95% lives in the method. This returns when interpreting p-values.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Stress that the whole edifice rests on step 2 — a number whose behaviour we can predict if nothing is going on. The p-value is just step 4 made quantitative. Frame H₀ as the boring 'no effect / no difference' claim we try to disprove; we never prove H₀, we only fail to reject it. This scaffolding is identical for every test in Sessions 2–3.</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This slide answers 'why bother with a test at all?' before the machinery. The concrete framing: we have a reference value μ₀ (a label claim, a baseline, a historical mean) and a sample; the sample mean x̄ almost never lands exactly on μ₀, so the question is whether the gap is signal or noise. The CLT from the previous part gives the noise yardstick, σ/√n. Standardising the gap by that yardstick is the one-sample test; because we estimate σ from the sample, the standardised gap follows a t-distribution with n−1 df — that is the Student t-test. This sets up the worked example and the t-distribution slides that follow, and generalises on the next slide to comparing two groups (Welch).</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The centring-and-scaling move is the template every test reuses — make it visible once. Pitfall: choosing one-sided after seeing which way the data went is p-hacking; the direction must be committed to in advance, on subject-matter grounds. Default to two-sided unless there's a genuine prior reason. This is also where 'known σ' is a fiction we drop on the next slide.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This is the n−1 payoff promised in Lecture 1 — estimating the centre from the same data costs one degree of freedom, and the t-distribution is the visible consequence. The fatter tails mean larger critical values for small samples: with little data you must see a bigger effect to call it significant. Good place to show t vs normal for df = 2, 5, 30 if you have a figure.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Make the Student-vs-Welch distinction crisp. Student's adds a third assumption — homoscedasticity (equal variances) — and pools both groups into one variance, buying a little power when it truly holds. Welch drops that: it keeps the two variances separate and shrinks the degrees of freedom (Welch–Satterthwaite) to compensate. When variances or sample sizes differ, Student's gives misleading p-values while Welch stays valid; when variances are equal, Welch costs almost nothing — so default to Welch, use Student's only if you've tested equal variances (Session 3, Bartlett/Levene). Other assumptions: each group's mean is normal (CLT covers it for reasonable n) and the groups are independent. Central pitfall: when assumptions fail the p-value is meaningless — the notebook shows this by drawing two groups from the same Pareto distribution, after which the test loses its 5% false-positive rate.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66E2F-3BD4-865E-0478-BDB3E50B5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AEDB7-A38B-D461-89F0-F61D91AE50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8E09CD-1136-9D50-C328-5E58E43CD62C}"/>
              </a:ext>
            </a:extLst>
          </p:cNvPr>
          <p:cNvSpPr>
            <a:spLocks noGrp="1"/>
          </p:cNvSpPr>
          <p:nvPr>
            <p:ph type="body" idx="1"/>
          </p:nvPr>
        </p:nvSpPr>
        <p:spPr/>
        <p:txBody>
          <a:bodyPr/>
          <a:lstStyle/>
          <a:p>
            <a:pPr>
              <a:spcAft>
                <a:spcPts val="600"/>
              </a:spcAft>
            </a:pPr>
            <a:r>
              <a:rPr lang="en-GB" sz="1200" dirty="0">
                <a:solidFill>
                  <a:schemeClr val="tx1"/>
                </a:solidFill>
                <a:latin typeface="+mn-lt"/>
              </a:rPr>
              <a:t>Make the Student-vs-Welch distinction crisp. Student's adds a third assumption — homoscedasticity (equal variances) — and pools both groups into one variance, buying a little power when it truly holds. Welch drops that: it keeps the two variances separate and shrinks the degrees of freedom (Welch–Satterthwaite) to compensate. When variances or sample sizes differ, Student's gives misleading p-values while Welch stays valid; when variances are equal, Welch costs almost nothing — so default to Welch, use Student's only if you've tested equal variances (Session 3, Bartlett/Levene). Other assumptions: each group's mean is normal (CLT covers it for reasonable n) and the groups are independent. Central pitfall: when assumptions fail the p-value is meaningless — the notebook shows this by drawing two groups from the same Pareto distribution, after which the test loses its 5% false-positive rate.</a:t>
            </a:r>
          </a:p>
        </p:txBody>
      </p:sp>
    </p:spTree>
    <p:extLst>
      <p:ext uri="{BB962C8B-B14F-4D97-AF65-F5344CB8AC3E}">
        <p14:creationId xmlns:p14="http://schemas.microsoft.com/office/powerpoint/2010/main" val="42889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0C922-BD93-3F63-DD0B-7704A1EA3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5112EE-540E-C86E-67A8-3F0093D4B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B5162-AED0-AA26-5F9C-CCF79723862C}"/>
              </a:ext>
            </a:extLst>
          </p:cNvPr>
          <p:cNvSpPr>
            <a:spLocks noGrp="1"/>
          </p:cNvSpPr>
          <p:nvPr>
            <p:ph type="body" idx="1"/>
          </p:nvPr>
        </p:nvSpPr>
        <p:spPr/>
        <p:txBody>
          <a:bodyPr/>
          <a:lstStyle/>
          <a:p>
            <a:pPr>
              <a:spcAft>
                <a:spcPts val="600"/>
              </a:spcAft>
            </a:pPr>
            <a:r>
              <a:rPr lang="en-GB" sz="1200" dirty="0">
                <a:solidFill>
                  <a:schemeClr val="tx1"/>
                </a:solidFill>
                <a:latin typeface="+mn-lt"/>
              </a:rPr>
              <a:t>Make the Student-vs-Welch distinction crisp. Student's adds a third assumption — homoscedasticity (equal variances) — and pools both groups into one variance, buying a little power when it truly holds. Welch drops that: it keeps the two variances separate and shrinks the degrees of freedom (Welch–Satterthwaite) to compensate. When variances or sample sizes differ, Student's gives misleading p-values while Welch stays valid; when variances are equal, Welch costs almost nothing — so default to Welch, use Student's only if you've tested equal variances (Session 3, Bartlett/Levene). Other assumptions: each group's mean is normal (CLT covers it for reasonable n) and the groups are independent. Central pitfall: when assumptions fail the p-value is meaningless — the notebook shows this by drawing two groups from the same Pareto distribution, after which the test loses its 5% false-positive rate.</a:t>
            </a:r>
          </a:p>
        </p:txBody>
      </p:sp>
    </p:spTree>
    <p:extLst>
      <p:ext uri="{BB962C8B-B14F-4D97-AF65-F5344CB8AC3E}">
        <p14:creationId xmlns:p14="http://schemas.microsoft.com/office/powerpoint/2010/main" val="74193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Note the inverted logic that trips everyone up: here a significant result is the bad news (non-normal), the opposite of most tests. Caveats: Shapiro–Wilk is reliable up to a few thousand points; beyond ~5000 use D'Agostino's normaltest. With very large n, trivial deviations become 'significant' — which is why the Q–Q plot matters: it shows whether non-normality is big enough to care about, not just detectable.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The crucial subtlety, widely gotten wrong: Mann–Whitney is NOT simply a 'median test.' Strictly it tests whether the two distributions are identical, and it can fire when the groups differ only in spread, not location (Fagerland 2012). It behaves as a location/median comparison only if the two distributions share the same shape and scale. So its H₀ is fundamentally different from the t-test's — the two can legitimately disagree on the same data. Don't reach for it reflexively: it answers a different question.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Spend real time here — misuse of p-values is the single biggest source of bad inference (Goodman's 'Dirty Dozen', 2008). Two demonstrations land it: with a true effect, p-values shrink as n grows; with no effect, p-values are uniform on [0,1] at any n — so a big study isn't 'more likely to be right', it's better powered. Push the habit of reporting the exact p-value, not just 'p &lt; 0.05', paired with an effect size.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A 2×2 truth table (reality vs decision) is the clearest visual. Emphasise that α is a choice, not a fact of nature, and 0.05 is convention, not law. The trade-off is the bridge to power: the only way to reduce both error rates at once is more data. Also foreshadows Session 3's multiple-testing problem — run many tests at α = 0.05 and false positives accumulate.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Key message: significance ≠ relevance. A tiny, useless effect becomes significant with enough data; a large, important one can be missed with too little. Always report an effect size alongside the p-value. Power is computed by simulation, or for the t-test via statsmodels.stats.power.TTestIndPower (.power(...) and .solve_power(...) to back out the n you need). Frame power analysis as the responsible thing to do before an experiment, not an autopsy after.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Don't read the table aloud — use it as a choosing tool: ask what process generated the data and let that pick the distribution. Highlight the relationships the notebook draws: the Poisson is the binomial's limit (many trials, tiny p); the hypergeometric is the without-replacement cousin of the binomial (the basis of gene-set enrichment tests in Session 3); the negative binomial is a Poisson with a varying rate (why it models overdispersed counts like RNA-seq). The chi-square reappears in Session 3's categorical tests.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A6E8A-98AB-3BA5-3BE4-EABDCFE9465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0796A2E-6033-4370-40AA-21537D84F5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1406FCA-BF3D-F064-C4FF-091BA1CF4D62}"/>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8B9111F2-D123-EB1B-8F18-A670C6C675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11A21D-BE0A-FAC5-0246-C0ADC1D110D2}"/>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4097620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9CAD6-8FA9-61AB-14AF-53F53CC8B1B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1CD8C00-5B3B-E40D-57DC-0B975A7A100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6B8B4EE-35BE-A356-9132-F226F6DE3BE6}"/>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2276F13B-080E-E794-3643-5B2E62F6A6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EDE43C-C2FC-C049-E05A-7E6FCE86D747}"/>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163628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F3A53-8CEE-48C2-176E-AFC20C4DE11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CA1780B-9982-60D8-D203-CD96B035BC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E959A1C-7A0B-A5FC-FA96-078CD6A43A89}"/>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88F5825D-2C3C-6AE8-B4C2-00D981B482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D68DCB-D9B0-0205-463B-1499F4C4FB20}"/>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907001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A4FDF-B5E4-884E-5633-3995F8BAB55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F4A113F-AF88-DB72-7763-7C119026749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CEDB8A0-CD5F-7366-3A8B-C8A708A5508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66777EE-2609-A05E-179B-A927B49A4194}"/>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6" name="Footer Placeholder 5">
            <a:extLst>
              <a:ext uri="{FF2B5EF4-FFF2-40B4-BE49-F238E27FC236}">
                <a16:creationId xmlns:a16="http://schemas.microsoft.com/office/drawing/2014/main" id="{22DC85CF-88D4-4556-80CD-2C55E5907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C2366D-E431-9AEA-E843-913EC1033250}"/>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039880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308D8-C016-C1DC-139F-188334F2BFA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62AFDD0-0D40-73F3-9942-346CC0C576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464DD22-8985-6FED-40C7-1DEA0742A9B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ECB3635-AA80-89E9-C178-0F7EC803FC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9300FA1-472A-154E-972F-9D6F4E8C63C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EC07557-DD2C-1662-8100-9AD66FC6B1C9}"/>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8" name="Footer Placeholder 7">
            <a:extLst>
              <a:ext uri="{FF2B5EF4-FFF2-40B4-BE49-F238E27FC236}">
                <a16:creationId xmlns:a16="http://schemas.microsoft.com/office/drawing/2014/main" id="{33F3546C-7384-825A-EF38-E522CEAA34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D47E84-861E-CBFF-7F5B-D15C8C8DE155}"/>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91068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FAA74-A68D-068D-3D2A-810C0ECFED7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B8ED38D-10EA-758F-3234-78D44C1FEEA7}"/>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4" name="Footer Placeholder 3">
            <a:extLst>
              <a:ext uri="{FF2B5EF4-FFF2-40B4-BE49-F238E27FC236}">
                <a16:creationId xmlns:a16="http://schemas.microsoft.com/office/drawing/2014/main" id="{B5D719A7-B550-3DF8-D1D6-575E0A3180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EE4DB1-E0B0-180E-D6F5-FFF06719D059}"/>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467197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7BCC6-C089-E9FC-08D3-85225CAD180E}"/>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3" name="Footer Placeholder 2">
            <a:extLst>
              <a:ext uri="{FF2B5EF4-FFF2-40B4-BE49-F238E27FC236}">
                <a16:creationId xmlns:a16="http://schemas.microsoft.com/office/drawing/2014/main" id="{74C80324-8C76-8C0F-74F6-7F0A87FE2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995303-6CF1-B16D-B1C0-B88C2966600A}"/>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828196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7C7C8-68AB-D0BE-8D11-AF521BA803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A53127F-ACAF-B5BC-864F-EC741DF90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E1DD1B9-179C-1CD2-9C06-3FA4B42EC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5CEA6E7-A522-5C3D-CE43-00B87C7F4D42}"/>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6" name="Footer Placeholder 5">
            <a:extLst>
              <a:ext uri="{FF2B5EF4-FFF2-40B4-BE49-F238E27FC236}">
                <a16:creationId xmlns:a16="http://schemas.microsoft.com/office/drawing/2014/main" id="{BA6CF34A-68E8-1269-A25F-181E4CDBDC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5FE9F-C72F-C8E1-3925-DA30F2BCAE56}"/>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3504360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886AD-DD64-8E7F-2737-567CC192D4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4FF7C85-674F-86A8-87FC-57D2833ED2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574373-2A9F-2BD0-61D8-B9DCE83F37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8599398-8EF3-2EC2-F719-65A5CF7507D1}"/>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6" name="Footer Placeholder 5">
            <a:extLst>
              <a:ext uri="{FF2B5EF4-FFF2-40B4-BE49-F238E27FC236}">
                <a16:creationId xmlns:a16="http://schemas.microsoft.com/office/drawing/2014/main" id="{99D0BB87-F71E-15EB-F104-4D3EB53FAA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E3AA5C-2B33-3AE1-64E0-C1DE2D15E0D7}"/>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1151164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24D6-9538-9179-15A6-96F4D56445C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E81D4AC-FD53-1C4E-6C52-AA086D5A00C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E4E7B7F-A069-AC4E-AD25-BBDF56CB3F52}"/>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8BADC6B7-082B-4CB9-651C-5C067738BD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D1D80-12E2-B729-FDA2-D71CA5127863}"/>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8401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C69607-0ABB-4C0F-6280-34D5FD9E3A9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A912EC1-E0B9-A121-585D-9D98AC738DD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CCD24B6-98FB-1D10-31D8-972C89B43AA8}"/>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32B507C8-26A5-D2D4-6E2F-DF6177BFA5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ED1183-8100-2E75-0B5C-ECBBFCAF04DF}"/>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4906536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600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141A9C-DB8D-0EA6-5771-BD0E159022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9ACD66E-1C1A-6D14-1AD1-843605D5EA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3BBD1BC-7AAE-0115-68F9-6944108433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2DA41F16-B2B8-01C0-545B-C71F3324F5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15F467-BF1E-1C0C-F980-905566F73C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723DEB-0A6A-FE4C-AB1C-CAF73B1EA4F0}" type="slidenum">
              <a:rPr lang="en-US" smtClean="0"/>
              <a:t>‹#›</a:t>
            </a:fld>
            <a:endParaRPr lang="en-US"/>
          </a:p>
        </p:txBody>
      </p:sp>
    </p:spTree>
    <p:extLst>
      <p:ext uri="{BB962C8B-B14F-4D97-AF65-F5344CB8AC3E}">
        <p14:creationId xmlns:p14="http://schemas.microsoft.com/office/powerpoint/2010/main" val="1956958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232266"/>
            <a:ext cx="12192000" cy="1323439"/>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4000" noProof="0" dirty="0">
                <a:latin typeface="Geogrotesque Rg" panose="02000000000000000000" pitchFamily="2" charset="77"/>
              </a:rPr>
              <a:t>Lecture 2 — Probability Distributions &amp; Statistical Hypothesis Testing</a:t>
            </a:r>
          </a:p>
        </p:txBody>
      </p:sp>
      <p:sp>
        <p:nvSpPr>
          <p:cNvPr id="5" name="TextBox 4"/>
          <p:cNvSpPr txBox="1"/>
          <p:nvPr/>
        </p:nvSpPr>
        <p:spPr>
          <a:xfrm>
            <a:off x="0" y="5071736"/>
            <a:ext cx="12192000" cy="553998"/>
          </a:xfrm>
          <a:prstGeom prst="rect">
            <a:avLst/>
          </a:prstGeom>
          <a:noFill/>
        </p:spPr>
        <p:txBody>
          <a:bodyPr wrap="square" rtlCol="0">
            <a:spAutoFit/>
          </a:bodyPr>
          <a:lstStyle/>
          <a:p>
            <a:pPr algn="ctr"/>
            <a:r>
              <a:rPr lang="en-GB" sz="3000" noProof="0" dirty="0">
                <a:latin typeface="Geogrotesque Rg" panose="02000000000000000000" pitchFamily="2" charset="77"/>
              </a:rPr>
              <a:t>Michal Kolář</a:t>
            </a:r>
          </a:p>
        </p:txBody>
      </p:sp>
      <p:sp>
        <p:nvSpPr>
          <p:cNvPr id="6" name="TextBox 5"/>
          <p:cNvSpPr txBox="1"/>
          <p:nvPr/>
        </p:nvSpPr>
        <p:spPr>
          <a:xfrm>
            <a:off x="0" y="5625734"/>
            <a:ext cx="12192000" cy="553998"/>
          </a:xfrm>
          <a:prstGeom prst="rect">
            <a:avLst/>
          </a:prstGeom>
          <a:noFill/>
        </p:spPr>
        <p:txBody>
          <a:bodyPr wrap="square" rtlCol="0">
            <a:spAutoFit/>
          </a:bodyPr>
          <a:lstStyle/>
          <a:p>
            <a:pPr algn="ctr"/>
            <a:r>
              <a:rPr lang="en-GB" sz="3000" noProof="0" dirty="0">
                <a:solidFill>
                  <a:srgbClr val="007FBA"/>
                </a:solidFill>
                <a:latin typeface="Geogrotesque Rg" panose="02000000000000000000" pitchFamily="2" charset="77"/>
                <a:cs typeface="Arial" panose="020B0604020202020204" pitchFamily="34" charset="0"/>
              </a:rPr>
              <a:t>IMG</a:t>
            </a:r>
          </a:p>
        </p:txBody>
      </p:sp>
      <p:sp>
        <p:nvSpPr>
          <p:cNvPr id="7" name="TextBox 6">
            <a:extLst>
              <a:ext uri="{FF2B5EF4-FFF2-40B4-BE49-F238E27FC236}">
                <a16:creationId xmlns:a16="http://schemas.microsoft.com/office/drawing/2014/main" id="{1C9C07E4-CA13-A349-82FC-508587E8704F}"/>
              </a:ext>
            </a:extLst>
          </p:cNvPr>
          <p:cNvSpPr txBox="1"/>
          <p:nvPr/>
        </p:nvSpPr>
        <p:spPr>
          <a:xfrm>
            <a:off x="0" y="6179732"/>
            <a:ext cx="12192000" cy="338554"/>
          </a:xfrm>
          <a:prstGeom prst="rect">
            <a:avLst/>
          </a:prstGeom>
          <a:noFill/>
        </p:spPr>
        <p:txBody>
          <a:bodyPr wrap="square" rtlCol="0">
            <a:spAutoFit/>
          </a:bodyPr>
          <a:lstStyle/>
          <a:p>
            <a:pPr algn="ctr"/>
            <a:r>
              <a:rPr lang="en-GB" sz="1600" noProof="0" dirty="0">
                <a:latin typeface="Geogrotesque Rg" panose="02000000000000000000" pitchFamily="2" charset="77"/>
              </a:rPr>
              <a:t>Prague, 06/2026</a:t>
            </a:r>
          </a:p>
        </p:txBody>
      </p:sp>
    </p:spTree>
    <p:extLst>
      <p:ext uri="{BB962C8B-B14F-4D97-AF65-F5344CB8AC3E}">
        <p14:creationId xmlns:p14="http://schemas.microsoft.com/office/powerpoint/2010/main" val="2659336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286B-5B47-A28A-F3D8-8D3F6A86FD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EF431C-C757-F7CE-D787-9F44F747D6B6}"/>
              </a:ext>
            </a:extLst>
          </p:cNvPr>
          <p:cNvSpPr txBox="1"/>
          <p:nvPr/>
        </p:nvSpPr>
        <p:spPr>
          <a:xfrm>
            <a:off x="0" y="1232266"/>
            <a:ext cx="12192000" cy="707886"/>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3200" noProof="0">
                <a:latin typeface="Geogrotesque Rg" panose="02000000000000000000" pitchFamily="2" charset="77"/>
              </a:rPr>
              <a:t>Part I — From data to distributions</a:t>
            </a:r>
          </a:p>
        </p:txBody>
      </p:sp>
    </p:spTree>
    <p:extLst>
      <p:ext uri="{BB962C8B-B14F-4D97-AF65-F5344CB8AC3E}">
        <p14:creationId xmlns:p14="http://schemas.microsoft.com/office/powerpoint/2010/main" val="1549153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3</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Random variables</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A random variable takes a value determined by the outcome of a random process.</a:t>
            </a:r>
          </a:p>
          <a:p>
            <a:pPr marL="0" indent="0" algn="just">
              <a:buNone/>
            </a:pPr>
            <a:endParaRPr lang="en-GB" sz="2000" noProof="0" dirty="0"/>
          </a:p>
          <a:p>
            <a:pPr algn="just"/>
            <a:r>
              <a:rPr lang="en-GB" sz="2000" noProof="0" dirty="0">
                <a:latin typeface="Geogrotesque Rg" panose="02000000000000000000" pitchFamily="2" charset="77"/>
              </a:rPr>
              <a:t>A plain variable holds any value (x, y); a </a:t>
            </a:r>
            <a:r>
              <a:rPr lang="en-GB" sz="2000" noProof="0" dirty="0">
                <a:solidFill>
                  <a:srgbClr val="F25331"/>
                </a:solidFill>
                <a:latin typeface="Geogrotesque Rg" panose="02000000000000000000" pitchFamily="2" charset="77"/>
              </a:rPr>
              <a:t>random variable</a:t>
            </a:r>
            <a:r>
              <a:rPr lang="en-GB" sz="2000" noProof="0" dirty="0">
                <a:latin typeface="Geogrotesque Rg" panose="02000000000000000000" pitchFamily="2" charset="77"/>
              </a:rPr>
              <a:t> (X, Y) gets its value from a random experiment — a coin toss: X = 1 heads, X = 0 tails.</a:t>
            </a:r>
          </a:p>
          <a:p>
            <a:pPr algn="just"/>
            <a:r>
              <a:rPr lang="en-GB" sz="2000" noProof="0" dirty="0">
                <a:latin typeface="Geogrotesque Rg" panose="02000000000000000000" pitchFamily="2" charset="77"/>
              </a:rPr>
              <a:t>The Session 1 dataset was a stack of observed values of random variables; now we model the mechanism behind them.</a:t>
            </a:r>
          </a:p>
          <a:p>
            <a:pPr algn="just"/>
            <a:r>
              <a:rPr lang="en-GB" sz="2000" noProof="0" dirty="0">
                <a:latin typeface="Geogrotesque Rg" panose="02000000000000000000" pitchFamily="2" charset="77"/>
              </a:rPr>
              <a:t>That model is a </a:t>
            </a:r>
            <a:r>
              <a:rPr lang="en-GB" sz="2000" noProof="0" dirty="0">
                <a:solidFill>
                  <a:srgbClr val="F25331"/>
                </a:solidFill>
                <a:latin typeface="Geogrotesque Rg" panose="02000000000000000000" pitchFamily="2" charset="77"/>
              </a:rPr>
              <a:t>probability distribution</a:t>
            </a:r>
            <a:r>
              <a:rPr lang="en-GB" sz="2000" noProof="0" dirty="0">
                <a:latin typeface="Geogrotesque Rg" panose="02000000000000000000" pitchFamily="2" charset="77"/>
              </a:rPr>
              <a:t> — which values X can take, and how likely each is.</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032200" y="5821475"/>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We described data; now we model the process that generated it.</a:t>
            </a:r>
          </a:p>
        </p:txBody>
      </p:sp>
    </p:spTree>
    <p:extLst>
      <p:ext uri="{BB962C8B-B14F-4D97-AF65-F5344CB8AC3E}">
        <p14:creationId xmlns:p14="http://schemas.microsoft.com/office/powerpoint/2010/main" val="558177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CC3AA-9ABF-9321-6646-2574790902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0F74BD-3B68-5881-EBC8-BDE622E2C963}"/>
              </a:ext>
            </a:extLst>
          </p:cNvPr>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4</a:t>
            </a:fld>
            <a:endParaRPr lang="en-GB" noProof="0" dirty="0">
              <a:latin typeface="Geogrotesque Rg" panose="02000000000000000000" pitchFamily="2" charset="77"/>
            </a:endParaRPr>
          </a:p>
        </p:txBody>
      </p:sp>
      <p:sp>
        <p:nvSpPr>
          <p:cNvPr id="5" name="TextBox 4">
            <a:extLst>
              <a:ext uri="{FF2B5EF4-FFF2-40B4-BE49-F238E27FC236}">
                <a16:creationId xmlns:a16="http://schemas.microsoft.com/office/drawing/2014/main" id="{7A5ED571-A110-27EA-4F1A-6FB86532EF6E}"/>
              </a:ext>
            </a:extLst>
          </p:cNvPr>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dirty="0">
                <a:latin typeface="Geogrotesque Rg" panose="02000000000000000000" pitchFamily="2" charset="77"/>
              </a:rPr>
              <a:t>Probability distributions: PMF, PDF, CDF</a:t>
            </a:r>
            <a:endParaRPr lang="en-GB" sz="3000" noProof="0" dirty="0">
              <a:latin typeface="Geogrotesque Rg" panose="02000000000000000000" pitchFamily="2" charset="77"/>
            </a:endParaRPr>
          </a:p>
        </p:txBody>
      </p:sp>
      <p:sp>
        <p:nvSpPr>
          <p:cNvPr id="3" name="Rectangle 2">
            <a:extLst>
              <a:ext uri="{FF2B5EF4-FFF2-40B4-BE49-F238E27FC236}">
                <a16:creationId xmlns:a16="http://schemas.microsoft.com/office/drawing/2014/main" id="{1120204E-BA83-9E61-709D-C4921632089D}"/>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24CEB84C-7C05-1456-D083-55FE1EDEDCEE}"/>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323C6559-B9AA-6CA4-0045-9CA8A41DD38B}"/>
              </a:ext>
            </a:extLst>
          </p:cNvPr>
          <p:cNvSpPr txBox="1">
            <a:spLocks/>
          </p:cNvSpPr>
          <p:nvPr/>
        </p:nvSpPr>
        <p:spPr>
          <a:xfrm>
            <a:off x="349059" y="917257"/>
            <a:ext cx="5317449" cy="4640091"/>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Three views of the same object.</a:t>
            </a:r>
          </a:p>
          <a:p>
            <a:pPr marL="0" indent="0" algn="just">
              <a:buNone/>
            </a:pPr>
            <a:endParaRPr lang="en-GB" sz="2000" noProof="0" dirty="0"/>
          </a:p>
          <a:p>
            <a:pPr algn="just"/>
            <a:r>
              <a:rPr lang="en-GB" sz="2000" noProof="0" dirty="0">
                <a:solidFill>
                  <a:srgbClr val="F25331"/>
                </a:solidFill>
                <a:latin typeface="Geogrotesque Rg" panose="02000000000000000000" pitchFamily="2" charset="77"/>
              </a:rPr>
              <a:t>PMF</a:t>
            </a:r>
            <a:r>
              <a:rPr lang="en-GB" sz="2000" noProof="0" dirty="0">
                <a:latin typeface="Geogrotesque Rg" panose="02000000000000000000" pitchFamily="2" charset="77"/>
              </a:rPr>
              <a:t> (probability mass function) — discrete variables; the y-axis is a genuine probability, and the bars sum to 1.</a:t>
            </a:r>
          </a:p>
          <a:p>
            <a:pPr algn="just"/>
            <a:r>
              <a:rPr lang="en-GB" sz="2000" noProof="0" dirty="0">
                <a:solidFill>
                  <a:srgbClr val="F25331"/>
                </a:solidFill>
                <a:latin typeface="Geogrotesque Rg" panose="02000000000000000000" pitchFamily="2" charset="77"/>
              </a:rPr>
              <a:t>PDF</a:t>
            </a:r>
            <a:r>
              <a:rPr lang="en-GB" sz="2000" noProof="0" dirty="0">
                <a:latin typeface="Geogrotesque Rg" panose="02000000000000000000" pitchFamily="2" charset="77"/>
              </a:rPr>
              <a:t> (probability density function) — continuous variables; the y-axis is density, not probability. Probability = area under the curve; total area = 1.</a:t>
            </a:r>
          </a:p>
          <a:p>
            <a:pPr algn="just"/>
            <a:r>
              <a:rPr lang="en-GB" sz="2000" noProof="0" dirty="0">
                <a:solidFill>
                  <a:srgbClr val="F25331"/>
                </a:solidFill>
                <a:latin typeface="Geogrotesque Rg" panose="02000000000000000000" pitchFamily="2" charset="77"/>
              </a:rPr>
              <a:t>CDF</a:t>
            </a:r>
            <a:r>
              <a:rPr lang="en-GB" sz="2000" noProof="0" dirty="0">
                <a:latin typeface="Geogrotesque Rg" panose="02000000000000000000" pitchFamily="2" charset="77"/>
              </a:rPr>
              <a:t> (cumulative distribution function) — probability of a value ≤ x; runs from 0 to 1.</a:t>
            </a:r>
          </a:p>
        </p:txBody>
      </p:sp>
      <p:sp>
        <p:nvSpPr>
          <p:cNvPr id="2" name="Rectangle 2">
            <a:extLst>
              <a:ext uri="{FF2B5EF4-FFF2-40B4-BE49-F238E27FC236}">
                <a16:creationId xmlns:a16="http://schemas.microsoft.com/office/drawing/2014/main" id="{5578BE7B-D6B6-D6C9-2E38-C2A7C6DEAD5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F8AC6560-2A50-F6F1-2804-5C5AE75E50F1}"/>
              </a:ext>
            </a:extLst>
          </p:cNvPr>
          <p:cNvSpPr txBox="1"/>
          <p:nvPr/>
        </p:nvSpPr>
        <p:spPr>
          <a:xfrm>
            <a:off x="6482862" y="5958000"/>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On a PDF it's area, not height, that gives the probability.</a:t>
            </a:r>
          </a:p>
        </p:txBody>
      </p:sp>
      <p:pic>
        <p:nvPicPr>
          <p:cNvPr id="7" name="Picture 6">
            <a:extLst>
              <a:ext uri="{FF2B5EF4-FFF2-40B4-BE49-F238E27FC236}">
                <a16:creationId xmlns:a16="http://schemas.microsoft.com/office/drawing/2014/main" id="{BAB2908F-8807-30C4-A543-B8ECB49F9CC6}"/>
              </a:ext>
            </a:extLst>
          </p:cNvPr>
          <p:cNvPicPr>
            <a:picLocks noChangeAspect="1"/>
          </p:cNvPicPr>
          <p:nvPr/>
        </p:nvPicPr>
        <p:blipFill>
          <a:blip r:embed="rId3"/>
          <a:stretch>
            <a:fillRect/>
          </a:stretch>
        </p:blipFill>
        <p:spPr>
          <a:xfrm>
            <a:off x="5967046" y="740734"/>
            <a:ext cx="6020157" cy="4263515"/>
          </a:xfrm>
          <a:prstGeom prst="rect">
            <a:avLst/>
          </a:prstGeom>
        </p:spPr>
      </p:pic>
    </p:spTree>
    <p:extLst>
      <p:ext uri="{BB962C8B-B14F-4D97-AF65-F5344CB8AC3E}">
        <p14:creationId xmlns:p14="http://schemas.microsoft.com/office/powerpoint/2010/main" val="1286789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5</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Parameters and notation</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60" y="917258"/>
            <a:ext cx="5455995"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A distribution is pinned down by its parameters.</a:t>
            </a:r>
          </a:p>
          <a:p>
            <a:pPr marL="0" indent="0" algn="just">
              <a:buNone/>
            </a:pPr>
            <a:endParaRPr lang="en-GB" sz="2000" noProof="0" dirty="0"/>
          </a:p>
          <a:p>
            <a:pPr algn="just"/>
            <a:r>
              <a:rPr lang="en-GB" sz="2000" noProof="0" dirty="0">
                <a:latin typeface="Geogrotesque Rg" panose="02000000000000000000" pitchFamily="2" charset="77"/>
              </a:rPr>
              <a:t>Parameters set </a:t>
            </a:r>
            <a:r>
              <a:rPr lang="en-GB" sz="2000" noProof="0" dirty="0">
                <a:solidFill>
                  <a:srgbClr val="F25331"/>
                </a:solidFill>
                <a:latin typeface="Geogrotesque Rg" panose="02000000000000000000" pitchFamily="2" charset="77"/>
              </a:rPr>
              <a:t>location, scale, and shape</a:t>
            </a:r>
            <a:r>
              <a:rPr lang="en-GB" sz="2000" noProof="0" dirty="0">
                <a:latin typeface="Geogrotesque Rg" panose="02000000000000000000" pitchFamily="2" charset="77"/>
              </a:rPr>
              <a:t>. The normal has mean μ (location) and standard deviation σ (scale).</a:t>
            </a:r>
          </a:p>
          <a:p>
            <a:pPr algn="just"/>
            <a:r>
              <a:rPr lang="en-GB" sz="2000" noProof="0" dirty="0">
                <a:latin typeface="Geogrotesque Rg" panose="02000000000000000000" pitchFamily="2" charset="77"/>
              </a:rPr>
              <a:t>Notation: X ~ N(μ, σ) — “X follows a normal distribution with mean μ and standard deviation σ.”</a:t>
            </a:r>
          </a:p>
          <a:p>
            <a:pPr algn="just"/>
            <a:r>
              <a:rPr lang="en-GB" sz="2000" noProof="0" dirty="0">
                <a:latin typeface="Geogrotesque Rg" panose="02000000000000000000" pitchFamily="2" charset="77"/>
              </a:rPr>
              <a:t>Changing a parameter slides, stretches, or reshapes the same family of curves.</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224954" y="5958000"/>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One functional form, many shapes — set by the parameters.</a:t>
            </a:r>
          </a:p>
        </p:txBody>
      </p:sp>
      <p:pic>
        <p:nvPicPr>
          <p:cNvPr id="7" name="Picture 6">
            <a:extLst>
              <a:ext uri="{FF2B5EF4-FFF2-40B4-BE49-F238E27FC236}">
                <a16:creationId xmlns:a16="http://schemas.microsoft.com/office/drawing/2014/main" id="{2EE32B15-BEAD-9752-D5D7-9666DF8F3D8F}"/>
              </a:ext>
            </a:extLst>
          </p:cNvPr>
          <p:cNvPicPr>
            <a:picLocks noChangeAspect="1"/>
          </p:cNvPicPr>
          <p:nvPr/>
        </p:nvPicPr>
        <p:blipFill>
          <a:blip r:embed="rId3"/>
          <a:stretch>
            <a:fillRect/>
          </a:stretch>
        </p:blipFill>
        <p:spPr>
          <a:xfrm>
            <a:off x="5988627" y="917258"/>
            <a:ext cx="6203373" cy="3369198"/>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286B-5B47-A28A-F3D8-8D3F6A86FD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EF431C-C757-F7CE-D787-9F44F747D6B6}"/>
              </a:ext>
            </a:extLst>
          </p:cNvPr>
          <p:cNvSpPr txBox="1"/>
          <p:nvPr/>
        </p:nvSpPr>
        <p:spPr>
          <a:xfrm>
            <a:off x="0" y="1232266"/>
            <a:ext cx="12192000" cy="707886"/>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3200" noProof="0">
                <a:latin typeface="Geogrotesque Rg" panose="02000000000000000000" pitchFamily="2" charset="77"/>
              </a:rPr>
              <a:t>Part II — From a sample to an estimate</a:t>
            </a:r>
          </a:p>
        </p:txBody>
      </p:sp>
    </p:spTree>
    <p:extLst>
      <p:ext uri="{BB962C8B-B14F-4D97-AF65-F5344CB8AC3E}">
        <p14:creationId xmlns:p14="http://schemas.microsoft.com/office/powerpoint/2010/main" val="1549153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7</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The Central Limit Theorem</a:t>
            </a:r>
          </a:p>
        </p:txBody>
      </p:sp>
      <p:sp>
        <p:nvSpPr>
          <p:cNvPr id="3" name="Rectangle 2">
            <a:extLst>
              <a:ext uri="{FF2B5EF4-FFF2-40B4-BE49-F238E27FC236}">
                <a16:creationId xmlns:a16="http://schemas.microsoft.com/office/drawing/2014/main" id="{73A74FCD-0727-7C4E-941A-30BBA63A20FB}"/>
              </a:ext>
            </a:extLst>
          </p:cNvPr>
          <p:cNvSpPr/>
          <p:nvPr/>
        </p:nvSpPr>
        <p:spPr>
          <a:xfrm>
            <a:off x="9347084" y="344260"/>
            <a:ext cx="336343" cy="276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5996323" cy="5439092"/>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The sample mean is itself a random variable — and it's nearly normal.</a:t>
            </a:r>
          </a:p>
          <a:p>
            <a:pPr marL="0" indent="0" algn="just">
              <a:buNone/>
            </a:pPr>
            <a:endParaRPr lang="en-GB" sz="2000" noProof="0" dirty="0"/>
          </a:p>
          <a:p>
            <a:pPr algn="just"/>
            <a:r>
              <a:rPr lang="en-GB" sz="2000" noProof="0" dirty="0">
                <a:latin typeface="Geogrotesque Rg" panose="02000000000000000000" pitchFamily="2" charset="77"/>
              </a:rPr>
              <a:t>Across many samples, the </a:t>
            </a:r>
            <a:r>
              <a:rPr lang="en-GB" sz="2000" noProof="0" dirty="0">
                <a:solidFill>
                  <a:srgbClr val="F25331"/>
                </a:solidFill>
                <a:latin typeface="Geogrotesque Rg" panose="02000000000000000000" pitchFamily="2" charset="77"/>
              </a:rPr>
              <a:t>distribution of their means</a:t>
            </a:r>
            <a:r>
              <a:rPr lang="en-GB" sz="2000" noProof="0" dirty="0">
                <a:latin typeface="Geogrotesque Rg" panose="02000000000000000000" pitchFamily="2" charset="77"/>
              </a:rPr>
              <a:t> is approximately normal, even when the data are not.</a:t>
            </a:r>
          </a:p>
          <a:p>
            <a:pPr algn="just"/>
            <a:r>
              <a:rPr lang="en-GB" sz="2000" noProof="0" dirty="0">
                <a:latin typeface="Geogrotesque Rg" panose="02000000000000000000" pitchFamily="2" charset="77"/>
              </a:rPr>
              <a:t>Result: the sample mean is approximately normal, with spread shrinking as the sample grows.</a:t>
            </a:r>
          </a:p>
          <a:p>
            <a:pPr algn="just"/>
            <a:endParaRPr lang="en-GB" sz="200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r>
              <a:rPr lang="en-GB" sz="2000" noProof="0" dirty="0">
                <a:latin typeface="Geogrotesque Rg" panose="02000000000000000000" pitchFamily="2" charset="77"/>
              </a:rPr>
              <a:t>So we can reason about means without knowing the data's true distribution.</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8062282" y="5996162"/>
            <a:ext cx="7900000" cy="338554"/>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 the SEM from Session 1, reappearing.</a:t>
            </a:r>
          </a:p>
        </p:txBody>
      </p:sp>
      <p:pic>
        <p:nvPicPr>
          <p:cNvPr id="91" name="f_clt"/>
          <p:cNvPicPr>
            <a:picLocks noChangeAspect="1"/>
          </p:cNvPicPr>
          <p:nvPr/>
        </p:nvPicPr>
        <p:blipFill>
          <a:blip r:embed="rId3"/>
          <a:stretch>
            <a:fillRect/>
          </a:stretch>
        </p:blipFill>
        <p:spPr>
          <a:xfrm>
            <a:off x="2072975" y="3824028"/>
            <a:ext cx="2548489" cy="650818"/>
          </a:xfrm>
          <a:prstGeom prst="rect">
            <a:avLst/>
          </a:prstGeom>
        </p:spPr>
      </p:pic>
      <p:pic>
        <p:nvPicPr>
          <p:cNvPr id="7" name="f_clt">
            <a:extLst>
              <a:ext uri="{FF2B5EF4-FFF2-40B4-BE49-F238E27FC236}">
                <a16:creationId xmlns:a16="http://schemas.microsoft.com/office/drawing/2014/main" id="{6D9574C3-663D-5190-1232-4CE7F8743C6C}"/>
              </a:ext>
            </a:extLst>
          </p:cNvPr>
          <p:cNvPicPr>
            <a:picLocks noChangeAspect="1"/>
          </p:cNvPicPr>
          <p:nvPr/>
        </p:nvPicPr>
        <p:blipFill>
          <a:blip r:embed="rId3">
            <a:duotone>
              <a:schemeClr val="accent4">
                <a:shade val="45000"/>
                <a:satMod val="135000"/>
              </a:schemeClr>
              <a:prstClr val="white"/>
            </a:duotone>
          </a:blip>
          <a:srcRect l="68636" t="-14980" r="11124" b="-6360"/>
          <a:stretch>
            <a:fillRect/>
          </a:stretch>
        </p:blipFill>
        <p:spPr>
          <a:xfrm>
            <a:off x="7739707" y="5872558"/>
            <a:ext cx="418807" cy="641182"/>
          </a:xfrm>
          <a:prstGeom prst="rect">
            <a:avLst/>
          </a:prstGeom>
        </p:spPr>
      </p:pic>
      <p:pic>
        <p:nvPicPr>
          <p:cNvPr id="8" name="Picture 7">
            <a:extLst>
              <a:ext uri="{FF2B5EF4-FFF2-40B4-BE49-F238E27FC236}">
                <a16:creationId xmlns:a16="http://schemas.microsoft.com/office/drawing/2014/main" id="{9013D628-2D10-43DC-ADB0-17FEB707DD61}"/>
              </a:ext>
            </a:extLst>
          </p:cNvPr>
          <p:cNvPicPr>
            <a:picLocks noChangeAspect="1"/>
          </p:cNvPicPr>
          <p:nvPr/>
        </p:nvPicPr>
        <p:blipFill>
          <a:blip r:embed="rId4"/>
          <a:stretch>
            <a:fillRect/>
          </a:stretch>
        </p:blipFill>
        <p:spPr>
          <a:xfrm>
            <a:off x="6837008" y="820356"/>
            <a:ext cx="5110869" cy="3422157"/>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8</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Quantiles &amp; confidence intervals</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60" y="917258"/>
            <a:ext cx="6287268" cy="5248015"/>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Turn a distribution into a range of plausible values.</a:t>
            </a:r>
          </a:p>
          <a:p>
            <a:pPr marL="0" indent="0" algn="just">
              <a:buNone/>
            </a:pPr>
            <a:endParaRPr lang="en-GB" sz="2000" noProof="0" dirty="0"/>
          </a:p>
          <a:p>
            <a:pPr algn="just"/>
            <a:r>
              <a:rPr lang="en-GB" sz="2000" noProof="0" dirty="0">
                <a:latin typeface="Geogrotesque Rg" panose="02000000000000000000" pitchFamily="2" charset="77"/>
              </a:rPr>
              <a:t>A </a:t>
            </a:r>
            <a:r>
              <a:rPr lang="en-GB" sz="2000" noProof="0" dirty="0">
                <a:solidFill>
                  <a:srgbClr val="F25331"/>
                </a:solidFill>
                <a:latin typeface="Geogrotesque Rg" panose="02000000000000000000" pitchFamily="2" charset="77"/>
              </a:rPr>
              <a:t>quantile</a:t>
            </a:r>
            <a:r>
              <a:rPr lang="en-GB" sz="2000" noProof="0" dirty="0">
                <a:latin typeface="Geogrotesque Rg" panose="02000000000000000000" pitchFamily="2" charset="77"/>
              </a:rPr>
              <a:t> is the value below which a given fraction lies: 0.5 = median; 0.025 and 0.975 cut off the bottom and top 2.5%.</a:t>
            </a:r>
          </a:p>
          <a:p>
            <a:pPr algn="just"/>
            <a:r>
              <a:rPr lang="en-GB" sz="2000" noProof="0" dirty="0">
                <a:latin typeface="Geogrotesque Rg" panose="02000000000000000000" pitchFamily="2" charset="77"/>
              </a:rPr>
              <a:t>A </a:t>
            </a:r>
            <a:r>
              <a:rPr lang="en-GB" sz="2000" noProof="0" dirty="0">
                <a:solidFill>
                  <a:srgbClr val="F25331"/>
                </a:solidFill>
                <a:latin typeface="Geogrotesque Rg" panose="02000000000000000000" pitchFamily="2" charset="77"/>
              </a:rPr>
              <a:t>95% confidence interval</a:t>
            </a:r>
            <a:r>
              <a:rPr lang="en-GB" sz="2000" noProof="0" dirty="0">
                <a:latin typeface="Geogrotesque Rg" panose="02000000000000000000" pitchFamily="2" charset="77"/>
              </a:rPr>
              <a:t> for the mean is bounded by the 0.025 and 0.975 quantiles of the sampling distribution.</a:t>
            </a:r>
          </a:p>
          <a:p>
            <a:pPr algn="just"/>
            <a:r>
              <a:rPr lang="en-GB" sz="2000" dirty="0">
                <a:solidFill>
                  <a:srgbClr val="0089D1"/>
                </a:solidFill>
              </a:rPr>
              <a:t>Over many repeated samples, 95% of such intervals contain the true mean. </a:t>
            </a:r>
            <a:endParaRPr lang="en-GB" sz="2000" noProof="0" dirty="0">
              <a:solidFill>
                <a:srgbClr val="0089D1"/>
              </a:solidFill>
              <a:latin typeface="Geogrotesque Rg" panose="02000000000000000000" pitchFamily="2" charset="77"/>
            </a:endParaRPr>
          </a:p>
          <a:p>
            <a:pPr algn="just"/>
            <a:r>
              <a:rPr lang="en-GB" sz="2000" noProof="0" dirty="0">
                <a:latin typeface="Geogrotesque Rg" panose="02000000000000000000" pitchFamily="2" charset="77"/>
              </a:rPr>
              <a:t>It quantifies how precisely the sample has located the true mean.</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7004075" y="5809297"/>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95% lives in the procedure, not in any single interval.</a:t>
            </a:r>
          </a:p>
        </p:txBody>
      </p:sp>
      <p:pic>
        <p:nvPicPr>
          <p:cNvPr id="7" name="Picture 6">
            <a:extLst>
              <a:ext uri="{FF2B5EF4-FFF2-40B4-BE49-F238E27FC236}">
                <a16:creationId xmlns:a16="http://schemas.microsoft.com/office/drawing/2014/main" id="{29FE85D2-AC4E-398B-DAE3-17D75A6333E8}"/>
              </a:ext>
            </a:extLst>
          </p:cNvPr>
          <p:cNvPicPr>
            <a:picLocks noChangeAspect="1"/>
          </p:cNvPicPr>
          <p:nvPr/>
        </p:nvPicPr>
        <p:blipFill>
          <a:blip r:embed="rId3"/>
          <a:stretch>
            <a:fillRect/>
          </a:stretch>
        </p:blipFill>
        <p:spPr>
          <a:xfrm>
            <a:off x="6636328" y="917258"/>
            <a:ext cx="5416550" cy="2222500"/>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286B-5B47-A28A-F3D8-8D3F6A86FD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EF431C-C757-F7CE-D787-9F44F747D6B6}"/>
              </a:ext>
            </a:extLst>
          </p:cNvPr>
          <p:cNvSpPr txBox="1"/>
          <p:nvPr/>
        </p:nvSpPr>
        <p:spPr>
          <a:xfrm>
            <a:off x="0" y="1232266"/>
            <a:ext cx="12192000" cy="707886"/>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2800" noProof="0">
                <a:latin typeface="Geogrotesque Rg" panose="02000000000000000000" pitchFamily="2" charset="77"/>
              </a:rPr>
              <a:t>Part III — The logic of hypothesis testing</a:t>
            </a:r>
          </a:p>
        </p:txBody>
      </p:sp>
    </p:spTree>
    <p:extLst>
      <p:ext uri="{BB962C8B-B14F-4D97-AF65-F5344CB8AC3E}">
        <p14:creationId xmlns:p14="http://schemas.microsoft.com/office/powerpoint/2010/main" val="1549153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10</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Anatomy of a hypothesis test</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60" y="917258"/>
            <a:ext cx="5982468" cy="5439092"/>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Four steps, always the same.</a:t>
            </a:r>
          </a:p>
          <a:p>
            <a:pPr marL="0" indent="0" algn="just">
              <a:buNone/>
            </a:pPr>
            <a:endParaRPr lang="en-GB" sz="2000" noProof="0" dirty="0"/>
          </a:p>
          <a:p>
            <a:pPr algn="just"/>
            <a:r>
              <a:rPr lang="en-GB" sz="2000" noProof="0" dirty="0">
                <a:latin typeface="Geogrotesque Rg" panose="02000000000000000000" pitchFamily="2" charset="77"/>
              </a:rPr>
              <a:t>State a </a:t>
            </a:r>
            <a:r>
              <a:rPr lang="en-GB" sz="2000" noProof="0" dirty="0">
                <a:solidFill>
                  <a:srgbClr val="F25331"/>
                </a:solidFill>
                <a:latin typeface="Geogrotesque Rg" panose="02000000000000000000" pitchFamily="2" charset="77"/>
              </a:rPr>
              <a:t>null hypothesis H₀</a:t>
            </a:r>
            <a:r>
              <a:rPr lang="en-GB" sz="2000" noProof="0" dirty="0">
                <a:latin typeface="Geogrotesque Rg" panose="02000000000000000000" pitchFamily="2" charset="77"/>
              </a:rPr>
              <a:t> and an </a:t>
            </a:r>
            <a:r>
              <a:rPr lang="en-GB" sz="2000" noProof="0" dirty="0">
                <a:solidFill>
                  <a:srgbClr val="F25331"/>
                </a:solidFill>
                <a:latin typeface="Geogrotesque Rg" panose="02000000000000000000" pitchFamily="2" charset="77"/>
              </a:rPr>
              <a:t>alternative H₁</a:t>
            </a:r>
            <a:r>
              <a:rPr lang="en-GB" sz="2000" noProof="0" dirty="0">
                <a:latin typeface="Geogrotesque Rg" panose="02000000000000000000" pitchFamily="2" charset="77"/>
              </a:rPr>
              <a:t> — claims about the real world.</a:t>
            </a:r>
          </a:p>
          <a:p>
            <a:pPr algn="just"/>
            <a:r>
              <a:rPr lang="en-GB" sz="2000" noProof="0" dirty="0">
                <a:latin typeface="Geogrotesque Rg" panose="02000000000000000000" pitchFamily="2" charset="77"/>
              </a:rPr>
              <a:t>Pick a </a:t>
            </a:r>
            <a:r>
              <a:rPr lang="en-GB" sz="2000" noProof="0" dirty="0">
                <a:solidFill>
                  <a:srgbClr val="F25331"/>
                </a:solidFill>
                <a:latin typeface="Geogrotesque Rg" panose="02000000000000000000" pitchFamily="2" charset="77"/>
              </a:rPr>
              <a:t>test statistic</a:t>
            </a:r>
            <a:r>
              <a:rPr lang="en-GB" sz="2000" noProof="0" dirty="0">
                <a:latin typeface="Geogrotesque Rg" panose="02000000000000000000" pitchFamily="2" charset="77"/>
              </a:rPr>
              <a:t> whose distribution under H₀ is known.</a:t>
            </a:r>
          </a:p>
          <a:p>
            <a:pPr algn="just"/>
            <a:r>
              <a:rPr lang="en-GB" sz="2000" noProof="0" dirty="0">
                <a:latin typeface="Geogrotesque Rg" panose="02000000000000000000" pitchFamily="2" charset="77"/>
              </a:rPr>
              <a:t>Compute the statistic from your data.</a:t>
            </a:r>
          </a:p>
          <a:p>
            <a:pPr algn="just"/>
            <a:r>
              <a:rPr lang="en-GB" sz="2000" noProof="0" dirty="0">
                <a:latin typeface="Geogrotesque Rg" panose="02000000000000000000" pitchFamily="2" charset="77"/>
              </a:rPr>
              <a:t>Ask how extreme it is relative to that null distribution.</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5390928" y="5687126"/>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Every test: a number whose behaviour we can predict if nothing is going on.</a:t>
            </a:r>
          </a:p>
        </p:txBody>
      </p:sp>
      <p:pic>
        <p:nvPicPr>
          <p:cNvPr id="7" name="Picture 6">
            <a:extLst>
              <a:ext uri="{FF2B5EF4-FFF2-40B4-BE49-F238E27FC236}">
                <a16:creationId xmlns:a16="http://schemas.microsoft.com/office/drawing/2014/main" id="{955453BF-7AF9-BB8E-2C05-FBFC4147B2D1}"/>
              </a:ext>
            </a:extLst>
          </p:cNvPr>
          <p:cNvPicPr>
            <a:picLocks noChangeAspect="1"/>
          </p:cNvPicPr>
          <p:nvPr/>
        </p:nvPicPr>
        <p:blipFill>
          <a:blip r:embed="rId3"/>
          <a:srcRect l="4977" t="5997" r="8200"/>
          <a:stretch>
            <a:fillRect/>
          </a:stretch>
        </p:blipFill>
        <p:spPr>
          <a:xfrm>
            <a:off x="6621407" y="874650"/>
            <a:ext cx="5570593" cy="2695332"/>
          </a:xfrm>
          <a:prstGeom prst="rect">
            <a:avLst/>
          </a:prstGeom>
        </p:spPr>
      </p:pic>
      <p:sp>
        <p:nvSpPr>
          <p:cNvPr id="8" name="TextBox 7">
            <a:extLst>
              <a:ext uri="{FF2B5EF4-FFF2-40B4-BE49-F238E27FC236}">
                <a16:creationId xmlns:a16="http://schemas.microsoft.com/office/drawing/2014/main" id="{24BA584F-A6AA-AFF4-64EC-20C1B00A3990}"/>
              </a:ext>
            </a:extLst>
          </p:cNvPr>
          <p:cNvSpPr txBox="1"/>
          <p:nvPr/>
        </p:nvSpPr>
        <p:spPr>
          <a:xfrm>
            <a:off x="9053284" y="3570752"/>
            <a:ext cx="1095941" cy="369332"/>
          </a:xfrm>
          <a:prstGeom prst="rect">
            <a:avLst/>
          </a:prstGeom>
          <a:noFill/>
        </p:spPr>
        <p:txBody>
          <a:bodyPr wrap="none" rtlCol="0">
            <a:spAutoFit/>
          </a:bodyPr>
          <a:lstStyle/>
          <a:p>
            <a:r>
              <a:rPr lang="en-US" dirty="0">
                <a:latin typeface="Geogrotesque Rg" panose="02000000000000000000" pitchFamily="2" charset="77"/>
              </a:rPr>
              <a:t>statistics</a:t>
            </a:r>
          </a:p>
        </p:txBody>
      </p:sp>
      <p:sp>
        <p:nvSpPr>
          <p:cNvPr id="9" name="TextBox 8">
            <a:extLst>
              <a:ext uri="{FF2B5EF4-FFF2-40B4-BE49-F238E27FC236}">
                <a16:creationId xmlns:a16="http://schemas.microsoft.com/office/drawing/2014/main" id="{9EC9586C-1EB0-5ED9-B8F2-1420F7582904}"/>
              </a:ext>
            </a:extLst>
          </p:cNvPr>
          <p:cNvSpPr txBox="1"/>
          <p:nvPr/>
        </p:nvSpPr>
        <p:spPr>
          <a:xfrm>
            <a:off x="7880272" y="997822"/>
            <a:ext cx="1460656" cy="369332"/>
          </a:xfrm>
          <a:prstGeom prst="rect">
            <a:avLst/>
          </a:prstGeom>
          <a:noFill/>
        </p:spPr>
        <p:txBody>
          <a:bodyPr wrap="none" rtlCol="0">
            <a:spAutoFit/>
          </a:bodyPr>
          <a:lstStyle/>
          <a:p>
            <a:r>
              <a:rPr lang="en-US" dirty="0">
                <a:latin typeface="Geogrotesque Rg" panose="02000000000000000000" pitchFamily="2" charset="77"/>
              </a:rPr>
              <a:t>PDF under H</a:t>
            </a:r>
            <a:r>
              <a:rPr lang="en-US" baseline="-25000" dirty="0">
                <a:latin typeface="Geogrotesque Rg" panose="02000000000000000000" pitchFamily="2" charset="77"/>
              </a:rPr>
              <a:t>0</a:t>
            </a:r>
          </a:p>
        </p:txBody>
      </p:sp>
    </p:spTree>
    <p:extLst>
      <p:ext uri="{BB962C8B-B14F-4D97-AF65-F5344CB8AC3E}">
        <p14:creationId xmlns:p14="http://schemas.microsoft.com/office/powerpoint/2010/main" val="558177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11</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200" noProof="0" dirty="0">
                <a:latin typeface="Geogrotesque Rg" panose="02000000000000000000" pitchFamily="2" charset="77"/>
              </a:rPr>
              <a:t>Motivation: is the true mean different from μ₀?</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We have a sample; we want to judge the population mean behind it.</a:t>
            </a:r>
          </a:p>
          <a:p>
            <a:pPr marL="0" indent="0" algn="just">
              <a:buNone/>
            </a:pPr>
            <a:endParaRPr lang="en-GB" sz="2000" noProof="0" dirty="0"/>
          </a:p>
          <a:p>
            <a:pPr algn="just"/>
            <a:r>
              <a:rPr lang="en-GB" sz="2000" noProof="0" dirty="0">
                <a:latin typeface="Geogrotesque Rg" panose="02000000000000000000" pitchFamily="2" charset="77"/>
              </a:rPr>
              <a:t>Is the </a:t>
            </a:r>
            <a:r>
              <a:rPr lang="en-GB" sz="2000" noProof="0" dirty="0">
                <a:solidFill>
                  <a:srgbClr val="F25331"/>
                </a:solidFill>
                <a:latin typeface="Geogrotesque Rg" panose="02000000000000000000" pitchFamily="2" charset="77"/>
              </a:rPr>
              <a:t>true mean μ</a:t>
            </a:r>
            <a:r>
              <a:rPr lang="en-GB" sz="2000" noProof="0" dirty="0">
                <a:latin typeface="Geogrotesque Rg" panose="02000000000000000000" pitchFamily="2" charset="77"/>
              </a:rPr>
              <a:t> different from a </a:t>
            </a:r>
            <a:r>
              <a:rPr lang="en-GB" sz="2000" noProof="0" dirty="0">
                <a:solidFill>
                  <a:srgbClr val="F25331"/>
                </a:solidFill>
                <a:latin typeface="Geogrotesque Rg" panose="02000000000000000000" pitchFamily="2" charset="77"/>
              </a:rPr>
              <a:t>reference μ₀</a:t>
            </a:r>
            <a:r>
              <a:rPr lang="en-GB" sz="2000" noProof="0" dirty="0">
                <a:latin typeface="Geogrotesque Rg" panose="02000000000000000000" pitchFamily="2" charset="77"/>
              </a:rPr>
              <a:t>? (e.g. a batch's mean weight vs the labelled 500 g.)</a:t>
            </a:r>
          </a:p>
          <a:p>
            <a:pPr algn="just"/>
            <a:r>
              <a:rPr lang="en-GB" sz="2000" noProof="0" dirty="0">
                <a:latin typeface="Geogrotesque Rg" panose="02000000000000000000" pitchFamily="2" charset="77"/>
              </a:rPr>
              <a:t>We only see the sample mean x̄ — it almost never equals μ₀ exactly.</a:t>
            </a:r>
          </a:p>
          <a:p>
            <a:pPr algn="just"/>
            <a:r>
              <a:rPr lang="en-GB" sz="2000" noProof="0" dirty="0">
                <a:latin typeface="Geogrotesque Rg" panose="02000000000000000000" pitchFamily="2" charset="77"/>
              </a:rPr>
              <a:t>Is the gap x̄ − μ₀ real, or just </a:t>
            </a:r>
            <a:r>
              <a:rPr lang="en-GB" sz="2000" noProof="0" dirty="0">
                <a:solidFill>
                  <a:srgbClr val="F25331"/>
                </a:solidFill>
                <a:latin typeface="Geogrotesque Rg" panose="02000000000000000000" pitchFamily="2" charset="77"/>
              </a:rPr>
              <a:t>sampling noise</a:t>
            </a:r>
            <a:r>
              <a:rPr lang="en-GB" sz="2000" noProof="0" dirty="0">
                <a:latin typeface="Geogrotesque Rg" panose="02000000000000000000" pitchFamily="2" charset="77"/>
              </a:rPr>
              <a:t>?</a:t>
            </a:r>
          </a:p>
          <a:p>
            <a:pPr algn="just"/>
            <a:r>
              <a:rPr lang="en-GB" sz="2000" noProof="0" dirty="0">
                <a:latin typeface="Geogrotesque Rg" panose="02000000000000000000" pitchFamily="2" charset="77"/>
              </a:rPr>
              <a:t>The CLT gives the noise yardstick      </a:t>
            </a:r>
          </a:p>
          <a:p>
            <a:pPr algn="just"/>
            <a:r>
              <a:rPr lang="en-GB" sz="2000" dirty="0">
                <a:latin typeface="Geogrotesque Rg" panose="02000000000000000000" pitchFamily="2" charset="77"/>
              </a:rPr>
              <a:t>S</a:t>
            </a:r>
            <a:r>
              <a:rPr lang="en-GB" sz="2000" noProof="0" dirty="0" err="1">
                <a:latin typeface="Geogrotesque Rg" panose="02000000000000000000" pitchFamily="2" charset="77"/>
              </a:rPr>
              <a:t>tandardising</a:t>
            </a:r>
            <a:r>
              <a:rPr lang="en-GB" sz="2000" noProof="0" dirty="0">
                <a:latin typeface="Geogrotesque Rg" panose="02000000000000000000" pitchFamily="2" charset="77"/>
              </a:rPr>
              <a:t> the gap against it is the </a:t>
            </a:r>
            <a:r>
              <a:rPr lang="en-GB" sz="2000" noProof="0" dirty="0">
                <a:solidFill>
                  <a:srgbClr val="F25331"/>
                </a:solidFill>
                <a:latin typeface="Geogrotesque Rg" panose="02000000000000000000" pitchFamily="2" charset="77"/>
              </a:rPr>
              <a:t>one-sample Student t-test</a:t>
            </a:r>
            <a:r>
              <a:rPr lang="en-GB" sz="2000" noProof="0" dirty="0">
                <a:latin typeface="Geogrotesque Rg" panose="02000000000000000000" pitchFamily="2" charset="77"/>
              </a:rPr>
              <a:t>.</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482862" y="5906350"/>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x̄ ≠ μ₀ isn't enough — is the gap bigger than sampling noise?</a:t>
            </a:r>
          </a:p>
        </p:txBody>
      </p:sp>
      <p:pic>
        <p:nvPicPr>
          <p:cNvPr id="91" name="one-sample t"/>
          <p:cNvPicPr>
            <a:picLocks noChangeAspect="1"/>
          </p:cNvPicPr>
          <p:nvPr/>
        </p:nvPicPr>
        <p:blipFill>
          <a:blip r:embed="rId3"/>
          <a:stretch>
            <a:fillRect/>
          </a:stretch>
        </p:blipFill>
        <p:spPr>
          <a:xfrm>
            <a:off x="3780325" y="4176627"/>
            <a:ext cx="3130827" cy="720000"/>
          </a:xfrm>
          <a:prstGeom prst="rect">
            <a:avLst/>
          </a:prstGeom>
        </p:spPr>
      </p:pic>
      <p:pic>
        <p:nvPicPr>
          <p:cNvPr id="7" name="f_clt">
            <a:extLst>
              <a:ext uri="{FF2B5EF4-FFF2-40B4-BE49-F238E27FC236}">
                <a16:creationId xmlns:a16="http://schemas.microsoft.com/office/drawing/2014/main" id="{82125270-C86B-0B74-6D91-0B7C8A633E75}"/>
              </a:ext>
            </a:extLst>
          </p:cNvPr>
          <p:cNvPicPr>
            <a:picLocks noChangeAspect="1"/>
          </p:cNvPicPr>
          <p:nvPr/>
        </p:nvPicPr>
        <p:blipFill>
          <a:blip r:embed="rId4"/>
          <a:srcRect l="68636" t="-14980" r="11124" b="-6360"/>
          <a:stretch>
            <a:fillRect/>
          </a:stretch>
        </p:blipFill>
        <p:spPr>
          <a:xfrm>
            <a:off x="4192942" y="3051684"/>
            <a:ext cx="418807" cy="641182"/>
          </a:xfrm>
          <a:prstGeom prst="rect">
            <a:avLst/>
          </a:prstGeom>
        </p:spPr>
      </p:pic>
    </p:spTree>
    <p:extLst>
      <p:ext uri="{BB962C8B-B14F-4D97-AF65-F5344CB8AC3E}">
        <p14:creationId xmlns:p14="http://schemas.microsoft.com/office/powerpoint/2010/main" val="1286950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12</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A worked test, one- vs two-sided</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60" y="917258"/>
            <a:ext cx="6231850" cy="49570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Centre and scale the sample mean.</a:t>
            </a:r>
          </a:p>
          <a:p>
            <a:pPr marL="0" indent="0" algn="just">
              <a:buNone/>
            </a:pPr>
            <a:endParaRPr lang="en-GB" sz="2000" noProof="0" dirty="0"/>
          </a:p>
          <a:p>
            <a:pPr algn="just"/>
            <a:r>
              <a:rPr lang="en-GB" sz="2000" noProof="0" dirty="0">
                <a:latin typeface="Geogrotesque Rg" panose="02000000000000000000" pitchFamily="2" charset="77"/>
              </a:rPr>
              <a:t>If σ is known, the centred-and-scaled sample mean is a standard normal under H₀: μ = μ₀ — easy to read probabilities off.</a:t>
            </a:r>
          </a:p>
          <a:p>
            <a:pPr algn="just"/>
            <a:endParaRPr lang="en-GB" sz="200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endParaRPr lang="en-GB" sz="2000" noProof="0" dirty="0">
              <a:solidFill>
                <a:srgbClr val="F25331"/>
              </a:solidFill>
              <a:latin typeface="Geogrotesque Rg" panose="02000000000000000000" pitchFamily="2" charset="77"/>
            </a:endParaRPr>
          </a:p>
          <a:p>
            <a:pPr algn="just"/>
            <a:r>
              <a:rPr lang="en-GB" sz="2000" noProof="0" dirty="0">
                <a:solidFill>
                  <a:srgbClr val="F25331"/>
                </a:solidFill>
                <a:latin typeface="Geogrotesque Rg" panose="02000000000000000000" pitchFamily="2" charset="77"/>
              </a:rPr>
              <a:t>Two-sided</a:t>
            </a:r>
            <a:r>
              <a:rPr lang="en-GB" sz="2000" noProof="0" dirty="0">
                <a:latin typeface="Geogrotesque Rg" panose="02000000000000000000" pitchFamily="2" charset="77"/>
              </a:rPr>
              <a:t> (H₁: μ ≠ μ₀) counts extremes in both tails; </a:t>
            </a:r>
            <a:r>
              <a:rPr lang="en-GB" sz="2000" noProof="0" dirty="0">
                <a:solidFill>
                  <a:srgbClr val="F25331"/>
                </a:solidFill>
                <a:latin typeface="Geogrotesque Rg" panose="02000000000000000000" pitchFamily="2" charset="77"/>
              </a:rPr>
              <a:t>one-sided</a:t>
            </a:r>
            <a:r>
              <a:rPr lang="en-GB" sz="2000" noProof="0" dirty="0">
                <a:latin typeface="Geogrotesque Rg" panose="02000000000000000000" pitchFamily="2" charset="77"/>
              </a:rPr>
              <a:t> (H₁: μ &gt; μ₀) counts only one.</a:t>
            </a:r>
          </a:p>
          <a:p>
            <a:pPr algn="just"/>
            <a:r>
              <a:rPr lang="en-GB" sz="2000" noProof="0" dirty="0">
                <a:latin typeface="Geogrotesque Rg" panose="02000000000000000000" pitchFamily="2" charset="77"/>
              </a:rPr>
              <a:t>For a symmetric statistic, the two-sided p-value is twice the one-sided.</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865530" y="6088912"/>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Commit to one- vs two-sided before seeing the data.</a:t>
            </a:r>
          </a:p>
        </p:txBody>
      </p:sp>
      <p:pic>
        <p:nvPicPr>
          <p:cNvPr id="92" name="f_zstat"/>
          <p:cNvPicPr>
            <a:picLocks noChangeAspect="1"/>
          </p:cNvPicPr>
          <p:nvPr/>
        </p:nvPicPr>
        <p:blipFill>
          <a:blip r:embed="rId3"/>
          <a:stretch>
            <a:fillRect/>
          </a:stretch>
        </p:blipFill>
        <p:spPr>
          <a:xfrm>
            <a:off x="2182779" y="2811741"/>
            <a:ext cx="2564411" cy="800000"/>
          </a:xfrm>
          <a:prstGeom prst="rect">
            <a:avLst/>
          </a:prstGeom>
        </p:spPr>
      </p:pic>
      <p:pic>
        <p:nvPicPr>
          <p:cNvPr id="7" name="Picture 6">
            <a:extLst>
              <a:ext uri="{FF2B5EF4-FFF2-40B4-BE49-F238E27FC236}">
                <a16:creationId xmlns:a16="http://schemas.microsoft.com/office/drawing/2014/main" id="{261FA4E1-937D-F5E6-CA29-137D7F4D6492}"/>
              </a:ext>
            </a:extLst>
          </p:cNvPr>
          <p:cNvPicPr>
            <a:picLocks noChangeAspect="1"/>
          </p:cNvPicPr>
          <p:nvPr/>
        </p:nvPicPr>
        <p:blipFill>
          <a:blip r:embed="rId4"/>
          <a:stretch>
            <a:fillRect/>
          </a:stretch>
        </p:blipFill>
        <p:spPr>
          <a:xfrm>
            <a:off x="7187801" y="776087"/>
            <a:ext cx="4310893" cy="1746250"/>
          </a:xfrm>
          <a:prstGeom prst="rect">
            <a:avLst/>
          </a:prstGeom>
        </p:spPr>
      </p:pic>
      <p:pic>
        <p:nvPicPr>
          <p:cNvPr id="8" name="Picture 7">
            <a:extLst>
              <a:ext uri="{FF2B5EF4-FFF2-40B4-BE49-F238E27FC236}">
                <a16:creationId xmlns:a16="http://schemas.microsoft.com/office/drawing/2014/main" id="{CA20D202-7036-E875-D1DF-A59766DC9489}"/>
              </a:ext>
            </a:extLst>
          </p:cNvPr>
          <p:cNvPicPr>
            <a:picLocks noChangeAspect="1"/>
          </p:cNvPicPr>
          <p:nvPr/>
        </p:nvPicPr>
        <p:blipFill>
          <a:blip r:embed="rId5"/>
          <a:srcRect l="4977" t="5997" r="8200"/>
          <a:stretch>
            <a:fillRect/>
          </a:stretch>
        </p:blipFill>
        <p:spPr>
          <a:xfrm>
            <a:off x="7078028" y="2811741"/>
            <a:ext cx="4530437" cy="1746250"/>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13</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The t-distribution &amp; degrees of freedom</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5746941" cy="5439092"/>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We never really know σ — so we estimate it, And pay for it.</a:t>
            </a:r>
          </a:p>
          <a:p>
            <a:pPr marL="0" indent="0" algn="just">
              <a:buNone/>
            </a:pPr>
            <a:endParaRPr lang="en-GB" sz="2000" noProof="0" dirty="0"/>
          </a:p>
          <a:p>
            <a:pPr algn="just"/>
            <a:r>
              <a:rPr lang="en-GB" sz="2000" noProof="0" dirty="0">
                <a:latin typeface="Geogrotesque Rg" panose="02000000000000000000" pitchFamily="2" charset="77"/>
              </a:rPr>
              <a:t>Using the sample SD makes the statistic follow a </a:t>
            </a:r>
            <a:r>
              <a:rPr lang="en-GB" sz="2000" noProof="0" dirty="0">
                <a:solidFill>
                  <a:srgbClr val="F25331"/>
                </a:solidFill>
                <a:latin typeface="Geogrotesque Rg" panose="02000000000000000000" pitchFamily="2" charset="77"/>
              </a:rPr>
              <a:t>t-distribution with n−1 DF</a:t>
            </a:r>
            <a:r>
              <a:rPr lang="en-GB" sz="2000" noProof="0" dirty="0">
                <a:latin typeface="Geogrotesque Rg" panose="02000000000000000000" pitchFamily="2" charset="77"/>
              </a:rPr>
              <a:t>, not a normal — fatter tails for the extra uncertainty.</a:t>
            </a:r>
          </a:p>
          <a:p>
            <a:pPr algn="just"/>
            <a:r>
              <a:rPr lang="en-GB" sz="2000" noProof="0" dirty="0">
                <a:solidFill>
                  <a:srgbClr val="F25331"/>
                </a:solidFill>
                <a:latin typeface="Geogrotesque Rg" panose="02000000000000000000" pitchFamily="2" charset="77"/>
              </a:rPr>
              <a:t>Degrees of freedom (DF)</a:t>
            </a:r>
            <a:r>
              <a:rPr lang="en-GB" sz="2000" noProof="0" dirty="0">
                <a:latin typeface="Geogrotesque Rg" panose="02000000000000000000" pitchFamily="2" charset="77"/>
              </a:rPr>
              <a:t>: independent information left after estimating the mean — the same n−1 from Session 1.</a:t>
            </a:r>
          </a:p>
          <a:p>
            <a:pPr algn="just"/>
            <a:r>
              <a:rPr lang="en-GB" sz="2000" noProof="0" dirty="0">
                <a:latin typeface="Geogrotesque Rg" panose="02000000000000000000" pitchFamily="2" charset="77"/>
              </a:rPr>
              <a:t>As DF grow, t converges to the normal (indistinguishable beyond ~100 </a:t>
            </a:r>
            <a:r>
              <a:rPr lang="en-GB" sz="2000" dirty="0">
                <a:latin typeface="Geogrotesque Rg" panose="02000000000000000000" pitchFamily="2" charset="77"/>
              </a:rPr>
              <a:t>DF</a:t>
            </a:r>
            <a:r>
              <a:rPr lang="en-GB" sz="2000" noProof="0" dirty="0">
                <a:latin typeface="Geogrotesque Rg" panose="02000000000000000000" pitchFamily="2" charset="77"/>
              </a:rPr>
              <a:t>).</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032200" y="5821475"/>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Small samples → fatter tails → a bigger effect needed for significance.</a:t>
            </a:r>
          </a:p>
        </p:txBody>
      </p:sp>
      <p:pic>
        <p:nvPicPr>
          <p:cNvPr id="7" name="Picture 6">
            <a:extLst>
              <a:ext uri="{FF2B5EF4-FFF2-40B4-BE49-F238E27FC236}">
                <a16:creationId xmlns:a16="http://schemas.microsoft.com/office/drawing/2014/main" id="{50DDB543-DA0B-7BE8-8B0F-1CB6328412D7}"/>
              </a:ext>
            </a:extLst>
          </p:cNvPr>
          <p:cNvPicPr>
            <a:picLocks noChangeAspect="1"/>
          </p:cNvPicPr>
          <p:nvPr/>
        </p:nvPicPr>
        <p:blipFill>
          <a:blip r:embed="rId3"/>
          <a:stretch>
            <a:fillRect/>
          </a:stretch>
        </p:blipFill>
        <p:spPr>
          <a:xfrm>
            <a:off x="6399735" y="851760"/>
            <a:ext cx="5321301" cy="2698750"/>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14</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Welch's t-test</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Comparing the means of two independent groups.</a:t>
            </a:r>
          </a:p>
          <a:p>
            <a:pPr marL="0" indent="0" algn="just">
              <a:buNone/>
            </a:pPr>
            <a:endParaRPr lang="en-GB" sz="2000" noProof="0" dirty="0"/>
          </a:p>
          <a:p>
            <a:pPr algn="just"/>
            <a:r>
              <a:rPr lang="en-GB" sz="2000" noProof="0" dirty="0">
                <a:latin typeface="Geogrotesque Rg" panose="02000000000000000000" pitchFamily="2" charset="77"/>
              </a:rPr>
              <a:t>H₀: μ₁ = μ₂ vs H₁: μ₁ ≠ μ₂ — the test statistic is</a:t>
            </a:r>
          </a:p>
          <a:p>
            <a:pPr algn="just"/>
            <a:endParaRPr lang="en-GB" sz="200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r>
              <a:rPr lang="en-GB" sz="2000" noProof="0" dirty="0">
                <a:solidFill>
                  <a:srgbClr val="F25331"/>
                </a:solidFill>
                <a:latin typeface="Geogrotesque Rg" panose="02000000000000000000" pitchFamily="2" charset="77"/>
              </a:rPr>
              <a:t>Student vs. Welch</a:t>
            </a:r>
            <a:r>
              <a:rPr lang="en-GB" sz="2000" noProof="0" dirty="0">
                <a:latin typeface="Geogrotesque Rg" panose="02000000000000000000" pitchFamily="2" charset="77"/>
              </a:rPr>
              <a:t>: Student's assumes one pooled variance; Welch's uses each group's own variance + adjusted DF, so it needs no equal-variance assumption.</a:t>
            </a:r>
          </a:p>
          <a:p>
            <a:pPr algn="just"/>
            <a:r>
              <a:rPr lang="en-GB" sz="2000" noProof="0" dirty="0">
                <a:solidFill>
                  <a:srgbClr val="F25331"/>
                </a:solidFill>
                <a:latin typeface="Geogrotesque Rg" panose="02000000000000000000" pitchFamily="2" charset="77"/>
              </a:rPr>
              <a:t>Welch is the safe default</a:t>
            </a:r>
            <a:r>
              <a:rPr lang="en-GB" sz="2000" noProof="0" dirty="0">
                <a:latin typeface="Geogrotesque Rg" panose="02000000000000000000" pitchFamily="2" charset="77"/>
              </a:rPr>
              <a:t> </a:t>
            </a:r>
          </a:p>
          <a:p>
            <a:pPr algn="just"/>
            <a:r>
              <a:rPr lang="en-GB" sz="2000" noProof="0" dirty="0">
                <a:latin typeface="Geogrotesque Rg" panose="02000000000000000000" pitchFamily="2" charset="77"/>
              </a:rPr>
              <a:t>a paired t-test fits matched observations (before/after).</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224954" y="5718852"/>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When assumptions fail, the p-value stops meaning anything.</a:t>
            </a:r>
          </a:p>
        </p:txBody>
      </p:sp>
      <p:pic>
        <p:nvPicPr>
          <p:cNvPr id="93" name="f_welch"/>
          <p:cNvPicPr>
            <a:picLocks noChangeAspect="1"/>
          </p:cNvPicPr>
          <p:nvPr/>
        </p:nvPicPr>
        <p:blipFill>
          <a:blip r:embed="rId3"/>
          <a:stretch>
            <a:fillRect/>
          </a:stretch>
        </p:blipFill>
        <p:spPr>
          <a:xfrm>
            <a:off x="5791296" y="1604917"/>
            <a:ext cx="2819304" cy="860000"/>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13159-D793-43AC-D1DD-181EFA6D8EE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B019AB-82AE-4696-15BB-F60EDAEBA140}"/>
              </a:ext>
            </a:extLst>
          </p:cNvPr>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15</a:t>
            </a:fld>
            <a:endParaRPr lang="en-GB" noProof="0" dirty="0">
              <a:latin typeface="Geogrotesque Rg" panose="02000000000000000000" pitchFamily="2" charset="77"/>
            </a:endParaRPr>
          </a:p>
        </p:txBody>
      </p:sp>
      <p:sp>
        <p:nvSpPr>
          <p:cNvPr id="5" name="TextBox 4">
            <a:extLst>
              <a:ext uri="{FF2B5EF4-FFF2-40B4-BE49-F238E27FC236}">
                <a16:creationId xmlns:a16="http://schemas.microsoft.com/office/drawing/2014/main" id="{8F95DDA2-70DF-F274-51BD-457873092D1D}"/>
              </a:ext>
            </a:extLst>
          </p:cNvPr>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P-value distribution</a:t>
            </a:r>
          </a:p>
        </p:txBody>
      </p:sp>
      <p:sp>
        <p:nvSpPr>
          <p:cNvPr id="3" name="Rectangle 2">
            <a:extLst>
              <a:ext uri="{FF2B5EF4-FFF2-40B4-BE49-F238E27FC236}">
                <a16:creationId xmlns:a16="http://schemas.microsoft.com/office/drawing/2014/main" id="{D91EB1C8-7832-57F5-CB97-466D458E0E15}"/>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ADF6A7A1-3C3E-123D-B4D2-FF03D44D1C70}"/>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2" name="Rectangle 2">
            <a:extLst>
              <a:ext uri="{FF2B5EF4-FFF2-40B4-BE49-F238E27FC236}">
                <a16:creationId xmlns:a16="http://schemas.microsoft.com/office/drawing/2014/main" id="{AA146DE4-3B90-F074-5C38-3A0AD2EBB9C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74D898F2-41D4-5993-92D6-993A9508394E}"/>
              </a:ext>
            </a:extLst>
          </p:cNvPr>
          <p:cNvSpPr txBox="1"/>
          <p:nvPr/>
        </p:nvSpPr>
        <p:spPr>
          <a:xfrm>
            <a:off x="6377354" y="5894683"/>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When assumptions fail, the p-value stops meaning anything.</a:t>
            </a:r>
          </a:p>
        </p:txBody>
      </p:sp>
      <p:pic>
        <p:nvPicPr>
          <p:cNvPr id="7" name="Picture 6">
            <a:extLst>
              <a:ext uri="{FF2B5EF4-FFF2-40B4-BE49-F238E27FC236}">
                <a16:creationId xmlns:a16="http://schemas.microsoft.com/office/drawing/2014/main" id="{F6B9093A-2123-2C01-A824-8DD83A46692F}"/>
              </a:ext>
            </a:extLst>
          </p:cNvPr>
          <p:cNvPicPr>
            <a:picLocks noChangeAspect="1"/>
          </p:cNvPicPr>
          <p:nvPr/>
        </p:nvPicPr>
        <p:blipFill>
          <a:blip r:embed="rId3"/>
          <a:stretch>
            <a:fillRect/>
          </a:stretch>
        </p:blipFill>
        <p:spPr>
          <a:xfrm>
            <a:off x="124696" y="1137138"/>
            <a:ext cx="5971304" cy="4035153"/>
          </a:xfrm>
          <a:prstGeom prst="rect">
            <a:avLst/>
          </a:prstGeom>
        </p:spPr>
      </p:pic>
    </p:spTree>
    <p:extLst>
      <p:ext uri="{BB962C8B-B14F-4D97-AF65-F5344CB8AC3E}">
        <p14:creationId xmlns:p14="http://schemas.microsoft.com/office/powerpoint/2010/main" val="120421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A2551-29DB-1BC3-83C2-B4D969E0F09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CBB67F-157D-D3B6-A3AA-205B4B14F3E8}"/>
              </a:ext>
            </a:extLst>
          </p:cNvPr>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16</a:t>
            </a:fld>
            <a:endParaRPr lang="en-GB" noProof="0" dirty="0">
              <a:latin typeface="Geogrotesque Rg" panose="02000000000000000000" pitchFamily="2" charset="77"/>
            </a:endParaRPr>
          </a:p>
        </p:txBody>
      </p:sp>
      <p:sp>
        <p:nvSpPr>
          <p:cNvPr id="5" name="TextBox 4">
            <a:extLst>
              <a:ext uri="{FF2B5EF4-FFF2-40B4-BE49-F238E27FC236}">
                <a16:creationId xmlns:a16="http://schemas.microsoft.com/office/drawing/2014/main" id="{9493882C-61A5-779A-C8E9-4A0C91D99B4F}"/>
              </a:ext>
            </a:extLst>
          </p:cNvPr>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P-value distribution</a:t>
            </a:r>
          </a:p>
        </p:txBody>
      </p:sp>
      <p:sp>
        <p:nvSpPr>
          <p:cNvPr id="3" name="Rectangle 2">
            <a:extLst>
              <a:ext uri="{FF2B5EF4-FFF2-40B4-BE49-F238E27FC236}">
                <a16:creationId xmlns:a16="http://schemas.microsoft.com/office/drawing/2014/main" id="{AF5D9ADC-936B-4C1C-9E1D-0786137FA4E2}"/>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2F200F64-925D-CA06-7894-7E137D6C0FB7}"/>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2" name="Rectangle 2">
            <a:extLst>
              <a:ext uri="{FF2B5EF4-FFF2-40B4-BE49-F238E27FC236}">
                <a16:creationId xmlns:a16="http://schemas.microsoft.com/office/drawing/2014/main" id="{FB1658AA-1C78-ED43-8A5F-127B44059CC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EC33BCD8-46C3-ECEB-B169-5515E56FB69E}"/>
              </a:ext>
            </a:extLst>
          </p:cNvPr>
          <p:cNvSpPr txBox="1"/>
          <p:nvPr/>
        </p:nvSpPr>
        <p:spPr>
          <a:xfrm>
            <a:off x="6377354" y="5894683"/>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When assumptions fail, the p-value stops meaning anything.</a:t>
            </a:r>
          </a:p>
        </p:txBody>
      </p:sp>
      <p:pic>
        <p:nvPicPr>
          <p:cNvPr id="7" name="Picture 6">
            <a:extLst>
              <a:ext uri="{FF2B5EF4-FFF2-40B4-BE49-F238E27FC236}">
                <a16:creationId xmlns:a16="http://schemas.microsoft.com/office/drawing/2014/main" id="{583E8DAB-A8A0-0419-C332-0165BE1FE4E4}"/>
              </a:ext>
            </a:extLst>
          </p:cNvPr>
          <p:cNvPicPr>
            <a:picLocks noChangeAspect="1"/>
          </p:cNvPicPr>
          <p:nvPr/>
        </p:nvPicPr>
        <p:blipFill>
          <a:blip r:embed="rId3"/>
          <a:stretch>
            <a:fillRect/>
          </a:stretch>
        </p:blipFill>
        <p:spPr>
          <a:xfrm>
            <a:off x="124696" y="1137138"/>
            <a:ext cx="5971304" cy="4035153"/>
          </a:xfrm>
          <a:prstGeom prst="rect">
            <a:avLst/>
          </a:prstGeom>
        </p:spPr>
      </p:pic>
      <p:pic>
        <p:nvPicPr>
          <p:cNvPr id="8" name="Picture 7">
            <a:extLst>
              <a:ext uri="{FF2B5EF4-FFF2-40B4-BE49-F238E27FC236}">
                <a16:creationId xmlns:a16="http://schemas.microsoft.com/office/drawing/2014/main" id="{6E42D569-C067-60D8-3634-F4B858CEA243}"/>
              </a:ext>
            </a:extLst>
          </p:cNvPr>
          <p:cNvPicPr>
            <a:picLocks noChangeAspect="1"/>
          </p:cNvPicPr>
          <p:nvPr/>
        </p:nvPicPr>
        <p:blipFill>
          <a:blip r:embed="rId4"/>
          <a:stretch>
            <a:fillRect/>
          </a:stretch>
        </p:blipFill>
        <p:spPr>
          <a:xfrm>
            <a:off x="6482862" y="1303281"/>
            <a:ext cx="5374960" cy="3869010"/>
          </a:xfrm>
          <a:prstGeom prst="rect">
            <a:avLst/>
          </a:prstGeom>
        </p:spPr>
      </p:pic>
    </p:spTree>
    <p:extLst>
      <p:ext uri="{BB962C8B-B14F-4D97-AF65-F5344CB8AC3E}">
        <p14:creationId xmlns:p14="http://schemas.microsoft.com/office/powerpoint/2010/main" val="1067704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286B-5B47-A28A-F3D8-8D3F6A86FD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EF431C-C757-F7CE-D787-9F44F747D6B6}"/>
              </a:ext>
            </a:extLst>
          </p:cNvPr>
          <p:cNvSpPr txBox="1"/>
          <p:nvPr/>
        </p:nvSpPr>
        <p:spPr>
          <a:xfrm>
            <a:off x="0" y="1232266"/>
            <a:ext cx="12192000" cy="707886"/>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2800" noProof="0">
                <a:latin typeface="Geogrotesque Rg" panose="02000000000000000000" pitchFamily="2" charset="77"/>
              </a:rPr>
              <a:t>Part IV — Checking assumptions &amp; alternatives</a:t>
            </a:r>
          </a:p>
        </p:txBody>
      </p:sp>
    </p:spTree>
    <p:extLst>
      <p:ext uri="{BB962C8B-B14F-4D97-AF65-F5344CB8AC3E}">
        <p14:creationId xmlns:p14="http://schemas.microsoft.com/office/powerpoint/2010/main" val="1549153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18</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Is it normal? Q–Q plots &amp; Shapiro–Wilk</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8352913" y="5480979"/>
            <a:ext cx="309783" cy="3140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60" y="917258"/>
            <a:ext cx="5871632" cy="5804217"/>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Check the assumption rather than hoping.</a:t>
            </a:r>
          </a:p>
          <a:p>
            <a:pPr marL="0" indent="0" algn="just">
              <a:buNone/>
            </a:pPr>
            <a:endParaRPr lang="en-GB" sz="2000" noProof="0" dirty="0"/>
          </a:p>
          <a:p>
            <a:pPr algn="just"/>
            <a:r>
              <a:rPr lang="en-GB" sz="2000" noProof="0" dirty="0">
                <a:solidFill>
                  <a:srgbClr val="F25331"/>
                </a:solidFill>
                <a:latin typeface="Geogrotesque Rg" panose="02000000000000000000" pitchFamily="2" charset="77"/>
              </a:rPr>
              <a:t>Q–Q plot</a:t>
            </a:r>
            <a:r>
              <a:rPr lang="en-GB" sz="2000" noProof="0" dirty="0">
                <a:latin typeface="Geogrotesque Rg" panose="02000000000000000000" pitchFamily="2" charset="77"/>
              </a:rPr>
              <a:t> — sample vs theoretical normal quantiles; normal data fall on a straight diagonal, and the way points peel off shows how it deviates.</a:t>
            </a:r>
          </a:p>
          <a:p>
            <a:pPr algn="just"/>
            <a:r>
              <a:rPr lang="en-GB" sz="2000" noProof="0" dirty="0">
                <a:solidFill>
                  <a:srgbClr val="F25331"/>
                </a:solidFill>
                <a:latin typeface="Geogrotesque Rg" panose="02000000000000000000" pitchFamily="2" charset="77"/>
              </a:rPr>
              <a:t>Shapiro–Wilk</a:t>
            </a:r>
            <a:r>
              <a:rPr lang="en-GB" sz="2000" noProof="0" dirty="0">
                <a:latin typeface="Geogrotesque Rg" panose="02000000000000000000" pitchFamily="2" charset="77"/>
              </a:rPr>
              <a:t> — a formal test, H₀: “the data are normal”; a small p-value rejects normality.</a:t>
            </a:r>
          </a:p>
          <a:p>
            <a:pPr algn="just"/>
            <a:r>
              <a:rPr lang="en-GB" sz="2000" noProof="0" dirty="0">
                <a:latin typeface="Geogrotesque Rg" panose="02000000000000000000" pitchFamily="2" charset="77"/>
              </a:rPr>
              <a:t>Best practice: use both — the picture and the test together.</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948657" y="5906350"/>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Here a significant result is the bad news — non-normal.</a:t>
            </a:r>
          </a:p>
        </p:txBody>
      </p:sp>
      <p:pic>
        <p:nvPicPr>
          <p:cNvPr id="7" name="Picture 6">
            <a:extLst>
              <a:ext uri="{FF2B5EF4-FFF2-40B4-BE49-F238E27FC236}">
                <a16:creationId xmlns:a16="http://schemas.microsoft.com/office/drawing/2014/main" id="{6209336F-89AB-DB59-CF00-F413C9341A95}"/>
              </a:ext>
            </a:extLst>
          </p:cNvPr>
          <p:cNvPicPr>
            <a:picLocks noChangeAspect="1"/>
          </p:cNvPicPr>
          <p:nvPr/>
        </p:nvPicPr>
        <p:blipFill>
          <a:blip r:embed="rId3"/>
          <a:stretch>
            <a:fillRect/>
          </a:stretch>
        </p:blipFill>
        <p:spPr>
          <a:xfrm>
            <a:off x="6808003" y="500924"/>
            <a:ext cx="4856485" cy="4835231"/>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19</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When normality fails: Mann–Whitney U</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A distribution-free alternative to the t-test.</a:t>
            </a:r>
          </a:p>
          <a:p>
            <a:pPr marL="0" indent="0" algn="just">
              <a:buNone/>
            </a:pPr>
            <a:endParaRPr lang="en-GB" sz="2000" noProof="0" dirty="0"/>
          </a:p>
          <a:p>
            <a:pPr algn="just"/>
            <a:r>
              <a:rPr lang="en-GB" sz="2000" noProof="0" dirty="0">
                <a:solidFill>
                  <a:srgbClr val="F25331"/>
                </a:solidFill>
                <a:latin typeface="Geogrotesque Rg" panose="02000000000000000000" pitchFamily="2" charset="77"/>
              </a:rPr>
              <a:t>Nonparametric</a:t>
            </a:r>
            <a:r>
              <a:rPr lang="en-GB" sz="2000" noProof="0" dirty="0">
                <a:latin typeface="Geogrotesque Rg" panose="02000000000000000000" pitchFamily="2" charset="77"/>
              </a:rPr>
              <a:t> methods assume no distribution family — for when normality is genuinely violated and n is too small for the CLT.</a:t>
            </a:r>
          </a:p>
          <a:p>
            <a:pPr algn="just"/>
            <a:r>
              <a:rPr lang="en-GB" sz="2000" noProof="0" dirty="0">
                <a:solidFill>
                  <a:srgbClr val="F25331"/>
                </a:solidFill>
                <a:latin typeface="Geogrotesque Rg" panose="02000000000000000000" pitchFamily="2" charset="77"/>
              </a:rPr>
              <a:t>Mann–Whitney U</a:t>
            </a:r>
            <a:r>
              <a:rPr lang="en-GB" sz="2000" noProof="0" dirty="0">
                <a:latin typeface="Geogrotesque Rg" panose="02000000000000000000" pitchFamily="2" charset="77"/>
              </a:rPr>
              <a:t> works on ranks: H₀ — a random value from one group is equally likely above or below one from the other.</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5967046" y="5821475"/>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A different H₀ from the t-test — the two can legitimately disagree.</a:t>
            </a:r>
          </a:p>
        </p:txBody>
      </p:sp>
      <p:pic>
        <p:nvPicPr>
          <p:cNvPr id="7" name="Picture 6">
            <a:extLst>
              <a:ext uri="{FF2B5EF4-FFF2-40B4-BE49-F238E27FC236}">
                <a16:creationId xmlns:a16="http://schemas.microsoft.com/office/drawing/2014/main" id="{3EB320A3-774D-CAF4-8DCF-808318C40F8D}"/>
              </a:ext>
            </a:extLst>
          </p:cNvPr>
          <p:cNvPicPr>
            <a:picLocks noChangeAspect="1"/>
          </p:cNvPicPr>
          <p:nvPr/>
        </p:nvPicPr>
        <p:blipFill>
          <a:blip r:embed="rId3"/>
          <a:srcRect b="85194"/>
          <a:stretch>
            <a:fillRect/>
          </a:stretch>
        </p:blipFill>
        <p:spPr>
          <a:xfrm>
            <a:off x="1313760" y="3944435"/>
            <a:ext cx="9564480" cy="900000"/>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286B-5B47-A28A-F3D8-8D3F6A86FD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EF431C-C757-F7CE-D787-9F44F747D6B6}"/>
              </a:ext>
            </a:extLst>
          </p:cNvPr>
          <p:cNvSpPr txBox="1"/>
          <p:nvPr/>
        </p:nvSpPr>
        <p:spPr>
          <a:xfrm>
            <a:off x="0" y="1232266"/>
            <a:ext cx="12192000" cy="707886"/>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3200" noProof="0">
                <a:latin typeface="Geogrotesque Rg" panose="02000000000000000000" pitchFamily="2" charset="77"/>
              </a:rPr>
              <a:t>Part V — Reading results honestly</a:t>
            </a:r>
          </a:p>
        </p:txBody>
      </p:sp>
    </p:spTree>
    <p:extLst>
      <p:ext uri="{BB962C8B-B14F-4D97-AF65-F5344CB8AC3E}">
        <p14:creationId xmlns:p14="http://schemas.microsoft.com/office/powerpoint/2010/main" val="1549153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21</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p-values and what they are not</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The probability of data this extreme, if H₀ were true.</a:t>
            </a:r>
          </a:p>
          <a:p>
            <a:pPr marL="0" indent="0" algn="just">
              <a:buNone/>
            </a:pPr>
            <a:endParaRPr lang="en-GB" sz="2000" noProof="0" dirty="0"/>
          </a:p>
          <a:p>
            <a:pPr algn="just"/>
            <a:r>
              <a:rPr lang="en-GB" sz="2000" noProof="0" dirty="0">
                <a:latin typeface="Geogrotesque Rg" panose="02000000000000000000" pitchFamily="2" charset="77"/>
              </a:rPr>
              <a:t>Formally: P(statistic as or more extreme than observed | H₀ true). Tied to a specific H₀.</a:t>
            </a:r>
          </a:p>
          <a:p>
            <a:pPr algn="just"/>
            <a:r>
              <a:rPr lang="en-GB" sz="2000" noProof="0" dirty="0">
                <a:latin typeface="Geogrotesque Rg" panose="02000000000000000000" pitchFamily="2" charset="77"/>
              </a:rPr>
              <a:t>It is </a:t>
            </a:r>
            <a:r>
              <a:rPr lang="en-GB" sz="2000" noProof="0" dirty="0">
                <a:solidFill>
                  <a:srgbClr val="F25331"/>
                </a:solidFill>
                <a:latin typeface="Geogrotesque Rg" panose="02000000000000000000" pitchFamily="2" charset="77"/>
              </a:rPr>
              <a:t>not</a:t>
            </a:r>
            <a:r>
              <a:rPr lang="en-GB" sz="2000" noProof="0" dirty="0">
                <a:latin typeface="Geogrotesque Rg" panose="02000000000000000000" pitchFamily="2" charset="77"/>
              </a:rPr>
              <a:t>: the probability H₀ is true, the probability of an effect, or your error rate.</a:t>
            </a:r>
          </a:p>
          <a:p>
            <a:pPr algn="just"/>
            <a:r>
              <a:rPr lang="en-GB" sz="2000" noProof="0" dirty="0">
                <a:latin typeface="Geogrotesque Rg" panose="02000000000000000000" pitchFamily="2" charset="77"/>
              </a:rPr>
              <a:t>“Fail to reject H₀” is not “accept H₀.”</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482862" y="5628305"/>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Report the exact p-value — and pair it with an effect size.</a:t>
            </a:r>
          </a:p>
        </p:txBody>
      </p:sp>
    </p:spTree>
    <p:extLst>
      <p:ext uri="{BB962C8B-B14F-4D97-AF65-F5344CB8AC3E}">
        <p14:creationId xmlns:p14="http://schemas.microsoft.com/office/powerpoint/2010/main" val="558177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22</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Two ways to be wrong</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Type I and Type II errors.</a:t>
            </a:r>
          </a:p>
          <a:p>
            <a:pPr algn="just"/>
            <a:r>
              <a:rPr lang="en-GB" sz="2000" noProof="0" dirty="0">
                <a:solidFill>
                  <a:srgbClr val="F25331"/>
                </a:solidFill>
                <a:latin typeface="Geogrotesque Rg" panose="02000000000000000000" pitchFamily="2" charset="77"/>
              </a:rPr>
              <a:t>Type I (false positive)</a:t>
            </a:r>
            <a:r>
              <a:rPr lang="en-GB" sz="2000" noProof="0" dirty="0">
                <a:latin typeface="Geogrotesque Rg" panose="02000000000000000000" pitchFamily="2" charset="77"/>
              </a:rPr>
              <a:t> — rejecting H₀ when it's true. Probability α, the threshold you set (often 0.05).</a:t>
            </a:r>
          </a:p>
          <a:p>
            <a:pPr algn="just"/>
            <a:r>
              <a:rPr lang="en-GB" sz="2000" noProof="0" dirty="0">
                <a:solidFill>
                  <a:srgbClr val="F25331"/>
                </a:solidFill>
                <a:latin typeface="Geogrotesque Rg" panose="02000000000000000000" pitchFamily="2" charset="77"/>
              </a:rPr>
              <a:t>Type II (false negative)</a:t>
            </a:r>
            <a:r>
              <a:rPr lang="en-GB" sz="2000" noProof="0" dirty="0">
                <a:latin typeface="Geogrotesque Rg" panose="02000000000000000000" pitchFamily="2" charset="77"/>
              </a:rPr>
              <a:t> — failing to reject H₀ when it's false. Probability β.</a:t>
            </a:r>
          </a:p>
          <a:p>
            <a:pPr algn="just"/>
            <a:r>
              <a:rPr lang="en-GB" sz="2000" noProof="0" dirty="0">
                <a:latin typeface="Geogrotesque Rg" panose="02000000000000000000" pitchFamily="2" charset="77"/>
              </a:rPr>
              <a:t>They trade off: tightening α raises β, for fixed n.</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380621" y="6356350"/>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α is a choice, not a fact of nature; 0.05 is convention.</a:t>
            </a:r>
          </a:p>
        </p:txBody>
      </p:sp>
      <p:pic>
        <p:nvPicPr>
          <p:cNvPr id="7" name="Picture 6">
            <a:extLst>
              <a:ext uri="{FF2B5EF4-FFF2-40B4-BE49-F238E27FC236}">
                <a16:creationId xmlns:a16="http://schemas.microsoft.com/office/drawing/2014/main" id="{DA861D0A-3B12-5AE3-0530-C4F06C4384EF}"/>
              </a:ext>
            </a:extLst>
          </p:cNvPr>
          <p:cNvPicPr>
            <a:picLocks noChangeAspect="1"/>
          </p:cNvPicPr>
          <p:nvPr/>
        </p:nvPicPr>
        <p:blipFill>
          <a:blip r:embed="rId3"/>
          <a:stretch>
            <a:fillRect/>
          </a:stretch>
        </p:blipFill>
        <p:spPr>
          <a:xfrm>
            <a:off x="2080846" y="2951329"/>
            <a:ext cx="7772400" cy="3168539"/>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23</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Power &amp; effect size</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5444715" cy="5164887"/>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Could the study even have detected the effect?</a:t>
            </a:r>
          </a:p>
          <a:p>
            <a:pPr marL="0" indent="0" algn="just">
              <a:buNone/>
            </a:pPr>
            <a:endParaRPr lang="en-GB" sz="2000" noProof="0" dirty="0"/>
          </a:p>
          <a:p>
            <a:pPr algn="just"/>
            <a:r>
              <a:rPr lang="en-GB" sz="2000" noProof="0" dirty="0">
                <a:solidFill>
                  <a:srgbClr val="F25331"/>
                </a:solidFill>
                <a:latin typeface="Geogrotesque Rg" panose="02000000000000000000" pitchFamily="2" charset="77"/>
              </a:rPr>
              <a:t>Power</a:t>
            </a:r>
            <a:r>
              <a:rPr lang="en-GB" sz="2000" noProof="0" dirty="0">
                <a:latin typeface="Geogrotesque Rg" panose="02000000000000000000" pitchFamily="2" charset="77"/>
              </a:rPr>
              <a:t> = 1 − β — the chance of detecting a real effect; a design question, settled before data.</a:t>
            </a:r>
          </a:p>
          <a:p>
            <a:pPr algn="just"/>
            <a:endParaRPr lang="en-GB" sz="2000" noProof="0" dirty="0">
              <a:latin typeface="Geogrotesque Rg" panose="02000000000000000000" pitchFamily="2" charset="77"/>
            </a:endParaRPr>
          </a:p>
          <a:p>
            <a:pPr algn="just"/>
            <a:r>
              <a:rPr lang="en-GB" sz="2000" noProof="0" dirty="0">
                <a:latin typeface="Geogrotesque Rg" panose="02000000000000000000" pitchFamily="2" charset="77"/>
              </a:rPr>
              <a:t>It rises with </a:t>
            </a:r>
            <a:r>
              <a:rPr lang="en-GB" sz="2000" noProof="0" dirty="0">
                <a:solidFill>
                  <a:srgbClr val="F25331"/>
                </a:solidFill>
                <a:latin typeface="Geogrotesque Rg" panose="02000000000000000000" pitchFamily="2" charset="77"/>
              </a:rPr>
              <a:t>sample size</a:t>
            </a:r>
            <a:r>
              <a:rPr lang="en-GB" sz="2000" noProof="0" dirty="0">
                <a:latin typeface="Geogrotesque Rg" panose="02000000000000000000" pitchFamily="2" charset="77"/>
              </a:rPr>
              <a:t> and </a:t>
            </a:r>
            <a:r>
              <a:rPr lang="en-GB" sz="2000" noProof="0" dirty="0">
                <a:solidFill>
                  <a:srgbClr val="F25331"/>
                </a:solidFill>
                <a:latin typeface="Geogrotesque Rg" panose="02000000000000000000" pitchFamily="2" charset="77"/>
              </a:rPr>
              <a:t>true effect size</a:t>
            </a:r>
            <a:r>
              <a:rPr lang="en-GB" sz="2000" noProof="0" dirty="0">
                <a:latin typeface="Geogrotesque Rg" panose="02000000000000000000" pitchFamily="2" charset="77"/>
              </a:rPr>
              <a:t>; a study can “fail” simply by being underpowered.</a:t>
            </a:r>
          </a:p>
          <a:p>
            <a:pPr algn="just"/>
            <a:endParaRPr lang="en-GB" sz="2000" noProof="0" dirty="0">
              <a:solidFill>
                <a:srgbClr val="F25331"/>
              </a:solidFill>
              <a:latin typeface="Geogrotesque Rg" panose="02000000000000000000" pitchFamily="2" charset="77"/>
            </a:endParaRPr>
          </a:p>
          <a:p>
            <a:pPr algn="just"/>
            <a:r>
              <a:rPr lang="en-GB" sz="2000" noProof="0" dirty="0">
                <a:solidFill>
                  <a:srgbClr val="F25331"/>
                </a:solidFill>
                <a:latin typeface="Geogrotesque Rg" panose="02000000000000000000" pitchFamily="2" charset="77"/>
              </a:rPr>
              <a:t>Effect size</a:t>
            </a:r>
            <a:r>
              <a:rPr lang="en-GB" sz="2000" noProof="0" dirty="0">
                <a:latin typeface="Geogrotesque Rg" panose="02000000000000000000" pitchFamily="2" charset="77"/>
              </a:rPr>
              <a:t> (Cohen’s                           ) measures how big the difference is, independent of n.</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482862" y="5956273"/>
            <a:ext cx="7900000" cy="338554"/>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Significance ≠ biological relevance — always report an effect size.</a:t>
            </a:r>
          </a:p>
        </p:txBody>
      </p:sp>
      <p:pic>
        <p:nvPicPr>
          <p:cNvPr id="94" name="f_cohen"/>
          <p:cNvPicPr>
            <a:picLocks noChangeAspect="1"/>
          </p:cNvPicPr>
          <p:nvPr/>
        </p:nvPicPr>
        <p:blipFill>
          <a:blip r:embed="rId3"/>
          <a:stretch>
            <a:fillRect/>
          </a:stretch>
        </p:blipFill>
        <p:spPr>
          <a:xfrm>
            <a:off x="2840181" y="3706499"/>
            <a:ext cx="1643712" cy="581075"/>
          </a:xfrm>
          <a:prstGeom prst="rect">
            <a:avLst/>
          </a:prstGeom>
        </p:spPr>
      </p:pic>
      <p:pic>
        <p:nvPicPr>
          <p:cNvPr id="7" name="Picture 6">
            <a:extLst>
              <a:ext uri="{FF2B5EF4-FFF2-40B4-BE49-F238E27FC236}">
                <a16:creationId xmlns:a16="http://schemas.microsoft.com/office/drawing/2014/main" id="{A500BAB7-303E-9816-1974-5A393D94EE10}"/>
              </a:ext>
            </a:extLst>
          </p:cNvPr>
          <p:cNvPicPr>
            <a:picLocks noChangeAspect="1"/>
          </p:cNvPicPr>
          <p:nvPr/>
        </p:nvPicPr>
        <p:blipFill>
          <a:blip r:embed="rId4"/>
          <a:stretch>
            <a:fillRect/>
          </a:stretch>
        </p:blipFill>
        <p:spPr>
          <a:xfrm>
            <a:off x="5793774" y="917258"/>
            <a:ext cx="6064048" cy="3579003"/>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24</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A field guide to common distributions</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Match the distribution to the data-generating process.</a:t>
            </a:r>
          </a:p>
          <a:p>
            <a:pPr marL="0" indent="0" algn="just">
              <a:buNone/>
            </a:pPr>
            <a:endParaRPr lang="en-GB" sz="2000" noProof="0" dirty="0"/>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3859094" y="5579651"/>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Ask what process generated the data — that picks the distribution.</a:t>
            </a:r>
          </a:p>
        </p:txBody>
      </p:sp>
      <p:pic>
        <p:nvPicPr>
          <p:cNvPr id="90" name="distributions table"/>
          <p:cNvPicPr>
            <a:picLocks noChangeAspect="1"/>
          </p:cNvPicPr>
          <p:nvPr/>
        </p:nvPicPr>
        <p:blipFill>
          <a:blip r:embed="rId3"/>
          <a:stretch>
            <a:fillRect/>
          </a:stretch>
        </p:blipFill>
        <p:spPr>
          <a:xfrm>
            <a:off x="1065629" y="1500000"/>
            <a:ext cx="8200000" cy="3687050"/>
          </a:xfrm>
          <a:prstGeom prst="rect">
            <a:avLst/>
          </a:prstGeom>
        </p:spPr>
      </p:pic>
    </p:spTree>
    <p:extLst>
      <p:ext uri="{BB962C8B-B14F-4D97-AF65-F5344CB8AC3E}">
        <p14:creationId xmlns:p14="http://schemas.microsoft.com/office/powerpoint/2010/main" val="5581777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341</TotalTime>
  <Words>3365</Words>
  <Application>Microsoft Macintosh PowerPoint</Application>
  <PresentationFormat>Widescreen</PresentationFormat>
  <Paragraphs>174</Paragraphs>
  <Slides>24</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Geogrotesque Rg</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Michal Kolar</dc:creator>
  <cp:lastModifiedBy>Michal Kolar</cp:lastModifiedBy>
  <cp:revision>8</cp:revision>
  <dcterms:created xsi:type="dcterms:W3CDTF">2026-06-02T19:34:51Z</dcterms:created>
  <dcterms:modified xsi:type="dcterms:W3CDTF">2026-07-01T19:29:33Z</dcterms:modified>
</cp:coreProperties>
</file>