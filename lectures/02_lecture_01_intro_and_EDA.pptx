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465" r:id="rId3"/>
    <p:sldId id="464" r:id="rId4"/>
    <p:sldId id="466" r:id="rId5"/>
    <p:sldId id="601" r:id="rId6"/>
    <p:sldId id="603" r:id="rId7"/>
    <p:sldId id="604" r:id="rId8"/>
    <p:sldId id="605" r:id="rId9"/>
    <p:sldId id="612" r:id="rId10"/>
    <p:sldId id="606" r:id="rId11"/>
    <p:sldId id="607" r:id="rId12"/>
    <p:sldId id="611" r:id="rId13"/>
    <p:sldId id="608" r:id="rId14"/>
    <p:sldId id="609" r:id="rId15"/>
    <p:sldId id="6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6"/>
    <a:srgbClr val="0089D1"/>
    <a:srgbClr val="F2533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/>
    <p:restoredTop sz="74104"/>
  </p:normalViewPr>
  <p:slideViewPr>
    <p:cSldViewPr snapToGrid="0">
      <p:cViewPr varScale="1">
        <p:scale>
          <a:sx n="95" d="100"/>
          <a:sy n="95" d="100"/>
        </p:scale>
        <p:origin x="11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C996B-914B-5148-85F1-ACCBABE58BEE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852B2-2108-A947-8403-D1973C51B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theory lecture for </a:t>
            </a:r>
          </a:p>
          <a:p>
            <a:endParaRPr lang="en-US" dirty="0"/>
          </a:p>
          <a:p>
            <a:r>
              <a:rPr lang="en-US" dirty="0"/>
              <a:t>Practical Session 1 (`01_exploratory_data_analysis.ipynb`). </a:t>
            </a:r>
          </a:p>
          <a:p>
            <a:endParaRPr lang="en-US" dirty="0"/>
          </a:p>
          <a:p>
            <a:r>
              <a:rPr lang="en-US" dirty="0"/>
              <a:t>Structured as slide content + speaker notes. </a:t>
            </a:r>
          </a:p>
          <a:p>
            <a:endParaRPr lang="en-US" dirty="0"/>
          </a:p>
          <a:p>
            <a:r>
              <a:rPr lang="en-US" dirty="0"/>
              <a:t>Part I is the general introduction (3 slides); </a:t>
            </a:r>
          </a:p>
          <a:p>
            <a:r>
              <a:rPr lang="en-US" dirty="0"/>
              <a:t>Part II walks through the concepts students will use in the notebook.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5B3B6-0D1D-4AF2-A283-5E0C73008F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7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F0592-CF96-A03F-6264-8BAE9BC8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DAB8B-70A2-997A-11D7-DCEB3B22A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2F2A6-F343-0BB5-43D3-BFBBE2E15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theory lecture for </a:t>
            </a:r>
          </a:p>
          <a:p>
            <a:endParaRPr lang="en-US" dirty="0"/>
          </a:p>
          <a:p>
            <a:r>
              <a:rPr lang="en-US" dirty="0"/>
              <a:t>Practical Session 1 (`01_exploratory_data_analysis.ipynb`). </a:t>
            </a:r>
          </a:p>
          <a:p>
            <a:endParaRPr lang="en-US" dirty="0"/>
          </a:p>
          <a:p>
            <a:r>
              <a:rPr lang="en-US" dirty="0"/>
              <a:t>Structured as slide content + speaker notes. </a:t>
            </a:r>
          </a:p>
          <a:p>
            <a:endParaRPr lang="en-US" dirty="0"/>
          </a:p>
          <a:p>
            <a:r>
              <a:rPr lang="en-US" dirty="0"/>
              <a:t>Part I is the general introduction (3 slides); </a:t>
            </a:r>
          </a:p>
          <a:p>
            <a:r>
              <a:rPr lang="en-US" dirty="0"/>
              <a:t>Part II walks through the concepts students will use in the notebook.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F444F-A24D-16E6-6564-D5D8ECA420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5B3B6-0D1D-4AF2-A283-5E0C73008F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25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framings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</a:p>
          <a:p>
            <a:endParaRPr lang="cs-CZ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("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?") and </a:t>
            </a:r>
          </a:p>
          <a:p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("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?"). </a:t>
            </a:r>
          </a:p>
          <a:p>
            <a:endParaRPr lang="cs-CZ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 1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entirely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(EDA);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2–4 build inference on top. </a:t>
            </a:r>
          </a:p>
          <a:p>
            <a:endParaRPr lang="cs-CZ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EDA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leap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*: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cs-CZ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throwaway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line — "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EDA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surprised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*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*, in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front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reviewers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5B3B6-0D1D-4AF2-A283-5E0C73008F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1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Resist over-formalizing — no measure theory, no sample spaces. The one intuition that earns its keep: data have a distribution behind them, and EDA (histograms, boxplots, summary statistics) is how we sketch that hidden distribution from a finite sample. Everything in sessions 2–4 is about reasoning back from the sample to that distribution.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Tie the names to the syllabus — Student's t (session 2), Pearson correlation and Fisher/ANOVA (sessions 3–4) all appear by name in the notebooks. The arc: statistics went from describing the state, to modelling chance, to deciding in experiments — exactly the path these four sessions follow.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Optional aside, the problem of points: two players stake a pot; first to 3 wins takes all; the game stops at 2–1. Splitting by the current score (Pacioli's old answer) is wrong. Pascal and Fermat's insight: divide by each player's probability of eventually winning. Playing out the at-most-two remaining rounds, the leader wins in 3 of 4 equally likely futures, so the fair split is 3/4 to 1/4, not 2/3 to 1/3. This is the first appearance of expected value.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The notebook opens with a census — the rare case where population parameters are known exactly — which later lets students see how a sample mean deviates from the truth. Flag the first health-check habit: run describe() and scan for impossibilities (negative ages, etc.); that is how data-entry errors and missing values surface before they poison an analysis.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For symmetric, single-peaked data the mean, median and mode coincide; for skewed data they separate (income is the classic case: mean far above median). The mean is pulled by extreme values; the median is not — that single fact motivates much of robust statistics. Tease the trap on the next slide: these summaries quietly assume the data have one peak.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Spend a real minute on the n−1; students always ask, and there are three ways in.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(1) The sample mean cheats. Variance should measure spread around the true mean mu, but we don't know it, so we use x-bar, computed from the same data. And x-bar is exactly the value that makes the sum of squared deviations as small as possible — smaller than around any other point, including mu. So spread around x-bar comes out systematically too small; dividing by n−1 instead of n inflates it back by just the right amount. This is Bessel's correction, and it makes the variance estimate unbiased: E[sum (xi − x-bar)^2] = (n−1) sigma^2.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(2) Degrees of freedom. Once x-bar is fixed, the deviations are forced to satisfy sum(xi − x-bar) = 0 — one constraint. Know any n−1 of them and the last is determined, so only n−1 carry independent information about spread.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(3) The n=1 sanity check. One point says nothing about spread: n−1 = 0 gives 0/0 (honest), whereas dividing by n = 1 claims zero spread (a lie).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Why the population divides by N, not N−1: there mu is known, not estimated from the data — no cheating, no constraint, nothing spent. So the two formulas are one rule: divide by (number of values) minus (number of parameters estimated from those same values) — population N−0, sample n−1, and later regression n−p. One honesty footnote: the correction is exact for the variance; taking the square root for the SD reintroduces a tiny bias everyone ignores. In code: np.var(x, ddof=1); the default ddof=0 silently gives the biased version. Quartiles and IQR are robust spread measures, mirroring the median.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The one sentence that ties it together: quartiles, the median, and percentiles are all just quantiles at particular fractions — there's only one underlying idea. Order the data, then ask 'what value sits at this proportion?' The median answers it at one-half; the quartiles at the quarters. Worth drawing on a sorted strip of points, marking the value with 25% / 50% / 75% of the points to its left — this grounds the boxplot (box = Q1–Q3, line = median) and the IQR that follow. Robustness point: because quantiles depend on rank, not magnitude, a single extreme value barely moves the median or quartiles, unlike the mean.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Demonstrate live if you can: the same data under 5 vs 50 bins tells two different stories. This is the first concrete instance of the lecture's recurring moral — always visualise, never trust one number or one view. A histogram is the empirical shadow of the random variable from the earlier slide.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This previews the idea (formalized in session 2) that real data often aren't normal but become well-behaved after a transform. Keep it light — the point is the habit of trying a log axis when a histogram is crushed against the left edge.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D6FA-C5AB-B066-683A-7E056EEC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3B948-CDD0-4403-A299-DA08EF221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D8338-857D-5C91-2DB3-CF555F8A0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This previews the idea (formalized in session 2) that real data often aren't normal but become well-behaved after a transform. Keep it light — the point is the habit of trying a log axis when a histogram is crushed against the left edge.</a:t>
            </a:r>
          </a:p>
        </p:txBody>
      </p:sp>
    </p:spTree>
    <p:extLst>
      <p:ext uri="{BB962C8B-B14F-4D97-AF65-F5344CB8AC3E}">
        <p14:creationId xmlns:p14="http://schemas.microsoft.com/office/powerpoint/2010/main" val="1583364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Show a bimodal example where the boxplot looks unremarkable but a swarm plot reveals two clusters — this lands the summary-is-not-truth message hard. A violin is the boxplot's more informative cousin, at the cost of needing more data and more care at boundaries.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On the whiskers (pre-empt the inevitable question): the default everywhere — matplotlib boxplot, seaborn, base R boxplot(), ggplot2 geom_boxplot() — is Tukey's 1.5 x IQR rule (whis=1.5, R range=1.5, coef=1.5). Two things students misremember: the whisker is not drawn at Q +/- 1.5*IQR itself — that's just a fence; the whisker stops at the last real data point inside it. And whiskers are not min/max and not a multiple of the SD. So the rule is identical across Python and R.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The one genuine divergence is one level down — how the quartiles are computed: base R boxplot() uses Tukey hinges (fivenum), while Python (numpy/matplotlib/seaborn) and ggplot2 use type-7 interpolated percentiles. So it's really base R vs everything else, not Python vs R. The two definitions agree for some n and differ for others (on 1..n they differ at n=6,8,10,12 but match at 7,9,11); differences are small and shrink with n, so real-data boxes look nearly identical, but a small-n teaching example can give slightly different boxes — and occasionally a different outlier — in matplotlib vs base R. Both are configurable: matplotlib whis also takes a percentile pair, e.g. whis=(5,95), and whis=(0,100) (or R range=0) extends whiskers to the data extremes.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This is the single most valuable slide for a lab audience. Make them say out loud which quantity answers 'how variable are my cells?' (SD) versus 'how sure am I of the average?' (SEM). The square-root-of-n is the hinge: more data doesn't reduce the SD of the data, but it does sharpen the estimate of the mean. Cite the Nature Methods / Weissgerber et al. 2015 critiques of bar charts if you want a reference.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Land the bridge to Session 2: today we described a sample; next we ask what a sample tells us about the population it came from — which needs probability distributions, the random variable made precise, and the first formal tests. End on the recurring theme: the degrees of freedom (n−1) met today will reappear everywhere.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6E8A-98AB-3BA5-3BE4-EABDCFE94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96A2E-6033-4370-40AA-21537D84F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6FCA-BF3D-F064-C4FF-091BA1CF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111F2-D123-EB1B-8F18-A670C6C6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1A21D-BE0A-FAC5-0246-C0ADC1D1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2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CAD6-8FA9-61AB-14AF-53F53CC8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D8C00-5B3B-E40D-57DC-0B975A7A1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8B4EE-35BE-A356-9132-F226F6DE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6F13B-080E-E794-3643-5B2E62F6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DE43C-C2FC-C049-E05A-7E6FCE86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2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3A53-8CEE-48C2-176E-AFC20C4D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1780B-9982-60D8-D203-CD96B035B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9A1C-7A0B-A5FC-FA96-078CD6A4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5825D-2C3C-6AE8-B4C2-00D981B4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8DCB-D9B0-0205-463B-1499F4C4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0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4FDF-B5E4-884E-5633-3995F8BA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113F-AF88-DB72-7763-7C1190267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DB8A0-CD5F-7366-3A8B-C8A708A55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777EE-2609-A05E-179B-A927B49A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C85CF-88D4-4556-80CD-2C55E590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2366D-E431-9AEA-E843-913EC103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8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08D8-C016-C1DC-139F-188334F2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AFDD0-0D40-73F3-9942-346CC0C57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4DD22-8985-6FED-40C7-1DEA0742A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B3635-AA80-89E9-C178-0F7EC803F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00FA1-472A-154E-972F-9D6F4E8C6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C07557-DD2C-1662-8100-9AD66FC6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3546C-7384-825A-EF38-E522CEAA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47E84-861E-CBFF-7F5B-D15C8C8D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8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AA74-A68D-068D-3D2A-810C0ECF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ED38D-10EA-758F-3234-78D44C1F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719A7-B550-3DF8-D1D6-575E0A31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E4DB1-E0B0-180E-D6F5-FFF06719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9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7BCC6-C089-E9FC-08D3-85225CAD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80324-8C76-8C0F-74F6-7F0A87FE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95303-6CF1-B16D-B1C0-B88C2966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9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C7C8-68AB-D0BE-8D11-AF521BA8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127F-ACAF-B5BC-864F-EC741DF90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DD1B9-179C-1CD2-9C06-3FA4B42EC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EA6E7-A522-5C3D-CE43-00B87C7F4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CF34A-68E8-1269-A25F-181E4CDB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5FE9F-C72F-C8E1-3925-DA30F2BC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6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86AD-DD64-8E7F-2737-567CC192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FF7C85-674F-86A8-87FC-57D2833ED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74373-2A9F-2BD0-61D8-B9DCE83F3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99398-8EF3-2EC2-F719-65A5CF75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0BB87-F71E-15EB-F104-4D3EB53F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3AA5C-2B33-3AE1-64E0-C1DE2D15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6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24D6-9538-9179-15A6-96F4D564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1D4AC-FD53-1C4E-6C52-AA086D5A0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E7B7F-A069-AC4E-AD25-BBDF56CB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DC6B7-082B-4CB9-651C-5C067738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D1D80-12E2-B729-FDA2-D71CA512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4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C69607-0ABB-4C0F-6280-34D5FD9E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12EC1-E0B9-A121-585D-9D98AC738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D24B6-98FB-1D10-31D8-972C89B4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07C8-26A5-D2D4-6E2F-DF6177BF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D1183-8100-2E75-0B5C-ECBBFCAF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53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60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41A9C-DB8D-0EA6-5771-BD0E15902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D66E-1C1A-6D14-1AD1-843605D5E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BD1BC-7AAE-0115-68F9-694410843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A81B5-8634-9A43-BCC2-CFD46E554E6C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41F16-B2B8-01C0-545B-C71F3324F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5F467-BF1E-1C0C-F980-905566F73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23DEB-0A6A-FE4C-AB1C-CAF73B1EA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5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232266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 algn="ctr"/>
            <a:r>
              <a:rPr lang="en-GB" sz="4000" noProof="0" dirty="0">
                <a:latin typeface="Geogrotesque Rg" panose="02000000000000000000" pitchFamily="2" charset="77"/>
              </a:rPr>
              <a:t>Lecture 1 — Introduction to Statistics &amp;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71736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noProof="0" dirty="0">
                <a:latin typeface="Geogrotesque Rg" panose="02000000000000000000" pitchFamily="2" charset="77"/>
              </a:rPr>
              <a:t>Michal Kolář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2573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noProof="0" dirty="0">
                <a:solidFill>
                  <a:srgbClr val="007FBA"/>
                </a:solidFill>
                <a:latin typeface="Geogrotesque Rg" panose="02000000000000000000" pitchFamily="2" charset="77"/>
                <a:cs typeface="Arial" panose="020B0604020202020204" pitchFamily="34" charset="0"/>
              </a:rPr>
              <a:t>IMG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C07E4-CA13-A349-82FC-508587E8704F}"/>
              </a:ext>
            </a:extLst>
          </p:cNvPr>
          <p:cNvSpPr txBox="1"/>
          <p:nvPr/>
        </p:nvSpPr>
        <p:spPr>
          <a:xfrm>
            <a:off x="0" y="6179732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>
                <a:latin typeface="Geogrotesque Rg" panose="02000000000000000000" pitchFamily="2" charset="77"/>
              </a:rPr>
              <a:t>Prague, 06/2026</a:t>
            </a:r>
          </a:p>
        </p:txBody>
      </p:sp>
    </p:spTree>
    <p:extLst>
      <p:ext uri="{BB962C8B-B14F-4D97-AF65-F5344CB8AC3E}">
        <p14:creationId xmlns:p14="http://schemas.microsoft.com/office/powerpoint/2010/main" val="265933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286B-5B47-A28A-F3D8-8D3F6A86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EF431C-C757-F7CE-D787-9F44F747D6B6}"/>
              </a:ext>
            </a:extLst>
          </p:cNvPr>
          <p:cNvSpPr txBox="1"/>
          <p:nvPr/>
        </p:nvSpPr>
        <p:spPr>
          <a:xfrm>
            <a:off x="0" y="1232266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 algn="ctr"/>
            <a:r>
              <a:rPr lang="en-GB" sz="4000" noProof="0" dirty="0">
                <a:latin typeface="Geogrotesque Rg" panose="02000000000000000000" pitchFamily="2" charset="77"/>
              </a:rPr>
              <a:t>Why we do statistics?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5FD998-3687-5690-6651-A8B1C0680162}"/>
              </a:ext>
            </a:extLst>
          </p:cNvPr>
          <p:cNvSpPr txBox="1"/>
          <p:nvPr/>
        </p:nvSpPr>
        <p:spPr>
          <a:xfrm>
            <a:off x="0" y="2231097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 algn="ctr"/>
            <a:r>
              <a:rPr lang="en-GB" sz="4000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154915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3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7924801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3000" noProof="0" dirty="0">
                <a:latin typeface="Geogrotesque Rg" panose="02000000000000000000" pitchFamily="2" charset="77"/>
              </a:rPr>
              <a:t>Why statistics? (motivation)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917258"/>
            <a:ext cx="9633141" cy="3979369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The core problem: the world is variable, and we only ever see part of it</a:t>
            </a:r>
          </a:p>
          <a:p>
            <a:pPr marL="0" indent="0" algn="just">
              <a:buNone/>
            </a:pPr>
            <a:endParaRPr lang="en-GB" sz="2000" noProof="0" dirty="0">
              <a:latin typeface="Geogrotesque Rg" panose="02000000000000000000" pitchFamily="2" charset="77"/>
            </a:endParaRPr>
          </a:p>
          <a:p>
            <a:pPr algn="just"/>
            <a:r>
              <a:rPr lang="en-GB" sz="2000" dirty="0">
                <a:latin typeface="Geogrotesque Rg" panose="02000000000000000000" pitchFamily="2" charset="77"/>
              </a:rPr>
              <a:t>Statistics is the discipline for </a:t>
            </a:r>
            <a:r>
              <a:rPr lang="en-GB" sz="2000" dirty="0">
                <a:solidFill>
                  <a:srgbClr val="F25331"/>
                </a:solidFill>
                <a:latin typeface="Geogrotesque Rg" panose="02000000000000000000" pitchFamily="2" charset="77"/>
              </a:rPr>
              <a:t>learning from data under uncertainty</a:t>
            </a:r>
            <a:r>
              <a:rPr lang="en-GB" sz="2000" dirty="0">
                <a:latin typeface="Geogrotesque Rg" panose="02000000000000000000" pitchFamily="2" charset="77"/>
              </a:rPr>
              <a:t>: describing what we see, quantifying how sure we can be, and deciding what the data do (and don't) support.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Measure the same thing twice — two cells, two patients, two towns — and you get different numbers. 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That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variability</a:t>
            </a:r>
            <a:r>
              <a:rPr lang="en-GB" sz="2000" noProof="0" dirty="0">
                <a:latin typeface="Geogrotesque Rg" panose="02000000000000000000" pitchFamily="2" charset="77"/>
              </a:rPr>
              <a:t> is not error to be wiped away; it is the signal.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We almost never observe the whole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population</a:t>
            </a:r>
            <a:r>
              <a:rPr lang="en-GB" sz="2000" noProof="0" dirty="0">
                <a:latin typeface="Geogrotesque Rg" panose="02000000000000000000" pitchFamily="2" charset="77"/>
              </a:rPr>
              <a:t>; we work from a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sample</a:t>
            </a:r>
            <a:r>
              <a:rPr lang="en-GB" sz="2000" noProof="0" dirty="0">
                <a:latin typeface="Geogrotesque Rg" panose="02000000000000000000" pitchFamily="2" charset="77"/>
              </a:rPr>
              <a:t> and want to say something about the whole.</a:t>
            </a:r>
          </a:p>
          <a:p>
            <a:pPr marL="0" indent="0" algn="just">
              <a:buNone/>
            </a:pPr>
            <a:endParaRPr lang="en-GB" sz="2000" noProof="0" dirty="0">
              <a:latin typeface="Geogrotesque Rg" panose="02000000000000000000" pitchFamily="2" charset="77"/>
            </a:endParaRPr>
          </a:p>
          <a:p>
            <a:pPr marL="0" indent="0" algn="just">
              <a:buNone/>
            </a:pPr>
            <a:endParaRPr lang="en-GB" sz="2000" noProof="0" dirty="0">
              <a:latin typeface="Geogrotesque Rg" panose="02000000000000000000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4034014" y="4896627"/>
            <a:ext cx="8097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The goal of exploratory data analysis is to be surprised by your data now in private, </a:t>
            </a:r>
          </a:p>
          <a:p>
            <a:r>
              <a:rPr lang="en-GB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rather than later, in front of reviewers </a:t>
            </a:r>
            <a:r>
              <a:rPr lang="en-GB" i="1" noProof="0" dirty="0">
                <a:solidFill>
                  <a:srgbClr val="0089D1"/>
                </a:solidFill>
                <a:latin typeface="Geogrotesque Rg" panose="02000000000000000000" pitchFamily="2" charset="77"/>
                <a:sym typeface="Wingdings" pitchFamily="2" charset="2"/>
              </a:rPr>
              <a:t></a:t>
            </a:r>
            <a:endParaRPr lang="en-GB" i="1" noProof="0" dirty="0">
              <a:solidFill>
                <a:srgbClr val="0089D1"/>
              </a:solidFill>
              <a:latin typeface="Geogrotesque Rg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C3AA-9ABF-9321-6646-25747909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D40383-129F-1B2D-FB6B-EB8AB7F2A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" y="-1396705"/>
            <a:ext cx="25898877" cy="172409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F74BD-3B68-5881-EBC8-BDE622E2C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4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ED571-A110-27EA-4F1A-6FB86532EF6E}"/>
              </a:ext>
            </a:extLst>
          </p:cNvPr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600" dirty="0">
                <a:latin typeface="Geogrotesque Rg" panose="02000000000000000000" pitchFamily="2" charset="77"/>
              </a:rPr>
              <a:t>The central abstraction: the random variable</a:t>
            </a:r>
            <a:endParaRPr lang="en-GB" sz="3000" noProof="0" dirty="0">
              <a:latin typeface="Geogrotesque Rg" panose="02000000000000000000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78BE7B-D6B6-D6C9-2E38-C2A7C6DEA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C6560-2A50-F6F1-2804-5C5AE75E50F1}"/>
              </a:ext>
            </a:extLst>
          </p:cNvPr>
          <p:cNvSpPr txBox="1"/>
          <p:nvPr/>
        </p:nvSpPr>
        <p:spPr>
          <a:xfrm>
            <a:off x="2828960" y="4879541"/>
            <a:ext cx="79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Data have a distribution behind them — EDA sketches it.</a:t>
            </a: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323C6559-B9AA-6CA4-0045-9CA8A41DD38B}"/>
              </a:ext>
            </a:extLst>
          </p:cNvPr>
          <p:cNvSpPr txBox="1">
            <a:spLocks/>
          </p:cNvSpPr>
          <p:nvPr/>
        </p:nvSpPr>
        <p:spPr>
          <a:xfrm>
            <a:off x="157822" y="1078459"/>
            <a:ext cx="8277517" cy="348354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A random variable is a quantity whose value is set by the outcome of a random process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Convention: uppercase for the random variable (X), lowercase for a value it takes (x). A coin toss: X = 1 for heads, 0 for tails.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A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probability distribution</a:t>
            </a:r>
            <a:r>
              <a:rPr lang="en-GB" sz="2000" noProof="0" dirty="0">
                <a:latin typeface="Geogrotesque Rg" panose="02000000000000000000" pitchFamily="2" charset="77"/>
              </a:rPr>
              <a:t> is the rulebook — which values X takes and how often: its location, scale and shape.</a:t>
            </a:r>
          </a:p>
          <a:p>
            <a:pPr algn="just"/>
            <a:r>
              <a:rPr lang="en-GB" sz="2000" dirty="0">
                <a:latin typeface="Geogrotesque Rg" panose="02000000000000000000" pitchFamily="2" charset="77"/>
              </a:rPr>
              <a:t>A</a:t>
            </a:r>
            <a:r>
              <a:rPr lang="en-GB" sz="2000" noProof="0" dirty="0">
                <a:latin typeface="Geogrotesque Rg" panose="02000000000000000000" pitchFamily="2" charset="77"/>
              </a:rPr>
              <a:t>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dataset</a:t>
            </a:r>
            <a:r>
              <a:rPr lang="en-GB" sz="2000" noProof="0" dirty="0">
                <a:latin typeface="Geogrotesque Rg" panose="02000000000000000000" pitchFamily="2" charset="77"/>
              </a:rPr>
              <a:t> is a stack of observed values of random variables.</a:t>
            </a:r>
          </a:p>
        </p:txBody>
      </p:sp>
    </p:spTree>
    <p:extLst>
      <p:ext uri="{BB962C8B-B14F-4D97-AF65-F5344CB8AC3E}">
        <p14:creationId xmlns:p14="http://schemas.microsoft.com/office/powerpoint/2010/main" val="128678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5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6322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600" noProof="0" dirty="0">
                <a:latin typeface="Geogrotesque Rg" panose="02000000000000000000" pitchFamily="2" charset="77"/>
              </a:rPr>
              <a:t>A short history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917258"/>
            <a:ext cx="7284795" cy="5439092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From gambling tables to the lab bench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1654 — Blaise Pascal &amp; Pierre de Fermat trade letters on the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problem of points</a:t>
            </a:r>
            <a:r>
              <a:rPr lang="en-GB" sz="2000" noProof="0" dirty="0">
                <a:latin typeface="Geogrotesque Rg" panose="02000000000000000000" pitchFamily="2" charset="77"/>
              </a:rPr>
              <a:t>; probability theory — and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expected value</a:t>
            </a:r>
            <a:r>
              <a:rPr lang="en-GB" sz="2000" noProof="0" dirty="0">
                <a:latin typeface="Geogrotesque Rg" panose="02000000000000000000" pitchFamily="2" charset="77"/>
              </a:rPr>
              <a:t> — is born.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18th–19th c. — Gauss &amp; Legendre develop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least squares</a:t>
            </a:r>
            <a:r>
              <a:rPr lang="en-GB" sz="2000" noProof="0" dirty="0">
                <a:latin typeface="Geogrotesque Rg" panose="02000000000000000000" pitchFamily="2" charset="77"/>
              </a:rPr>
              <a:t> and the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normal (Gaussian) distribution</a:t>
            </a:r>
            <a:r>
              <a:rPr lang="en-GB" sz="2000" noProof="0" dirty="0">
                <a:latin typeface="Geogrotesque Rg" panose="02000000000000000000" pitchFamily="2" charset="77"/>
              </a:rPr>
              <a:t>; Quetelet applies statistics to people.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Early 20th c. — Gosset (“Student”) derives the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t-distribution</a:t>
            </a:r>
            <a:r>
              <a:rPr lang="en-GB" sz="2000" noProof="0" dirty="0">
                <a:latin typeface="Geogrotesque Rg" panose="02000000000000000000" pitchFamily="2" charset="77"/>
              </a:rPr>
              <a:t> at Guinness (1908); Pearson gives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correlation</a:t>
            </a:r>
            <a:r>
              <a:rPr lang="en-GB" sz="2000" noProof="0" dirty="0">
                <a:latin typeface="Geogrotesque Rg" panose="02000000000000000000" pitchFamily="2" charset="77"/>
              </a:rPr>
              <a:t> and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chi-squared</a:t>
            </a:r>
            <a:r>
              <a:rPr lang="en-GB" sz="2000" noProof="0" dirty="0">
                <a:latin typeface="Geogrotesque Rg" panose="02000000000000000000" pitchFamily="2" charset="77"/>
              </a:rPr>
              <a:t>; Fisher builds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ANOVA</a:t>
            </a:r>
            <a:r>
              <a:rPr lang="en-GB" sz="2000" noProof="0" dirty="0">
                <a:latin typeface="Geogrotesque Rg" panose="02000000000000000000" pitchFamily="2" charset="77"/>
              </a:rPr>
              <a:t> and the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p-value</a:t>
            </a:r>
            <a:r>
              <a:rPr lang="en-GB" sz="2000" noProof="0" dirty="0">
                <a:latin typeface="Geogrotesque Rg" panose="02000000000000000000" pitchFamily="2" charset="77"/>
              </a:rPr>
              <a:t>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5284054" y="5222969"/>
            <a:ext cx="7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Describing the state → modelling chance → deciding in experiments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B27B8-B5A1-B31E-5E65-80250EA88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81999" y="1701229"/>
            <a:ext cx="3313174" cy="273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6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3000" noProof="0" dirty="0">
                <a:latin typeface="Geogrotesque Rg" panose="02000000000000000000" pitchFamily="2" charset="77"/>
              </a:rPr>
              <a:t>What is a dataset?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917258"/>
            <a:ext cx="6467377" cy="5303433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A table where rows are observations and columns are variables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Observation</a:t>
            </a:r>
            <a:r>
              <a:rPr lang="en-GB" sz="2000" noProof="0" dirty="0">
                <a:latin typeface="Geogrotesque Rg" panose="02000000000000000000" pitchFamily="2" charset="77"/>
              </a:rPr>
              <a:t> (row) = one individual or sample — a town, a patient, a cell.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Variable</a:t>
            </a:r>
            <a:r>
              <a:rPr lang="en-GB" sz="2000" noProof="0" dirty="0">
                <a:latin typeface="Geogrotesque Rg" panose="02000000000000000000" pitchFamily="2" charset="77"/>
              </a:rPr>
              <a:t> (column) = one measured quantity — height, sex, expression level.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Population vs. sample</a:t>
            </a:r>
            <a:r>
              <a:rPr lang="en-GB" sz="2000" noProof="0" dirty="0">
                <a:latin typeface="Geogrotesque Rg" panose="02000000000000000000" pitchFamily="2" charset="77"/>
              </a:rPr>
              <a:t>: a census gives the whole population; usually we hold only a sample.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First habit: scan for impossibilities — negative values, missing entries.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5967046" y="5720862"/>
            <a:ext cx="79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Look before you leap — get a feel for the data before testing.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E3C24-EA14-F337-3FD4-619B00BA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641" y="902895"/>
            <a:ext cx="44323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7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600" noProof="0" dirty="0">
                <a:latin typeface="Geogrotesque Rg" panose="02000000000000000000" pitchFamily="2" charset="77"/>
              </a:rPr>
              <a:t>Summary statistics I: central tendency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917258"/>
            <a:ext cx="5534857" cy="5594378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Where is the distribution centred?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Mean</a:t>
            </a:r>
            <a:r>
              <a:rPr lang="en-GB" sz="2000" noProof="0" dirty="0">
                <a:latin typeface="Geogrotesque Rg" panose="02000000000000000000" pitchFamily="2" charset="77"/>
              </a:rPr>
              <a:t> — the arithmetic average</a:t>
            </a:r>
          </a:p>
          <a:p>
            <a:pPr algn="just"/>
            <a:endParaRPr lang="en-GB" sz="2000" noProof="0" dirty="0">
              <a:solidFill>
                <a:srgbClr val="F25331"/>
              </a:solidFill>
              <a:latin typeface="Geogrotesque Rg" panose="02000000000000000000" pitchFamily="2" charset="77"/>
            </a:endParaRP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Median</a:t>
            </a:r>
            <a:r>
              <a:rPr lang="en-GB" sz="2000" noProof="0" dirty="0">
                <a:latin typeface="Geogrotesque Rg" panose="02000000000000000000" pitchFamily="2" charset="77"/>
              </a:rPr>
              <a:t> — the middle value (Q2); robust to outliers.</a:t>
            </a:r>
          </a:p>
          <a:p>
            <a:pPr algn="just"/>
            <a:endParaRPr lang="en-GB" sz="2000" noProof="0" dirty="0">
              <a:solidFill>
                <a:srgbClr val="F25331"/>
              </a:solidFill>
              <a:latin typeface="Geogrotesque Rg" panose="02000000000000000000" pitchFamily="2" charset="77"/>
            </a:endParaRP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Mode</a:t>
            </a:r>
            <a:r>
              <a:rPr lang="en-GB" sz="2000" noProof="0" dirty="0">
                <a:latin typeface="Geogrotesque Rg" panose="02000000000000000000" pitchFamily="2" charset="77"/>
              </a:rPr>
              <a:t> — most frequent value (discrete) or peak of the density (continuous).</a:t>
            </a:r>
          </a:p>
          <a:p>
            <a:pPr algn="just"/>
            <a:endParaRPr lang="en-GB" sz="2000" noProof="0" dirty="0">
              <a:latin typeface="Geogrotesque Rg" panose="02000000000000000000" pitchFamily="2" charset="77"/>
            </a:endParaRP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Symmetric &amp; unimodal → all three coincide; skewed → they separate (income: mean ≫ median).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8188036" y="5771465"/>
            <a:ext cx="3806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No single number is the whole story.</a:t>
            </a:r>
          </a:p>
        </p:txBody>
      </p:sp>
      <p:pic>
        <p:nvPicPr>
          <p:cNvPr id="7" name="mean formu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71" y="1409188"/>
            <a:ext cx="1702445" cy="9744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3E777-D756-4097-6FD3-42EABDBFA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8" y="870436"/>
            <a:ext cx="5606796" cy="465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3000" noProof="0" dirty="0">
                <a:latin typeface="Geogrotesque Rg" panose="02000000000000000000" pitchFamily="2" charset="77"/>
              </a:rPr>
              <a:t>Summary statistics II: spread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847983"/>
            <a:ext cx="9633141" cy="3979369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How much do values vary?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Variance</a:t>
            </a:r>
            <a:r>
              <a:rPr lang="en-GB" sz="2000" noProof="0" dirty="0">
                <a:latin typeface="Geogrotesque Rg" panose="02000000000000000000" pitchFamily="2" charset="77"/>
              </a:rPr>
              <a:t> — population</a:t>
            </a:r>
          </a:p>
          <a:p>
            <a:pPr algn="just"/>
            <a:endParaRPr lang="en-GB" sz="2000" noProof="0" dirty="0">
              <a:solidFill>
                <a:srgbClr val="F25331"/>
              </a:solidFill>
              <a:latin typeface="Geogrotesque Rg" panose="02000000000000000000" pitchFamily="2" charset="77"/>
            </a:endParaRP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Standard deviation </a:t>
            </a:r>
            <a:r>
              <a:rPr lang="en-GB" sz="2000" dirty="0">
                <a:latin typeface="Geogrotesque Rg" panose="02000000000000000000" pitchFamily="2" charset="77"/>
              </a:rPr>
              <a:t>—</a:t>
            </a:r>
            <a:endParaRPr lang="en-GB" sz="2000" noProof="0" dirty="0">
              <a:solidFill>
                <a:srgbClr val="F25331"/>
              </a:solidFill>
              <a:latin typeface="Geogrotesque Rg" panose="02000000000000000000" pitchFamily="2" charset="77"/>
            </a:endParaRPr>
          </a:p>
          <a:p>
            <a:pPr algn="just"/>
            <a:endParaRPr lang="en-GB" sz="2000" noProof="0" dirty="0">
              <a:solidFill>
                <a:srgbClr val="F25331"/>
              </a:solidFill>
              <a:latin typeface="Geogrotesque Rg" panose="02000000000000000000" pitchFamily="2" charset="77"/>
            </a:endParaRP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Quartiles</a:t>
            </a:r>
            <a:r>
              <a:rPr lang="en-GB" sz="2000" noProof="0" dirty="0">
                <a:latin typeface="Geogrotesque Rg" panose="02000000000000000000" pitchFamily="2" charset="77"/>
              </a:rPr>
              <a:t> &amp;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IQR – inter quartile range</a:t>
            </a:r>
            <a:r>
              <a:rPr lang="en-GB" sz="2000" noProof="0" dirty="0">
                <a:latin typeface="Geogrotesque Rg" panose="02000000000000000000" pitchFamily="2" charset="77"/>
              </a:rPr>
              <a:t> </a:t>
            </a:r>
          </a:p>
          <a:p>
            <a:pPr algn="just"/>
            <a:endParaRPr lang="en-GB" sz="2000" dirty="0">
              <a:latin typeface="Geogrotesque Rg" panose="02000000000000000000" pitchFamily="2" charset="77"/>
            </a:endParaRP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min / max for a quick outlier check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pic>
        <p:nvPicPr>
          <p:cNvPr id="90" name="variance formulae"/>
          <p:cNvPicPr>
            <a:picLocks noChangeAspect="1"/>
          </p:cNvPicPr>
          <p:nvPr/>
        </p:nvPicPr>
        <p:blipFill>
          <a:blip r:embed="rId3"/>
          <a:srcRect l="13322"/>
          <a:stretch>
            <a:fillRect/>
          </a:stretch>
        </p:blipFill>
        <p:spPr>
          <a:xfrm>
            <a:off x="3097293" y="1425935"/>
            <a:ext cx="6046708" cy="1363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554F75-4FE9-6680-E0A9-F90B6FE87388}"/>
              </a:ext>
            </a:extLst>
          </p:cNvPr>
          <p:cNvSpPr txBox="1"/>
          <p:nvPr/>
        </p:nvSpPr>
        <p:spPr>
          <a:xfrm>
            <a:off x="5596018" y="1625654"/>
            <a:ext cx="96372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eogrotesque Rg" panose="02000000000000000000" pitchFamily="2" charset="77"/>
              </a:rPr>
              <a:t>sample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47B950-71EC-8E8A-A233-C2B34BA002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587"/>
          <a:stretch>
            <a:fillRect/>
          </a:stretch>
        </p:blipFill>
        <p:spPr>
          <a:xfrm>
            <a:off x="4641273" y="2580871"/>
            <a:ext cx="7550727" cy="43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9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600" noProof="0" dirty="0">
                <a:latin typeface="Geogrotesque Rg" panose="02000000000000000000" pitchFamily="2" charset="77"/>
              </a:rPr>
              <a:t>Quantiles, quartiles, and the median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917258"/>
            <a:ext cx="5260909" cy="5335261"/>
          </a:xfrm>
          <a:prstGeom prst="rect">
            <a:avLst/>
          </a:prstGeom>
          <a:solidFill>
            <a:srgbClr val="F8F8F6">
              <a:alpha val="63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Cut points that split ordered data by proportion.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Quantile</a:t>
            </a:r>
            <a:r>
              <a:rPr lang="en-GB" sz="2000" noProof="0" dirty="0">
                <a:latin typeface="Geogrotesque Rg" panose="02000000000000000000" pitchFamily="2" charset="77"/>
              </a:rPr>
              <a:t> — the value below which a given fraction of the data falls (the 0.1 quantile has 10% below).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Median</a:t>
            </a:r>
            <a:r>
              <a:rPr lang="en-GB" sz="2000" noProof="0" dirty="0">
                <a:latin typeface="Geogrotesque Rg" panose="02000000000000000000" pitchFamily="2" charset="77"/>
              </a:rPr>
              <a:t> — the 0.5 quantile: the middle value, half the data on each side; robust to outliers.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Quartiles</a:t>
            </a:r>
            <a:r>
              <a:rPr lang="en-GB" sz="2000" noProof="0" dirty="0">
                <a:latin typeface="Geogrotesque Rg" panose="02000000000000000000" pitchFamily="2" charset="77"/>
              </a:rPr>
              <a:t> — the 0.25 / 0.5 / 0.75 quantiles (Q1/Q2/Q3); Q2 is the median, and </a:t>
            </a:r>
            <a:r>
              <a:rPr lang="en-GB" sz="2000" dirty="0">
                <a:latin typeface="Geogrotesque Rg" panose="02000000000000000000" pitchFamily="2" charset="77"/>
              </a:rPr>
              <a:t> 	   </a:t>
            </a:r>
            <a:r>
              <a:rPr lang="en-GB" sz="2000" noProof="0" dirty="0">
                <a:latin typeface="Geogrotesque Rg" panose="02000000000000000000" pitchFamily="2" charset="77"/>
              </a:rPr>
              <a:t>IQR = Q3 − Q1.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Percentiles</a:t>
            </a:r>
            <a:r>
              <a:rPr lang="en-GB" sz="2000" noProof="0" dirty="0">
                <a:latin typeface="Geogrotesque Rg" panose="02000000000000000000" pitchFamily="2" charset="77"/>
              </a:rPr>
              <a:t> are the same idea on a 0–100 scale (the 25th percentile = Q1).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5609968" y="5940742"/>
            <a:ext cx="79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Quartiles, median, percentiles — all just quantiles at particular fractions.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FC74EC-CC13-C44A-2151-A0D34CC0D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046" y="794423"/>
            <a:ext cx="5854239" cy="435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16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10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600" noProof="0" dirty="0">
                <a:latin typeface="Geogrotesque Rg" panose="02000000000000000000" pitchFamily="2" charset="77"/>
              </a:rPr>
              <a:t>Seeing the distribution: histograms &amp; density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7551186" y="519126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917258"/>
            <a:ext cx="5996323" cy="5127330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Bin the data and count.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Histogram</a:t>
            </a:r>
            <a:r>
              <a:rPr lang="en-GB" sz="2000" noProof="0" dirty="0">
                <a:latin typeface="Geogrotesque Rg" panose="02000000000000000000" pitchFamily="2" charset="77"/>
              </a:rPr>
              <a:t> — x-axis = value, y-axis = count of values per bin.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Density curve (KDE)</a:t>
            </a:r>
            <a:r>
              <a:rPr lang="en-GB" sz="2000" noProof="0" dirty="0">
                <a:latin typeface="Geogrotesque Rg" panose="02000000000000000000" pitchFamily="2" charset="77"/>
              </a:rPr>
              <a:t> — a smooth estimate; switches the y-axis from count to density.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Pitfall: the number of bins changes the apparent shape — too few hides structure, too many shows noise. No single correct count.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Pitfall: KDE can leak past the true min / max of bounded data unless cut off.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6657712" y="5509713"/>
            <a:ext cx="79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Always visualise — never trust one number or one view.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9A609-46D1-3E18-B38E-771405AE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806" y="631535"/>
            <a:ext cx="4718955" cy="471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11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600" noProof="0" dirty="0">
                <a:latin typeface="Geogrotesque Rg" panose="02000000000000000000" pitchFamily="2" charset="77"/>
              </a:rPr>
              <a:t>Transformations for visualisation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60" y="917258"/>
            <a:ext cx="6495086" cy="4721654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When data span many orders of magnitude, change the axis.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Log transform</a:t>
            </a:r>
            <a:r>
              <a:rPr lang="en-GB" sz="2000" noProof="0" dirty="0">
                <a:latin typeface="Geogrotesque Rg" panose="02000000000000000000" pitchFamily="2" charset="77"/>
              </a:rPr>
              <a:t> (log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2</a:t>
            </a:r>
            <a:r>
              <a:rPr lang="en-GB" sz="2000" noProof="0" dirty="0">
                <a:latin typeface="Geogrotesque Rg" panose="02000000000000000000" pitchFamily="2" charset="77"/>
              </a:rPr>
              <a:t> or 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10</a:t>
            </a:r>
            <a:r>
              <a:rPr lang="en-GB" sz="2000" noProof="0" dirty="0">
                <a:latin typeface="Geogrotesque Rg" panose="02000000000000000000" pitchFamily="2" charset="77"/>
              </a:rPr>
              <a:t>) spreads out right-skewed, wide-range data — town sizes, expression counts.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A variable whose logarithm is normal is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log-normal</a:t>
            </a:r>
            <a:r>
              <a:rPr lang="en-GB" sz="2000" noProof="0" dirty="0">
                <a:latin typeface="Geogrotesque Rg" panose="02000000000000000000" pitchFamily="2" charset="77"/>
              </a:rPr>
              <a:t>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Pitfall: 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10</a:t>
            </a:r>
            <a:r>
              <a:rPr lang="en-GB" sz="2000" noProof="0" dirty="0">
                <a:latin typeface="Geogrotesque Rg" panose="02000000000000000000" pitchFamily="2" charset="77"/>
              </a:rPr>
              <a:t>(0) = - Inf — with zeros, add a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pseudo-count</a:t>
            </a:r>
            <a:r>
              <a:rPr lang="en-GB" sz="2000" noProof="0" dirty="0">
                <a:latin typeface="Geogrotesque Rg" panose="02000000000000000000" pitchFamily="2" charset="77"/>
              </a:rPr>
              <a:t>: 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10</a:t>
            </a:r>
            <a:r>
              <a:rPr lang="en-GB" sz="2000" noProof="0" dirty="0">
                <a:latin typeface="Geogrotesque Rg" panose="02000000000000000000" pitchFamily="2" charset="77"/>
              </a:rPr>
              <a:t>(x + 1).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Caveat: transformations here are for exploration only.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6032200" y="5456350"/>
            <a:ext cx="79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Try a log axis when a histogram is crushed against the left edge.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081DBA-FA78-24FC-D986-6F37235E7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140" y="715324"/>
            <a:ext cx="4368800" cy="441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CDB4D0-B7BD-B98F-E528-6DB664A0F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922" y="728635"/>
            <a:ext cx="45339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C747-D262-B47E-73FB-01DEBED7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3D785-63E3-D4AC-EAE1-E3722F15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12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DF455-D2D7-8B5A-FA77-09EBA834EEEC}"/>
              </a:ext>
            </a:extLst>
          </p:cNvPr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600" noProof="0" dirty="0">
                <a:latin typeface="Geogrotesque Rg" panose="02000000000000000000" pitchFamily="2" charset="77"/>
              </a:rPr>
              <a:t>Transformations for visualisation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5FB70-FA85-EEA2-AB29-2A8DEFB48CCE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6EE83A-A80C-818F-E62B-402BF02C7229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EBE5E5C7-916D-135F-3B39-5ABDD840B930}"/>
              </a:ext>
            </a:extLst>
          </p:cNvPr>
          <p:cNvSpPr txBox="1">
            <a:spLocks/>
          </p:cNvSpPr>
          <p:nvPr/>
        </p:nvSpPr>
        <p:spPr>
          <a:xfrm>
            <a:off x="349060" y="917258"/>
            <a:ext cx="6495086" cy="4721654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When data span many orders of magnitude, change the axis.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Log transform</a:t>
            </a:r>
            <a:r>
              <a:rPr lang="en-GB" sz="2000" noProof="0" dirty="0">
                <a:latin typeface="Geogrotesque Rg" panose="02000000000000000000" pitchFamily="2" charset="77"/>
              </a:rPr>
              <a:t> (log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2</a:t>
            </a:r>
            <a:r>
              <a:rPr lang="en-GB" sz="2000" noProof="0" dirty="0">
                <a:latin typeface="Geogrotesque Rg" panose="02000000000000000000" pitchFamily="2" charset="77"/>
              </a:rPr>
              <a:t> or 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10</a:t>
            </a:r>
            <a:r>
              <a:rPr lang="en-GB" sz="2000" noProof="0" dirty="0">
                <a:latin typeface="Geogrotesque Rg" panose="02000000000000000000" pitchFamily="2" charset="77"/>
              </a:rPr>
              <a:t>) spreads out right-skewed, wide-range data — town sizes, expression counts.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A variable whose logarithm is normal is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log-normal</a:t>
            </a:r>
            <a:r>
              <a:rPr lang="en-GB" sz="2000" noProof="0" dirty="0">
                <a:latin typeface="Geogrotesque Rg" panose="02000000000000000000" pitchFamily="2" charset="77"/>
              </a:rPr>
              <a:t>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Pitfall: 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10</a:t>
            </a:r>
            <a:r>
              <a:rPr lang="en-GB" sz="2000" noProof="0" dirty="0">
                <a:latin typeface="Geogrotesque Rg" panose="02000000000000000000" pitchFamily="2" charset="77"/>
              </a:rPr>
              <a:t>(0) = - Inf — with zeros, add a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pseudo-count</a:t>
            </a:r>
            <a:r>
              <a:rPr lang="en-GB" sz="2000" noProof="0" dirty="0">
                <a:latin typeface="Geogrotesque Rg" panose="02000000000000000000" pitchFamily="2" charset="77"/>
              </a:rPr>
              <a:t>: log</a:t>
            </a:r>
            <a:r>
              <a:rPr lang="en-GB" sz="2000" baseline="-25000" noProof="0" dirty="0">
                <a:latin typeface="Geogrotesque Rg" panose="02000000000000000000" pitchFamily="2" charset="77"/>
              </a:rPr>
              <a:t>10</a:t>
            </a:r>
            <a:r>
              <a:rPr lang="en-GB" sz="2000" noProof="0" dirty="0">
                <a:latin typeface="Geogrotesque Rg" panose="02000000000000000000" pitchFamily="2" charset="77"/>
              </a:rPr>
              <a:t>(x + 1).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Caveat: transformations here are for exploration only.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02B3597-3CB6-1F6E-DD4A-52E86EE46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F04C8-5B13-F215-EB56-5C9EBCDFAD2B}"/>
              </a:ext>
            </a:extLst>
          </p:cNvPr>
          <p:cNvSpPr txBox="1"/>
          <p:nvPr/>
        </p:nvSpPr>
        <p:spPr>
          <a:xfrm>
            <a:off x="6032200" y="5456350"/>
            <a:ext cx="79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Try a log axis when a histogram is crushed against the left edge.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0D66BF-B21E-4F40-E006-4AB7B03B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140" y="715324"/>
            <a:ext cx="43688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38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13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3000" noProof="0" dirty="0">
                <a:latin typeface="Geogrotesque Rg" panose="02000000000000000000" pitchFamily="2" charset="77"/>
              </a:rPr>
              <a:t>Boxplots and violin plots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157822" y="807626"/>
            <a:ext cx="6159851" cy="5426919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Compact summaries of a distribution — and how they mislead.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Boxplot</a:t>
            </a:r>
            <a:r>
              <a:rPr lang="en-GB" sz="2000" noProof="0" dirty="0">
                <a:latin typeface="Geogrotesque Rg" panose="02000000000000000000" pitchFamily="2" charset="77"/>
              </a:rPr>
              <a:t>: box spans </a:t>
            </a:r>
            <a:r>
              <a:rPr lang="en-GB" sz="2000" dirty="0">
                <a:latin typeface="Geogrotesque Rg" panose="02000000000000000000" pitchFamily="2" charset="77"/>
              </a:rPr>
              <a:t>quartiles </a:t>
            </a:r>
            <a:r>
              <a:rPr lang="en-GB" sz="2000" noProof="0" dirty="0">
                <a:latin typeface="Geogrotesque Rg" panose="02000000000000000000" pitchFamily="2" charset="77"/>
              </a:rPr>
              <a:t>Q1–Q3, line = median; whiskers reach the furthest point within 1.5 × IQR; points beyond = outliers.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Violin plot</a:t>
            </a:r>
            <a:r>
              <a:rPr lang="en-GB" sz="2000" noProof="0" dirty="0">
                <a:latin typeface="Geogrotesque Rg" panose="02000000000000000000" pitchFamily="2" charset="77"/>
              </a:rPr>
              <a:t>: replaces the box with a mirrored density curve — more shape.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Pitfall: boxplots hide </a:t>
            </a:r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multimodality</a:t>
            </a:r>
            <a:r>
              <a:rPr lang="en-GB" sz="2000" noProof="0" dirty="0">
                <a:latin typeface="Geogrotesque Rg" panose="02000000000000000000" pitchFamily="2" charset="77"/>
              </a:rPr>
              <a:t> — overlay a strip / swarm plot to check.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Pitfall: violins need a decent sample and misbehave on bounded data unless cut off.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CFFC89-BEAD-2DCC-8BB4-0A670AB84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047" y="621347"/>
            <a:ext cx="4978593" cy="1866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99F3E9-BDEF-8F85-245A-D6A2D2EB6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048" y="2753967"/>
            <a:ext cx="4978592" cy="1534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18FBB9-28AA-B9FE-EC73-0F446C476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231" y="4344755"/>
            <a:ext cx="4978591" cy="153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14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3000" noProof="0" dirty="0">
                <a:latin typeface="Geogrotesque Rg" panose="02000000000000000000" pitchFamily="2" charset="77"/>
              </a:rPr>
              <a:t>Barplots and error bars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8" y="890679"/>
            <a:ext cx="9633141" cy="3979369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The most-used and most-misused chart in biology — a bar shows only a mean plus an error.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Standard deviation (SD)</a:t>
            </a:r>
            <a:r>
              <a:rPr lang="en-GB" sz="2000" noProof="0" dirty="0">
                <a:latin typeface="Geogrotesque Rg" panose="02000000000000000000" pitchFamily="2" charset="77"/>
              </a:rPr>
              <a:t> — variability in the data.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Standard error (SEM)</a:t>
            </a:r>
            <a:r>
              <a:rPr lang="en-GB" sz="2000" noProof="0" dirty="0">
                <a:latin typeface="Geogrotesque Rg" panose="02000000000000000000" pitchFamily="2" charset="77"/>
              </a:rPr>
              <a:t> — precision of the estimated mean.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95% confidence interval</a:t>
            </a:r>
            <a:r>
              <a:rPr lang="en-GB" sz="2000" noProof="0" dirty="0">
                <a:latin typeface="Geogrotesque Rg" panose="02000000000000000000" pitchFamily="2" charset="77"/>
              </a:rPr>
              <a:t> — plausible range for the true mean.</a:t>
            </a:r>
          </a:p>
          <a:p>
            <a:pPr marL="0" indent="0" algn="just">
              <a:buNone/>
            </a:pPr>
            <a:r>
              <a:rPr lang="en-GB" sz="2000" dirty="0">
                <a:latin typeface="Geogrotesque Rg" panose="02000000000000000000" pitchFamily="2" charset="77"/>
              </a:rPr>
              <a:t>    (                                                                                                                                            )</a:t>
            </a:r>
          </a:p>
          <a:p>
            <a:pPr algn="just"/>
            <a:r>
              <a:rPr lang="en-GB" sz="2000" noProof="0" dirty="0">
                <a:latin typeface="Geogrotesque Rg" panose="02000000000000000000" pitchFamily="2" charset="77"/>
              </a:rPr>
              <a:t>Pitfall: SD and SEM are not interchangeable; prefer showing the points over a bar.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11D41-7CFD-A87B-64F8-47E209C38CA7}"/>
              </a:ext>
            </a:extLst>
          </p:cNvPr>
          <p:cNvSpPr txBox="1"/>
          <p:nvPr/>
        </p:nvSpPr>
        <p:spPr>
          <a:xfrm>
            <a:off x="5721927" y="6076335"/>
            <a:ext cx="7339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noProof="0" dirty="0">
                <a:solidFill>
                  <a:srgbClr val="0089D1"/>
                </a:solidFill>
                <a:latin typeface="Geogrotesque Rg" panose="02000000000000000000" pitchFamily="2" charset="77"/>
              </a:rPr>
              <a:t>SD describes the data; SEM, how well you've pinned down the mean.</a:t>
            </a:r>
          </a:p>
        </p:txBody>
      </p:sp>
      <p:pic>
        <p:nvPicPr>
          <p:cNvPr id="7" name="error-bar formula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44" y="3180838"/>
            <a:ext cx="7950686" cy="3936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04273B-C49B-F432-95F6-97A7CDC5E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18" y="4286175"/>
            <a:ext cx="4486178" cy="1506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357581-CB79-8200-5B54-29A81B567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288" y="4255141"/>
            <a:ext cx="4486178" cy="150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65659-E5A7-483A-9350-80D7042BE98B}" type="slidenum">
              <a:rPr lang="en-GB" noProof="0" smtClean="0">
                <a:latin typeface="Geogrotesque Rg" panose="02000000000000000000" pitchFamily="2" charset="77"/>
              </a:rPr>
              <a:t>15</a:t>
            </a:fld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822" y="-13311"/>
            <a:ext cx="11700000" cy="715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DE492D"/>
                </a:solidFill>
                <a:latin typeface="Geogrotesque Md" panose="02000000000000000000" pitchFamily="50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3000" noProof="0" dirty="0">
                <a:latin typeface="Geogrotesque Rg" panose="02000000000000000000" pitchFamily="2" charset="77"/>
              </a:rPr>
              <a:t>The EDA mindset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4FCD-0727-7C4E-941A-30BBA63A20FB}"/>
              </a:ext>
            </a:extLst>
          </p:cNvPr>
          <p:cNvSpPr/>
          <p:nvPr/>
        </p:nvSpPr>
        <p:spPr>
          <a:xfrm>
            <a:off x="5967046" y="1137138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1EBF8-E52C-7D49-8813-E27A9BCFEBB3}"/>
              </a:ext>
            </a:extLst>
          </p:cNvPr>
          <p:cNvSpPr/>
          <p:nvPr/>
        </p:nvSpPr>
        <p:spPr>
          <a:xfrm>
            <a:off x="5967046" y="5111872"/>
            <a:ext cx="515816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Geogrotesque Rg" panose="02000000000000000000" pitchFamily="2" charset="77"/>
            </a:endParaRPr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CDC7A08B-7709-4D45-9E43-CB51EAB28FD3}"/>
              </a:ext>
            </a:extLst>
          </p:cNvPr>
          <p:cNvSpPr txBox="1">
            <a:spLocks/>
          </p:cNvSpPr>
          <p:nvPr/>
        </p:nvSpPr>
        <p:spPr>
          <a:xfrm>
            <a:off x="349059" y="917258"/>
            <a:ext cx="10111123" cy="3979369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noProof="0" dirty="0">
                <a:solidFill>
                  <a:srgbClr val="007FBA"/>
                </a:solidFill>
                <a:latin typeface="Geogrotesque Rg" panose="02000000000000000000" pitchFamily="2" charset="77"/>
              </a:rPr>
              <a:t>Five habits to carry into every dataset:</a:t>
            </a:r>
          </a:p>
          <a:p>
            <a:pPr marL="0" indent="0" algn="just">
              <a:buNone/>
            </a:pPr>
            <a:endParaRPr lang="en-GB" sz="2000" noProof="0" dirty="0"/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Look before you test</a:t>
            </a:r>
            <a:r>
              <a:rPr lang="en-GB" sz="2000" noProof="0" dirty="0">
                <a:latin typeface="Geogrotesque Rg" panose="02000000000000000000" pitchFamily="2" charset="77"/>
              </a:rPr>
              <a:t> — plot first; statistics second.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No single number is the whole story</a:t>
            </a:r>
            <a:r>
              <a:rPr lang="en-GB" sz="2000" noProof="0" dirty="0">
                <a:latin typeface="Geogrotesque Rg" panose="02000000000000000000" pitchFamily="2" charset="77"/>
              </a:rPr>
              <a:t> — mean, median and mode can disagree.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Know what your spread measure means</a:t>
            </a:r>
            <a:r>
              <a:rPr lang="en-GB" sz="2000" noProof="0" dirty="0">
                <a:latin typeface="Geogrotesque Rg" panose="02000000000000000000" pitchFamily="2" charset="77"/>
              </a:rPr>
              <a:t> — data variability (SD) vs estimate precision (SEM).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Choose the view deliberately</a:t>
            </a:r>
            <a:r>
              <a:rPr lang="en-GB" sz="2000" noProof="0" dirty="0">
                <a:latin typeface="Geogrotesque Rg" panose="02000000000000000000" pitchFamily="2" charset="77"/>
              </a:rPr>
              <a:t> — bins, transforms, box vs violin.</a:t>
            </a:r>
          </a:p>
          <a:p>
            <a:pPr algn="just"/>
            <a:r>
              <a:rPr lang="en-GB" sz="2000" noProof="0" dirty="0">
                <a:solidFill>
                  <a:srgbClr val="F25331"/>
                </a:solidFill>
                <a:latin typeface="Geogrotesque Rg" panose="02000000000000000000" pitchFamily="2" charset="77"/>
              </a:rPr>
              <a:t>Data have a distribution behind them</a:t>
            </a:r>
            <a:r>
              <a:rPr lang="en-GB" sz="2000" noProof="0" dirty="0">
                <a:latin typeface="Geogrotesque Rg" panose="02000000000000000000" pitchFamily="2" charset="77"/>
              </a:rPr>
              <a:t> — EDA sketches it; the course reasons about it.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3F0B19-5AAF-4B3E-8C06-FE07906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47D0B-9CDA-FCA1-8CEA-6AC8A9526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18" y="4138667"/>
            <a:ext cx="7772400" cy="241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2930</Words>
  <Application>Microsoft Macintosh PowerPoint</Application>
  <PresentationFormat>Widescreen</PresentationFormat>
  <Paragraphs>175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Geogrotesque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Kolar</dc:creator>
  <cp:lastModifiedBy>Michal Kolar</cp:lastModifiedBy>
  <cp:revision>17</cp:revision>
  <dcterms:created xsi:type="dcterms:W3CDTF">2026-06-02T19:34:51Z</dcterms:created>
  <dcterms:modified xsi:type="dcterms:W3CDTF">2026-07-01T19:17:26Z</dcterms:modified>
</cp:coreProperties>
</file>