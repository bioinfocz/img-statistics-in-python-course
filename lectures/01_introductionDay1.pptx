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0" r:id="rId2"/>
    <p:sldId id="256" r:id="rId3"/>
    <p:sldId id="261" r:id="rId4"/>
    <p:sldId id="262" r:id="rId5"/>
    <p:sldId id="258" r:id="rId6"/>
    <p:sldId id="257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9D1"/>
    <a:srgbClr val="C1C1C1"/>
    <a:srgbClr val="F25331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6"/>
    <p:restoredTop sz="94621"/>
  </p:normalViewPr>
  <p:slideViewPr>
    <p:cSldViewPr snapToGrid="0">
      <p:cViewPr varScale="1">
        <p:scale>
          <a:sx n="119" d="100"/>
          <a:sy n="119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77A6D-F593-284A-96A8-3648D07CF33C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1F501-9E02-634D-9587-A9D786DF2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6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F4BF-BB02-FC51-941E-507ECD8A7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2F6BE-A03C-3611-16B4-867172F9B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7865-A7F8-94CD-CFC5-2483782D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B1E8-9BED-8D3C-74C4-BCDF126D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17B4-DE91-3DA9-80A9-C4535540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4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38AD-2201-E736-CF9E-AAEC7302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10D6-37F3-55EF-B72D-9CE6EF7F2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2374-385C-07BA-41A2-3E453728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FA48-EFD3-C697-8D27-E9760618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7BFB9-3987-3BAD-A76C-A98741FB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6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434D-4F5B-E97A-2A10-08EDE717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D23C0-A548-619E-CAFC-F4CAF6FA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5C2D9-C11F-27C8-7910-A6CE853C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8DE5E-7DB8-A2B9-4FC2-A08382C2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4540-4A3C-8506-C428-F1E3E787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645D-1BD5-4FAF-ADD9-663EAED9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016F-C82A-1E42-1F14-1589FF62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F78DA-9AAE-4215-56C9-5EF67848D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587D6-F266-DACF-943B-082BF70D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3146E-858B-13C4-C960-707B9504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1372F-7255-AAB7-2CEC-FEB61304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4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5D78-EEEE-02E5-C87C-DE72B7DC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308B0-E665-2E5A-887A-451A4B605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D6E22-335C-6658-665D-B9FF22632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6707C-D433-6577-6AAF-D7E4E855D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8CD37-EA52-E056-CAC4-7B7BD43F6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76FB1-C01E-998B-9C27-79DAB34D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52E72-F0A1-9F93-D9C0-5BF62F10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B278E-453A-3B6C-9950-295B6FBC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2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D846-CF96-0946-696D-B5F6EFEF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B34C0-2538-57D3-7543-21430F4C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EB57B-0081-CFBE-915B-DD29D231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FBD75-7413-AD61-F6A8-2B8D5FFF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C0DBD-13F2-7B74-68CC-9CD3260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354C1-FCEB-03E5-B3BA-58905259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A93C4-21AC-7C28-25CC-FB1D5698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8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2B81-8AC3-8AB8-B608-B34FA6B9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3844-A27E-E43F-972E-BE334A6A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38F9B-D51E-23E0-EF28-BD9D99F5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4D298-E93A-6325-D575-A3B0BE27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F9D1A-16B9-0268-AF56-E0EE7623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68CC7-8E69-B80D-B627-BE78A18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6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8E97-BD1F-D79F-9B39-B49FBC5E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7D629-D858-4788-643D-817AC9BEF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7901E-3656-2C8A-907E-8E9B1E98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DA41-9769-2F8B-9F19-10EC6711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F1278-816E-404A-AD94-A40FD373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51127-1527-4D39-39DB-C9CEFF8E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4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4AEE-8154-D11C-96A2-E1AD5531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417FB-C4D7-371B-EA5C-FDE29BF10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2E766-4284-89A3-DFAB-BF666B02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B0D0-EB51-896C-AF9D-7FDED7CF4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9DC7C-9049-F500-17CB-CC44F105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6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1C5BA-F002-1D30-247C-421B8420C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7D0FE-81A3-F8AD-72CA-8C6AAF49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5D8A-4571-1F0A-AE7D-28CF5C54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4CC85-DFFC-938B-2632-D89A0559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DA2E2-A023-5FD2-10A4-DC9F5475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D666D-BEF0-3D48-F649-92262BA5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7E08A-B88C-614A-5415-1514B43CD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D8B39-991D-7C1A-849C-2D7DAF7C1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61654-3C58-9D4C-A0CF-65E7B52779C7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03A10-5379-27C6-A028-22BCA81D7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61E9B-0EC7-3700-5DBB-E99760087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9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b.swiss/training/course/20230620_STAT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3F796-22EB-DE98-079D-1754FCDF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838E48-FF40-0998-C509-9C0351614262}"/>
              </a:ext>
            </a:extLst>
          </p:cNvPr>
          <p:cNvSpPr txBox="1"/>
          <p:nvPr/>
        </p:nvSpPr>
        <p:spPr>
          <a:xfrm>
            <a:off x="735724" y="833606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C241F-663B-5012-929F-4659AD8746D7}"/>
              </a:ext>
            </a:extLst>
          </p:cNvPr>
          <p:cNvSpPr txBox="1"/>
          <p:nvPr/>
        </p:nvSpPr>
        <p:spPr>
          <a:xfrm>
            <a:off x="735723" y="1664603"/>
            <a:ext cx="11055783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Based on the course </a:t>
            </a: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  <a:hlinkClick r:id="rId2"/>
              </a:rPr>
              <a:t>https://www.sib.swiss/training/course/20230620_STATP</a:t>
            </a:r>
            <a:endParaRPr lang="en-US" sz="2400" dirty="0">
              <a:solidFill>
                <a:srgbClr val="0089D1"/>
              </a:solidFill>
              <a:latin typeface="Geogrotesque Rg" panose="02000000000000000000" pitchFamily="2" charset="77"/>
            </a:endParaRPr>
          </a:p>
        </p:txBody>
      </p:sp>
      <p:pic>
        <p:nvPicPr>
          <p:cNvPr id="4" name="Picture 7" descr="sib_logo_trans_background.png">
            <a:extLst>
              <a:ext uri="{FF2B5EF4-FFF2-40B4-BE49-F238E27FC236}">
                <a16:creationId xmlns:a16="http://schemas.microsoft.com/office/drawing/2014/main" id="{3DC57EF5-EEDD-9D45-60A3-75A22A63F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10" name="Picture 4" descr="Home">
            <a:extLst>
              <a:ext uri="{FF2B5EF4-FFF2-40B4-BE49-F238E27FC236}">
                <a16:creationId xmlns:a16="http://schemas.microsoft.com/office/drawing/2014/main" id="{1CC88E06-74C3-F7AC-82C3-58E1C021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hoto of Wandrille Duchemin">
            <a:extLst>
              <a:ext uri="{FF2B5EF4-FFF2-40B4-BE49-F238E27FC236}">
                <a16:creationId xmlns:a16="http://schemas.microsoft.com/office/drawing/2014/main" id="{7B700EF4-C7E7-A76B-B381-26B761365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625" y="3739554"/>
            <a:ext cx="1765288" cy="226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62370B-FEBC-FE3A-C760-3E3E927DE5C8}"/>
              </a:ext>
            </a:extLst>
          </p:cNvPr>
          <p:cNvSpPr txBox="1"/>
          <p:nvPr/>
        </p:nvSpPr>
        <p:spPr>
          <a:xfrm>
            <a:off x="3401913" y="5162960"/>
            <a:ext cx="5287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grotesque Rg" panose="02000000000000000000" pitchFamily="2" charset="77"/>
              </a:rPr>
              <a:t>(Wandrille Duchemin. </a:t>
            </a:r>
          </a:p>
          <a:p>
            <a:r>
              <a:rPr lang="en-US" dirty="0">
                <a:latin typeface="Geogrotesque Rg" panose="02000000000000000000" pitchFamily="2" charset="77"/>
              </a:rPr>
              <a:t>Introduction to Statistics with Python</a:t>
            </a:r>
          </a:p>
          <a:p>
            <a:r>
              <a:rPr lang="en-US" dirty="0">
                <a:latin typeface="Geogrotesque Rg" panose="02000000000000000000" pitchFamily="2" charset="77"/>
              </a:rPr>
              <a:t>https://</a:t>
            </a:r>
            <a:r>
              <a:rPr lang="en-US" dirty="0" err="1">
                <a:latin typeface="Geogrotesque Rg" panose="02000000000000000000" pitchFamily="2" charset="77"/>
              </a:rPr>
              <a:t>doi.org</a:t>
            </a:r>
            <a:r>
              <a:rPr lang="en-US" dirty="0">
                <a:latin typeface="Geogrotesque Rg" panose="02000000000000000000" pitchFamily="2" charset="77"/>
              </a:rPr>
              <a:t>/10.5281/zenodo.15607543)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D077F-F161-3E61-986D-1AD0EA557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2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BD45AC-C97E-A4F5-028A-6ADD3274EDDB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B94DEE-1854-8B51-2980-AAE282EDB872}"/>
              </a:ext>
            </a:extLst>
          </p:cNvPr>
          <p:cNvSpPr txBox="1"/>
          <p:nvPr/>
        </p:nvSpPr>
        <p:spPr>
          <a:xfrm>
            <a:off x="735724" y="1260741"/>
            <a:ext cx="10300138" cy="3360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Session 1 – Data visualisation &amp; exploration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Session 2 – Distributions &amp; hypothesis testing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latin typeface="Geogrotesque Rg" panose="02000000000000000000" pitchFamily="2" charset="77"/>
              </a:rPr>
              <a:t>Session</a:t>
            </a:r>
            <a:r>
              <a:rPr lang="en-GB" sz="2400" b="0" i="0" u="none" strike="noStrike">
                <a:solidFill>
                  <a:srgbClr val="000000"/>
                </a:solidFill>
                <a:effectLst/>
                <a:latin typeface="Geogrotesque Rg" panose="02000000000000000000" pitchFamily="2" charset="77"/>
              </a:rPr>
              <a:t> 3 –</a:t>
            </a:r>
            <a:r>
              <a:rPr lang="en-GB" sz="2400">
                <a:solidFill>
                  <a:srgbClr val="000000"/>
                </a:solidFill>
                <a:latin typeface="Geogrotesque Rg" panose="02000000000000000000" pitchFamily="2" charset="77"/>
              </a:rPr>
              <a:t> Statistical testing, continued </a:t>
            </a:r>
            <a:endParaRPr lang="en-GB" sz="2400" b="0" i="0" u="none" strike="noStrike">
              <a:solidFill>
                <a:srgbClr val="000000"/>
              </a:solidFill>
              <a:effectLst/>
              <a:latin typeface="Geogrotesque Rg" panose="02000000000000000000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latin typeface="Geogrotesque Rg" panose="02000000000000000000" pitchFamily="2" charset="77"/>
              </a:rPr>
              <a:t>Session 4 – Correlation &amp; regression</a:t>
            </a:r>
            <a:endParaRPr lang="en-GB" sz="2400" b="0" i="0" u="none" strike="noStrike">
              <a:solidFill>
                <a:srgbClr val="000000"/>
              </a:solidFill>
              <a:effectLst/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endParaRPr lang="en-US" sz="2400"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89D1"/>
                </a:solidFill>
                <a:latin typeface="Geogrotesque Rg" panose="02000000000000000000" pitchFamily="2" charset="77"/>
              </a:rPr>
              <a:t>https://</a:t>
            </a:r>
            <a:r>
              <a:rPr lang="en-US" sz="2400" err="1">
                <a:solidFill>
                  <a:srgbClr val="0089D1"/>
                </a:solidFill>
                <a:latin typeface="Geogrotesque Rg" panose="02000000000000000000" pitchFamily="2" charset="77"/>
              </a:rPr>
              <a:t>www.elixir-czech.cz</a:t>
            </a:r>
            <a:r>
              <a:rPr lang="en-US" sz="2400">
                <a:solidFill>
                  <a:srgbClr val="0089D1"/>
                </a:solidFill>
                <a:latin typeface="Geogrotesque Rg" panose="02000000000000000000" pitchFamily="2" charset="77"/>
              </a:rPr>
              <a:t>/events/statistics-in-python-06-2026</a:t>
            </a:r>
          </a:p>
        </p:txBody>
      </p:sp>
      <p:pic>
        <p:nvPicPr>
          <p:cNvPr id="3" name="Picture 7" descr="sib_logo_trans_background.png">
            <a:extLst>
              <a:ext uri="{FF2B5EF4-FFF2-40B4-BE49-F238E27FC236}">
                <a16:creationId xmlns:a16="http://schemas.microsoft.com/office/drawing/2014/main" id="{D63BB630-B43C-FE0E-2ADB-2783A0E2D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4" name="Picture 4" descr="Home">
            <a:extLst>
              <a:ext uri="{FF2B5EF4-FFF2-40B4-BE49-F238E27FC236}">
                <a16:creationId xmlns:a16="http://schemas.microsoft.com/office/drawing/2014/main" id="{9FCF0235-221C-C0AB-B773-5595211FF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BFC5A-0373-0F72-5BD3-29A273CCC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9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6AAE0-0971-3179-CCDB-906C3612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B29A3F-7CBD-B9CD-9713-CDD16B8ED167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97D64-0254-C470-05A7-1F912844F539}"/>
              </a:ext>
            </a:extLst>
          </p:cNvPr>
          <p:cNvSpPr txBox="1"/>
          <p:nvPr/>
        </p:nvSpPr>
        <p:spPr>
          <a:xfrm>
            <a:off x="735724" y="1260741"/>
            <a:ext cx="10300138" cy="3277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H" sz="2000">
                <a:latin typeface="Geogrotesque Rg" panose="02000000000000000000" pitchFamily="2" charset="77"/>
              </a:rPr>
              <a:t>At the end of the course, </a:t>
            </a:r>
            <a:r>
              <a:rPr lang="cs-CZ" sz="2000" err="1">
                <a:latin typeface="Geogrotesque Rg" panose="02000000000000000000" pitchFamily="2" charset="77"/>
              </a:rPr>
              <a:t>you</a:t>
            </a:r>
            <a:r>
              <a:rPr lang="cs-CZ" sz="2000">
                <a:latin typeface="Geogrotesque Rg" panose="02000000000000000000" pitchFamily="2" charset="77"/>
              </a:rPr>
              <a:t> </a:t>
            </a:r>
            <a:r>
              <a:rPr lang="en-CH" sz="2000">
                <a:latin typeface="Geogrotesque Rg" panose="02000000000000000000" pitchFamily="2" charset="77"/>
              </a:rPr>
              <a:t>should be able to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sz="2000">
                <a:latin typeface="Geogrotesque Rg" panose="02000000000000000000" pitchFamily="2" charset="77"/>
              </a:rPr>
              <a:t>explore </a:t>
            </a:r>
            <a:r>
              <a:rPr lang="cs-CZ" sz="2000" err="1">
                <a:latin typeface="Geogrotesque Rg" panose="02000000000000000000" pitchFamily="2" charset="77"/>
              </a:rPr>
              <a:t>your</a:t>
            </a:r>
            <a:r>
              <a:rPr lang="en-CH" sz="2000">
                <a:latin typeface="Geogrotesque Rg" panose="02000000000000000000" pitchFamily="2" charset="77"/>
              </a:rPr>
              <a:t> data, choose the right method to summarize it, graphically and numerically.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sz="2000">
                <a:latin typeface="Geogrotesque Rg" panose="02000000000000000000" pitchFamily="2" charset="77"/>
              </a:rPr>
              <a:t>perform appropriate basic hypothesis tests on a data set</a:t>
            </a:r>
            <a:r>
              <a:rPr lang="cs-CZ" sz="2000">
                <a:latin typeface="Geogrotesque Rg" panose="02000000000000000000" pitchFamily="2" charset="77"/>
              </a:rPr>
              <a:t>,</a:t>
            </a:r>
            <a:endParaRPr lang="en-CH" sz="2000">
              <a:latin typeface="Geogrotesque Rg" panose="02000000000000000000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sz="2000">
                <a:latin typeface="Geogrotesque Rg" panose="02000000000000000000" pitchFamily="2" charset="77"/>
              </a:rPr>
              <a:t>appraise the results and limitations of these tests, their underlying hypotheses, and multiple testing issues</a:t>
            </a:r>
            <a:r>
              <a:rPr lang="cs-CZ" sz="2000">
                <a:latin typeface="Geogrotesque Rg" panose="02000000000000000000" pitchFamily="2" charset="77"/>
              </a:rPr>
              <a:t>,</a:t>
            </a:r>
            <a:endParaRPr lang="en-CH" sz="2000">
              <a:latin typeface="Geogrotesque Rg" panose="02000000000000000000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sz="2000">
                <a:latin typeface="Geogrotesque Rg" panose="02000000000000000000" pitchFamily="2" charset="77"/>
              </a:rPr>
              <a:t>assess and describe the link between different variables, using correlation and regression analysis.</a:t>
            </a:r>
            <a:endParaRPr lang="en-GB" sz="2000" i="0" u="none" strike="noStrike">
              <a:solidFill>
                <a:srgbClr val="222222"/>
              </a:solidFill>
              <a:effectLst/>
              <a:latin typeface="Geogrotesque Rg" panose="02000000000000000000" pitchFamily="2" charset="77"/>
            </a:endParaRPr>
          </a:p>
        </p:txBody>
      </p:sp>
      <p:pic>
        <p:nvPicPr>
          <p:cNvPr id="10" name="Picture 7" descr="sib_logo_trans_background.png">
            <a:extLst>
              <a:ext uri="{FF2B5EF4-FFF2-40B4-BE49-F238E27FC236}">
                <a16:creationId xmlns:a16="http://schemas.microsoft.com/office/drawing/2014/main" id="{348FFC2A-6DC0-301C-40D0-3334E0BF85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11" name="Picture 4" descr="Home">
            <a:extLst>
              <a:ext uri="{FF2B5EF4-FFF2-40B4-BE49-F238E27FC236}">
                <a16:creationId xmlns:a16="http://schemas.microsoft.com/office/drawing/2014/main" id="{C5AC0D69-B83C-EE33-971D-9E35EA790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DCD1D2-E24A-BB3F-3BCC-C8CDF31A2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5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56FEE-BFD0-721C-F8DC-B48AB5DC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ED515E-A94E-D471-8342-7DF6594F6AB2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256F1-8B32-4F81-1901-5AD361CC4873}"/>
              </a:ext>
            </a:extLst>
          </p:cNvPr>
          <p:cNvSpPr txBox="1"/>
          <p:nvPr/>
        </p:nvSpPr>
        <p:spPr>
          <a:xfrm>
            <a:off x="735724" y="1260741"/>
            <a:ext cx="103001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H" sz="2400" b="1">
                <a:latin typeface="Geogrotesque Rg" panose="02000000000000000000" pitchFamily="2" charset="77"/>
              </a:rPr>
              <a:t>Learning experiences</a:t>
            </a:r>
            <a:endParaRPr lang="cs-CZ" sz="2400" b="1" dirty="0"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endParaRPr lang="cs-CZ" sz="2400" b="1" dirty="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400">
                <a:latin typeface="Geogrotesque Rg" panose="02000000000000000000" pitchFamily="2" charset="77"/>
              </a:rPr>
              <a:t>Lecture</a:t>
            </a:r>
            <a:endParaRPr lang="cs-CZ" sz="2400" dirty="0">
              <a:latin typeface="Geogrotesque Rg" panose="02000000000000000000" pitchFamily="2" charset="77"/>
            </a:endParaRPr>
          </a:p>
          <a:p>
            <a:endParaRPr lang="en-CH" sz="240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400">
                <a:latin typeface="Geogrotesque Rg" panose="02000000000000000000" pitchFamily="2" charset="77"/>
              </a:rPr>
              <a:t>Exercise</a:t>
            </a:r>
            <a:endParaRPr lang="cs-CZ" sz="2400" dirty="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400" dirty="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 err="1">
                <a:latin typeface="Geogrotesque Rg" panose="02000000000000000000" pitchFamily="2" charset="77"/>
              </a:rPr>
              <a:t>Recapitulation</a:t>
            </a:r>
            <a:endParaRPr lang="en-CH" sz="2400">
              <a:latin typeface="Geogrotesque Rg" panose="02000000000000000000" pitchFamily="2" charset="77"/>
            </a:endParaRPr>
          </a:p>
        </p:txBody>
      </p:sp>
      <p:pic>
        <p:nvPicPr>
          <p:cNvPr id="3" name="Picture 7" descr="sib_logo_trans_background.png">
            <a:extLst>
              <a:ext uri="{FF2B5EF4-FFF2-40B4-BE49-F238E27FC236}">
                <a16:creationId xmlns:a16="http://schemas.microsoft.com/office/drawing/2014/main" id="{E7D77AC3-9C39-AB42-EA6D-F27D7C247D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4" name="Picture 4" descr="Home">
            <a:extLst>
              <a:ext uri="{FF2B5EF4-FFF2-40B4-BE49-F238E27FC236}">
                <a16:creationId xmlns:a16="http://schemas.microsoft.com/office/drawing/2014/main" id="{72E55CA5-E477-C998-F723-C0BE7F096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B0AF4-83D6-8C5D-2498-25515B3E4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9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BE246-36DE-1254-C4BD-8207240F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C1DAFE-C413-1F45-11DF-F5144B40F648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Course on </a:t>
            </a:r>
            <a:r>
              <a:rPr lang="en-GB" sz="4800" b="1" err="1">
                <a:latin typeface="Geogrotesque Rg" panose="02000000000000000000" pitchFamily="2" charset="77"/>
              </a:rPr>
              <a:t>scRNA-seq</a:t>
            </a:r>
            <a:r>
              <a:rPr lang="en-GB" sz="4800" b="1">
                <a:latin typeface="Geogrotesque Rg" panose="02000000000000000000" pitchFamily="2" charset="77"/>
              </a:rPr>
              <a:t> Data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28E47-7947-D9DE-47BF-B60B8172E491}"/>
              </a:ext>
            </a:extLst>
          </p:cNvPr>
          <p:cNvSpPr txBox="1"/>
          <p:nvPr/>
        </p:nvSpPr>
        <p:spPr>
          <a:xfrm>
            <a:off x="735724" y="1334813"/>
            <a:ext cx="229101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25331"/>
                </a:solidFill>
                <a:latin typeface="Geogrotesque Rg" panose="02000000000000000000" pitchFamily="2" charset="77"/>
              </a:rPr>
              <a:t>Trainers</a:t>
            </a:r>
          </a:p>
          <a:p>
            <a:endParaRPr lang="en-US" sz="2400">
              <a:solidFill>
                <a:srgbClr val="F25331"/>
              </a:solidFill>
              <a:latin typeface="Geogrotesque Rg" panose="02000000000000000000" pitchFamily="2" charset="7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Jan </a:t>
            </a:r>
            <a:r>
              <a:rPr lang="en-US" altLang="en-US" sz="2400" err="1">
                <a:solidFill>
                  <a:srgbClr val="222222"/>
                </a:solidFill>
                <a:latin typeface="Geogrotesque Rg" panose="02000000000000000000" pitchFamily="2" charset="77"/>
              </a:rPr>
              <a:t>Kubovčiak</a:t>
            </a: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Mathys Delattre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Vojtěch Melichar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Lucie </a:t>
            </a:r>
            <a:r>
              <a:rPr lang="en-US" altLang="en-US" sz="2400" err="1">
                <a:solidFill>
                  <a:srgbClr val="222222"/>
                </a:solidFill>
                <a:latin typeface="Geogrotesque Rg" panose="02000000000000000000" pitchFamily="2" charset="77"/>
              </a:rPr>
              <a:t>Pfeiferová</a:t>
            </a: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Michal Kolář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8D813-EC65-2F3F-D7FA-E6155D2BDC1E}"/>
              </a:ext>
            </a:extLst>
          </p:cNvPr>
          <p:cNvSpPr txBox="1"/>
          <p:nvPr/>
        </p:nvSpPr>
        <p:spPr>
          <a:xfrm>
            <a:off x="735724" y="4499000"/>
            <a:ext cx="26278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rgbClr val="F25331"/>
                </a:solidFill>
                <a:latin typeface="Geogrotesque Rg" panose="02000000000000000000" pitchFamily="2" charset="77"/>
              </a:rPr>
              <a:t>Helpers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Eva </a:t>
            </a:r>
            <a:r>
              <a:rPr lang="en-US" altLang="en-US" sz="2400" err="1">
                <a:solidFill>
                  <a:srgbClr val="222222"/>
                </a:solidFill>
                <a:latin typeface="Geogrotesque Rg" panose="02000000000000000000" pitchFamily="2" charset="77"/>
              </a:rPr>
              <a:t>Rohlová</a:t>
            </a: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Kateřina </a:t>
            </a:r>
            <a:r>
              <a:rPr lang="en-US" altLang="en-US" sz="2400" err="1">
                <a:solidFill>
                  <a:srgbClr val="222222"/>
                </a:solidFill>
                <a:latin typeface="Geogrotesque Rg" panose="02000000000000000000" pitchFamily="2" charset="77"/>
              </a:rPr>
              <a:t>Večerková</a:t>
            </a: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F0D5C5-D11E-9D10-FD4D-560F380EC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908" y="1170537"/>
            <a:ext cx="1612900" cy="2425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CA8EA5-1787-C35C-1095-7F3C1E73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294" y="1397685"/>
            <a:ext cx="1612900" cy="2425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D9AF72-5547-FCCD-8008-CE9C32E13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522" y="1369328"/>
            <a:ext cx="1612900" cy="2425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A6BBEA-890B-7CB3-05C9-CCB061F8B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109" y="1405481"/>
            <a:ext cx="1612900" cy="2425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6B4FD7C-81EA-624F-A003-ABFCD3CC1C00}"/>
              </a:ext>
            </a:extLst>
          </p:cNvPr>
          <p:cNvSpPr/>
          <p:nvPr/>
        </p:nvSpPr>
        <p:spPr>
          <a:xfrm>
            <a:off x="4376828" y="3537674"/>
            <a:ext cx="7733655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FC1E5B-C6C4-FE81-0065-BCA5E7A63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908" y="4149109"/>
            <a:ext cx="1612900" cy="2425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DF2859-1EBA-A1FE-81A8-4B3B33DFBAD5}"/>
              </a:ext>
            </a:extLst>
          </p:cNvPr>
          <p:cNvSpPr/>
          <p:nvPr/>
        </p:nvSpPr>
        <p:spPr>
          <a:xfrm>
            <a:off x="4404294" y="935594"/>
            <a:ext cx="7570180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Photo">
            <a:extLst>
              <a:ext uri="{FF2B5EF4-FFF2-40B4-BE49-F238E27FC236}">
                <a16:creationId xmlns:a16="http://schemas.microsoft.com/office/drawing/2014/main" id="{149DF622-A3C9-1699-9680-6F40654C3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294" y="4103448"/>
            <a:ext cx="161290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hoto">
            <a:extLst>
              <a:ext uri="{FF2B5EF4-FFF2-40B4-BE49-F238E27FC236}">
                <a16:creationId xmlns:a16="http://schemas.microsoft.com/office/drawing/2014/main" id="{E853867C-6A45-5913-281D-83B66190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522" y="4155459"/>
            <a:ext cx="16129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AFA5620-7DD1-255D-BF71-4A4D08700026}"/>
              </a:ext>
            </a:extLst>
          </p:cNvPr>
          <p:cNvSpPr/>
          <p:nvPr/>
        </p:nvSpPr>
        <p:spPr>
          <a:xfrm>
            <a:off x="4343567" y="6287856"/>
            <a:ext cx="7570180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06ECD-3E39-49FE-8439-75B7CEF8B1DF}"/>
              </a:ext>
            </a:extLst>
          </p:cNvPr>
          <p:cNvSpPr/>
          <p:nvPr/>
        </p:nvSpPr>
        <p:spPr>
          <a:xfrm>
            <a:off x="4194972" y="3729647"/>
            <a:ext cx="7570180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7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97D06-858B-B751-3365-31D6A2E4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F7436A-FF53-06DE-81DC-A92BF62D6314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0E63A-E1B4-ADA2-4B87-E004576B20B9}"/>
              </a:ext>
            </a:extLst>
          </p:cNvPr>
          <p:cNvSpPr txBox="1"/>
          <p:nvPr/>
        </p:nvSpPr>
        <p:spPr>
          <a:xfrm>
            <a:off x="735723" y="1197683"/>
            <a:ext cx="10556053" cy="243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u="none" strike="noStrike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 </a:t>
            </a:r>
            <a:r>
              <a:rPr lang="en-GB" sz="2400" b="1" i="0" u="none" strike="noStrike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Communication</a:t>
            </a:r>
          </a:p>
          <a:p>
            <a:endParaRPr lang="en-GB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Slack channel (</a:t>
            </a:r>
            <a:r>
              <a:rPr lang="en-US" altLang="en-US" sz="2400">
                <a:solidFill>
                  <a:srgbClr val="0089D1"/>
                </a:solidFill>
                <a:latin typeface="Geogrotesque Rg" panose="02000000000000000000" pitchFamily="2" charset="77"/>
              </a:rPr>
              <a:t>pythonbasicsa-ork1067.slack.com</a:t>
            </a:r>
            <a:r>
              <a:rPr lang="en-GB" sz="2400">
                <a:latin typeface="Geogrotesque Rg" panose="02000000000000000000" pitchFamily="2" charset="77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GitHub page (</a:t>
            </a:r>
            <a:r>
              <a:rPr lang="en-US" altLang="en-US" sz="2400" err="1">
                <a:solidFill>
                  <a:srgbClr val="0089D1"/>
                </a:solidFill>
                <a:latin typeface="Geogrotesque Rg" panose="02000000000000000000" pitchFamily="2" charset="77"/>
              </a:rPr>
              <a:t>github.com</a:t>
            </a:r>
            <a:r>
              <a:rPr lang="en-US" altLang="en-US" sz="2400">
                <a:solidFill>
                  <a:srgbClr val="0089D1"/>
                </a:solidFill>
                <a:latin typeface="Geogrotesque Rg" panose="02000000000000000000" pitchFamily="2" charset="77"/>
              </a:rPr>
              <a:t>/</a:t>
            </a:r>
            <a:r>
              <a:rPr lang="en-US" altLang="en-US" sz="2400" err="1">
                <a:solidFill>
                  <a:srgbClr val="0089D1"/>
                </a:solidFill>
                <a:latin typeface="Geogrotesque Rg" panose="02000000000000000000" pitchFamily="2" charset="77"/>
              </a:rPr>
              <a:t>bioinfocz</a:t>
            </a:r>
            <a:r>
              <a:rPr lang="en-US" altLang="en-US" sz="2400">
                <a:solidFill>
                  <a:srgbClr val="0089D1"/>
                </a:solidFill>
                <a:latin typeface="Geogrotesque Rg" panose="02000000000000000000" pitchFamily="2" charset="77"/>
              </a:rPr>
              <a:t>/IMG-Statistics-in-Python-Course</a:t>
            </a:r>
            <a:r>
              <a:rPr lang="en-US" altLang="en-US" sz="2400">
                <a:latin typeface="Geogrotesque Rg" panose="02000000000000000000" pitchFamily="2" charset="77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In person ;-)</a:t>
            </a:r>
          </a:p>
        </p:txBody>
      </p:sp>
    </p:spTree>
    <p:extLst>
      <p:ext uri="{BB962C8B-B14F-4D97-AF65-F5344CB8AC3E}">
        <p14:creationId xmlns:p14="http://schemas.microsoft.com/office/powerpoint/2010/main" val="273134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366AC-FB80-4133-5365-5F4B8D9D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CD0AD7-A045-91F7-5776-98E19BE6B7AB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61458-B035-A19A-2B4F-787F4A3A8242}"/>
              </a:ext>
            </a:extLst>
          </p:cNvPr>
          <p:cNvSpPr txBox="1"/>
          <p:nvPr/>
        </p:nvSpPr>
        <p:spPr>
          <a:xfrm>
            <a:off x="735724" y="1197683"/>
            <a:ext cx="103001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Morning: Data </a:t>
            </a:r>
            <a:r>
              <a:rPr lang="en-US" altLang="en-US" sz="2400" err="1">
                <a:solidFill>
                  <a:srgbClr val="222222"/>
                </a:solidFill>
                <a:latin typeface="Geogrotesque Rg" panose="02000000000000000000" pitchFamily="2" charset="77"/>
              </a:rPr>
              <a:t>Visualisation</a:t>
            </a: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 &amp; Exploration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09:30 – 09:40	Welcome &amp; course overview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09:40 – 10:10	Lecture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10:10 – 11:40	Hands-on session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11:40 – 12:40	Lunch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Afternoon: Distributions &amp; Hypothesis Testing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222222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12:40 – 14:10	Lecture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14:10 – 15:10	Hands-on session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15:10 – 15:25	Break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222222"/>
                </a:solidFill>
                <a:latin typeface="Geogrotesque Rg" panose="02000000000000000000" pitchFamily="2" charset="77"/>
              </a:rPr>
              <a:t>15:25 – 16:25	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50170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938F8-189E-43D9-8181-25D88594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DA5293-0C9D-865B-2B4E-EFB7082FC248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B504B-5182-D31C-B05E-A7631B5B59BA}"/>
              </a:ext>
            </a:extLst>
          </p:cNvPr>
          <p:cNvSpPr txBox="1"/>
          <p:nvPr/>
        </p:nvSpPr>
        <p:spPr>
          <a:xfrm>
            <a:off x="735724" y="1449931"/>
            <a:ext cx="103001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err="1">
                <a:latin typeface="Geogrotesque Rg" panose="02000000000000000000" pitchFamily="2" charset="77"/>
              </a:rPr>
              <a:t>Eduroam</a:t>
            </a:r>
            <a:r>
              <a:rPr lang="en-GB" sz="2400">
                <a:latin typeface="Geogrotesque Rg" panose="02000000000000000000" pitchFamily="2" charset="77"/>
              </a:rPr>
              <a:t> </a:t>
            </a:r>
            <a:r>
              <a:rPr lang="en-GB" sz="2400" err="1">
                <a:latin typeface="Geogrotesque Rg" panose="02000000000000000000" pitchFamily="2" charset="77"/>
              </a:rPr>
              <a:t>WiFi</a:t>
            </a:r>
            <a:r>
              <a:rPr lang="en-GB" sz="2400">
                <a:latin typeface="Geogrotesque Rg" panose="02000000000000000000" pitchFamily="2" charset="77"/>
              </a:rPr>
              <a:t> is preferred</a:t>
            </a:r>
          </a:p>
          <a:p>
            <a:r>
              <a:rPr lang="en-US" sz="2400">
                <a:latin typeface="Geogrotesque Rg" panose="02000000000000000000" pitchFamily="2" charset="77"/>
              </a:rPr>
              <a:t>     Free </a:t>
            </a:r>
            <a:r>
              <a:rPr lang="en-US" sz="2400" err="1">
                <a:latin typeface="Geogrotesque Rg" panose="02000000000000000000" pitchFamily="2" charset="77"/>
              </a:rPr>
              <a:t>WiFi</a:t>
            </a:r>
            <a:r>
              <a:rPr lang="en-US" sz="2400">
                <a:latin typeface="Geogrotesque Rg" panose="02000000000000000000" pitchFamily="2" charset="77"/>
              </a:rPr>
              <a:t> is an alternative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Geogrotesque Rg" panose="02000000000000000000" pitchFamily="2" charset="77"/>
              </a:rPr>
              <a:t>AC sockets are below the desks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89D1"/>
                </a:solidFill>
                <a:latin typeface="Geogrotesque Rg" panose="02000000000000000000" pitchFamily="2" charset="77"/>
              </a:rPr>
              <a:t>Please sign the attendance list </a:t>
            </a:r>
            <a:r>
              <a:rPr lang="en-US" sz="2400">
                <a:solidFill>
                  <a:srgbClr val="0089D1"/>
                </a:solidFill>
                <a:latin typeface="Geogrotesque Rg" panose="02000000000000000000" pitchFamily="2" charset="77"/>
                <a:sym typeface="Wingdings" pitchFamily="2" charset="2"/>
              </a:rPr>
              <a:t></a:t>
            </a:r>
            <a:endParaRPr lang="en-US" sz="2400">
              <a:solidFill>
                <a:srgbClr val="0089D1"/>
              </a:solidFill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25331"/>
                </a:solidFill>
                <a:latin typeface="Geogrotesque Rg" panose="02000000000000000000" pitchFamily="2" charset="77"/>
              </a:rPr>
              <a:t>Any technical difficulties?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Geogrotesque Rg" panose="02000000000000000000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25331"/>
                </a:solidFill>
                <a:latin typeface="Geogrotesque Rg" panose="02000000000000000000" pitchFamily="2" charset="77"/>
              </a:rPr>
              <a:t>Any specific requirements?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53C0D9-F3BB-C2BF-10A3-5A78D865F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951415" y="1701229"/>
            <a:ext cx="6240585" cy="515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4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E138E-15FE-DB15-AA72-54D206A0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EA648E-A761-24DD-C2F1-D95DA89B29CD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/>
              <a:t>Introduction round</a:t>
            </a:r>
            <a:endParaRPr lang="en-GB" sz="4800" b="1">
              <a:latin typeface="Geogrotesque Rg" panose="02000000000000000000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D4486-52D0-52F7-84A9-A42A0BE1CB20}"/>
              </a:ext>
            </a:extLst>
          </p:cNvPr>
          <p:cNvSpPr txBox="1"/>
          <p:nvPr/>
        </p:nvSpPr>
        <p:spPr>
          <a:xfrm>
            <a:off x="735724" y="1449931"/>
            <a:ext cx="10300138" cy="169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latin typeface="Geogrotesque Rg" panose="02000000000000000000" pitchFamily="2" charset="77"/>
              </a:rPr>
              <a:t>Your name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latin typeface="Geogrotesque Rg" panose="02000000000000000000" pitchFamily="2" charset="77"/>
              </a:rPr>
              <a:t>What do you do?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latin typeface="Geogrotesque Rg" panose="02000000000000000000" pitchFamily="2" charset="77"/>
              </a:rPr>
              <a:t>Why you join the course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4FDF13-4666-67D9-E8EA-8349AF83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951415" y="1701229"/>
            <a:ext cx="6240585" cy="515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1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331</Words>
  <Application>Microsoft Macintosh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Geogrotesque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Kolar</dc:creator>
  <cp:lastModifiedBy>Michal Kolar</cp:lastModifiedBy>
  <cp:revision>28</cp:revision>
  <dcterms:created xsi:type="dcterms:W3CDTF">2025-04-22T20:44:21Z</dcterms:created>
  <dcterms:modified xsi:type="dcterms:W3CDTF">2026-06-03T05:25:47Z</dcterms:modified>
</cp:coreProperties>
</file>