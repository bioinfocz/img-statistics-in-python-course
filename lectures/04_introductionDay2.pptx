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0" r:id="rId2"/>
    <p:sldId id="256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89D1"/>
    <a:srgbClr val="C1C1C1"/>
    <a:srgbClr val="F25331"/>
    <a:srgbClr val="D6D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95"/>
    <p:restoredTop sz="94658"/>
  </p:normalViewPr>
  <p:slideViewPr>
    <p:cSldViewPr snapToGrid="0">
      <p:cViewPr varScale="1">
        <p:scale>
          <a:sx n="120" d="100"/>
          <a:sy n="120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77A6D-F593-284A-96A8-3648D07CF33C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1F501-9E02-634D-9587-A9D786DF2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63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F4BF-BB02-FC51-941E-507ECD8A7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2F6BE-A03C-3611-16B4-867172F9B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7865-A7F8-94CD-CFC5-2483782D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1B1E8-9BED-8D3C-74C4-BCDF126D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117B4-DE91-3DA9-80A9-C4535540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4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38AD-2201-E736-CF9E-AAEC7302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710D6-37F3-55EF-B72D-9CE6EF7F2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D2374-385C-07BA-41A2-3E453728C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BFA48-EFD3-C697-8D27-E9760618F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7BFB9-3987-3BAD-A76C-A98741FB8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6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F434D-4F5B-E97A-2A10-08EDE717F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D23C0-A548-619E-CAFC-F4CAF6FA5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5C2D9-C11F-27C8-7910-A6CE853C6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8DE5E-7DB8-A2B9-4FC2-A08382C2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F4540-4A3C-8506-C428-F1E3E787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645D-1BD5-4FAF-ADD9-663EAED9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016F-C82A-1E42-1F14-1589FF62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F78DA-9AAE-4215-56C9-5EF67848D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587D6-F266-DACF-943B-082BF70D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3146E-858B-13C4-C960-707B9504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1372F-7255-AAB7-2CEC-FEB61304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4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95D78-EEEE-02E5-C87C-DE72B7DC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308B0-E665-2E5A-887A-451A4B605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D6E22-335C-6658-665D-B9FF22632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6707C-D433-6577-6AAF-D7E4E855D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8CD37-EA52-E056-CAC4-7B7BD43F6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76FB1-C01E-998B-9C27-79DAB34D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52E72-F0A1-9F93-D9C0-5BF62F10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CB278E-453A-3B6C-9950-295B6FBC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2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D846-CF96-0946-696D-B5F6EFEF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B34C0-2538-57D3-7543-21430F4C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EB57B-0081-CFBE-915B-DD29D231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FBD75-7413-AD61-F6A8-2B8D5FFF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9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6C0DBD-13F2-7B74-68CC-9CD32608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E354C1-FCEB-03E5-B3BA-589052592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A93C4-21AC-7C28-25CC-FB1D5698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8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A2B81-8AC3-8AB8-B608-B34FA6B9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93844-A27E-E43F-972E-BE334A6AC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38F9B-D51E-23E0-EF28-BD9D99F5F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4D298-E93A-6325-D575-A3B0BE27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F9D1A-16B9-0268-AF56-E0EE7623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68CC7-8E69-B80D-B627-BE78A188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6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8E97-BD1F-D79F-9B39-B49FBC5E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A7D629-D858-4788-643D-817AC9BEF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7901E-3656-2C8A-907E-8E9B1E98C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CDA41-9769-2F8B-9F19-10EC6711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F1278-816E-404A-AD94-A40FD373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51127-1527-4D39-39DB-C9CEFF8E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4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4AEE-8154-D11C-96A2-E1AD5531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417FB-C4D7-371B-EA5C-FDE29BF10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2E766-4284-89A3-DFAB-BF666B02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CB0D0-EB51-896C-AF9D-7FDED7CF4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9DC7C-9049-F500-17CB-CC44F105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6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1C5BA-F002-1D30-247C-421B8420C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7D0FE-81A3-F8AD-72CA-8C6AAF49F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25D8A-4571-1F0A-AE7D-28CF5C54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4CC85-DFFC-938B-2632-D89A0559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DA2E2-A023-5FD2-10A4-DC9F5475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0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D666D-BEF0-3D48-F649-92262BA5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7E08A-B88C-614A-5415-1514B43CD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D8B39-991D-7C1A-849C-2D7DAF7C1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61654-3C58-9D4C-A0CF-65E7B52779C7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03A10-5379-27C6-A028-22BCA81D7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61E9B-0EC7-3700-5DBB-E99760087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9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ib.swiss/training/course/20230620_STATP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3F796-22EB-DE98-079D-1754FCDF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838E48-FF40-0998-C509-9C0351614262}"/>
              </a:ext>
            </a:extLst>
          </p:cNvPr>
          <p:cNvSpPr txBox="1"/>
          <p:nvPr/>
        </p:nvSpPr>
        <p:spPr>
          <a:xfrm>
            <a:off x="735724" y="833606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C241F-663B-5012-929F-4659AD8746D7}"/>
              </a:ext>
            </a:extLst>
          </p:cNvPr>
          <p:cNvSpPr txBox="1"/>
          <p:nvPr/>
        </p:nvSpPr>
        <p:spPr>
          <a:xfrm>
            <a:off x="735723" y="1664603"/>
            <a:ext cx="11055783" cy="59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0" i="0" u="none" strike="noStrike" dirty="0">
                <a:solidFill>
                  <a:srgbClr val="222222"/>
                </a:solidFill>
                <a:effectLst/>
                <a:latin typeface="Geogrotesque Rg" panose="02000000000000000000" pitchFamily="2" charset="77"/>
              </a:rPr>
              <a:t>Based on the course </a:t>
            </a:r>
            <a:r>
              <a:rPr lang="en-US" sz="2400" dirty="0">
                <a:solidFill>
                  <a:srgbClr val="0089D1"/>
                </a:solidFill>
                <a:latin typeface="Geogrotesque Rg" panose="02000000000000000000" pitchFamily="2" charset="77"/>
                <a:hlinkClick r:id="rId2"/>
              </a:rPr>
              <a:t>https://www.sib.swiss/training/course/20230620_STATP</a:t>
            </a:r>
            <a:endParaRPr lang="en-US" sz="2400" dirty="0">
              <a:solidFill>
                <a:srgbClr val="0089D1"/>
              </a:solidFill>
              <a:latin typeface="Geogrotesque Rg" panose="02000000000000000000" pitchFamily="2" charset="77"/>
            </a:endParaRPr>
          </a:p>
        </p:txBody>
      </p:sp>
      <p:pic>
        <p:nvPicPr>
          <p:cNvPr id="4" name="Picture 7" descr="sib_logo_trans_background.png">
            <a:extLst>
              <a:ext uri="{FF2B5EF4-FFF2-40B4-BE49-F238E27FC236}">
                <a16:creationId xmlns:a16="http://schemas.microsoft.com/office/drawing/2014/main" id="{3DC57EF5-EEDD-9D45-60A3-75A22A63FA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990" y="5286242"/>
            <a:ext cx="2338126" cy="1266484"/>
          </a:xfrm>
          <a:prstGeom prst="rect">
            <a:avLst/>
          </a:prstGeom>
        </p:spPr>
      </p:pic>
      <p:pic>
        <p:nvPicPr>
          <p:cNvPr id="10" name="Picture 4" descr="Home">
            <a:extLst>
              <a:ext uri="{FF2B5EF4-FFF2-40B4-BE49-F238E27FC236}">
                <a16:creationId xmlns:a16="http://schemas.microsoft.com/office/drawing/2014/main" id="{1CC88E06-74C3-F7AC-82C3-58E1C0210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590" y="5345590"/>
            <a:ext cx="1525293" cy="114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hoto of Wandrille Duchemin">
            <a:extLst>
              <a:ext uri="{FF2B5EF4-FFF2-40B4-BE49-F238E27FC236}">
                <a16:creationId xmlns:a16="http://schemas.microsoft.com/office/drawing/2014/main" id="{7B700EF4-C7E7-A76B-B381-26B761365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625" y="3739554"/>
            <a:ext cx="1765288" cy="2264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62370B-FEBC-FE3A-C760-3E3E927DE5C8}"/>
              </a:ext>
            </a:extLst>
          </p:cNvPr>
          <p:cNvSpPr txBox="1"/>
          <p:nvPr/>
        </p:nvSpPr>
        <p:spPr>
          <a:xfrm>
            <a:off x="3401913" y="5162960"/>
            <a:ext cx="5287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grotesque Rg" panose="02000000000000000000" pitchFamily="2" charset="77"/>
              </a:rPr>
              <a:t>(Wandrille Duchemin. </a:t>
            </a:r>
          </a:p>
          <a:p>
            <a:r>
              <a:rPr lang="en-US" dirty="0">
                <a:latin typeface="Geogrotesque Rg" panose="02000000000000000000" pitchFamily="2" charset="77"/>
              </a:rPr>
              <a:t>Introduction to Statistics with Python</a:t>
            </a:r>
          </a:p>
          <a:p>
            <a:r>
              <a:rPr lang="en-US" dirty="0">
                <a:latin typeface="Geogrotesque Rg" panose="02000000000000000000" pitchFamily="2" charset="77"/>
              </a:rPr>
              <a:t>https://</a:t>
            </a:r>
            <a:r>
              <a:rPr lang="en-US" dirty="0" err="1">
                <a:latin typeface="Geogrotesque Rg" panose="02000000000000000000" pitchFamily="2" charset="77"/>
              </a:rPr>
              <a:t>doi.org</a:t>
            </a:r>
            <a:r>
              <a:rPr lang="en-US" dirty="0">
                <a:latin typeface="Geogrotesque Rg" panose="02000000000000000000" pitchFamily="2" charset="77"/>
              </a:rPr>
              <a:t>/10.5281/zenodo.15607543)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6D077F-F161-3E61-986D-1AD0EA557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5790" y="5624111"/>
            <a:ext cx="1532617" cy="59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27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86"/>
    </mc:Choice>
    <mc:Fallback>
      <p:transition spd="slow" advTm="27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6BD45AC-C97E-A4F5-028A-6ADD3274EDDB}"/>
              </a:ext>
            </a:extLst>
          </p:cNvPr>
          <p:cNvSpPr txBox="1"/>
          <p:nvPr/>
        </p:nvSpPr>
        <p:spPr>
          <a:xfrm>
            <a:off x="735724" y="262771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B94DEE-1854-8B51-2980-AAE282EDB872}"/>
              </a:ext>
            </a:extLst>
          </p:cNvPr>
          <p:cNvSpPr txBox="1"/>
          <p:nvPr/>
        </p:nvSpPr>
        <p:spPr>
          <a:xfrm>
            <a:off x="735724" y="1260741"/>
            <a:ext cx="10300138" cy="3360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222222"/>
                </a:solidFill>
                <a:effectLst/>
                <a:latin typeface="Geogrotesque Rg" panose="02000000000000000000" pitchFamily="2" charset="77"/>
              </a:rPr>
              <a:t>Session 1 – Data visualisation &amp; exploration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222222"/>
                </a:solidFill>
                <a:effectLst/>
                <a:latin typeface="Geogrotesque Rg" panose="02000000000000000000" pitchFamily="2" charset="77"/>
              </a:rPr>
              <a:t>Session 2 – Distributions &amp; hypothesis testing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Geogrotesque Rg" panose="02000000000000000000" pitchFamily="2" charset="77"/>
              </a:rPr>
              <a:t>Session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Geogrotesque Rg" panose="02000000000000000000" pitchFamily="2" charset="77"/>
              </a:rPr>
              <a:t> 3 –</a:t>
            </a:r>
            <a:r>
              <a:rPr lang="en-GB" sz="2400" dirty="0">
                <a:solidFill>
                  <a:srgbClr val="000000"/>
                </a:solidFill>
                <a:latin typeface="Geogrotesque Rg" panose="02000000000000000000" pitchFamily="2" charset="77"/>
              </a:rPr>
              <a:t> Statistical testing, continued </a:t>
            </a:r>
            <a:endParaRPr lang="en-GB" sz="2400" b="0" i="0" u="none" strike="noStrike" dirty="0">
              <a:solidFill>
                <a:srgbClr val="000000"/>
              </a:solidFill>
              <a:effectLst/>
              <a:latin typeface="Geogrotesque Rg" panose="02000000000000000000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Geogrotesque Rg" panose="02000000000000000000" pitchFamily="2" charset="77"/>
              </a:rPr>
              <a:t>Session 4 – Correlation &amp; regression</a:t>
            </a:r>
            <a:endParaRPr lang="en-GB" sz="2400" b="0" i="0" u="none" strike="noStrike" dirty="0">
              <a:solidFill>
                <a:srgbClr val="000000"/>
              </a:solidFill>
              <a:effectLst/>
              <a:latin typeface="Geogrotesque Rg" panose="02000000000000000000" pitchFamily="2" charset="77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Geogrotesque Rg" panose="02000000000000000000" pitchFamily="2" charset="77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89D1"/>
                </a:solidFill>
                <a:latin typeface="Geogrotesque Rg" panose="02000000000000000000" pitchFamily="2" charset="77"/>
              </a:rPr>
              <a:t>https://</a:t>
            </a:r>
            <a:r>
              <a:rPr lang="en-US" sz="2400" dirty="0" err="1">
                <a:solidFill>
                  <a:srgbClr val="0089D1"/>
                </a:solidFill>
                <a:latin typeface="Geogrotesque Rg" panose="02000000000000000000" pitchFamily="2" charset="77"/>
              </a:rPr>
              <a:t>www.elixir-czech.cz</a:t>
            </a:r>
            <a:r>
              <a:rPr lang="en-US" sz="2400" dirty="0">
                <a:solidFill>
                  <a:srgbClr val="0089D1"/>
                </a:solidFill>
                <a:latin typeface="Geogrotesque Rg" panose="02000000000000000000" pitchFamily="2" charset="77"/>
              </a:rPr>
              <a:t>/events/statistics-in-python-06-2026</a:t>
            </a:r>
          </a:p>
        </p:txBody>
      </p:sp>
      <p:pic>
        <p:nvPicPr>
          <p:cNvPr id="3" name="Picture 7" descr="sib_logo_trans_background.png">
            <a:extLst>
              <a:ext uri="{FF2B5EF4-FFF2-40B4-BE49-F238E27FC236}">
                <a16:creationId xmlns:a16="http://schemas.microsoft.com/office/drawing/2014/main" id="{D63BB630-B43C-FE0E-2ADB-2783A0E2D3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990" y="5286242"/>
            <a:ext cx="2338126" cy="1266484"/>
          </a:xfrm>
          <a:prstGeom prst="rect">
            <a:avLst/>
          </a:prstGeom>
        </p:spPr>
      </p:pic>
      <p:pic>
        <p:nvPicPr>
          <p:cNvPr id="4" name="Picture 4" descr="Home">
            <a:extLst>
              <a:ext uri="{FF2B5EF4-FFF2-40B4-BE49-F238E27FC236}">
                <a16:creationId xmlns:a16="http://schemas.microsoft.com/office/drawing/2014/main" id="{9FCF0235-221C-C0AB-B773-5595211FF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590" y="5345590"/>
            <a:ext cx="1525293" cy="114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8BFC5A-0373-0F72-5BD3-29A273CCC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790" y="5624111"/>
            <a:ext cx="1532617" cy="5907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85E5A6-6F6B-9171-40A5-6D722F165D5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7554775">
            <a:off x="7414303" y="1427203"/>
            <a:ext cx="1520411" cy="2435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784E73-E921-863B-04AD-883082AECA3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5111866">
            <a:off x="7120136" y="110106"/>
            <a:ext cx="1520411" cy="243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94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8"/>
    </mc:Choice>
    <mc:Fallback>
      <p:transition spd="slow" advTm="68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366AC-FB80-4133-5365-5F4B8D9D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3497581B-84F8-C059-A19D-C7F6B7BF9D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57"/>
          <a:stretch>
            <a:fillRect/>
          </a:stretch>
        </p:blipFill>
        <p:spPr bwMode="auto">
          <a:xfrm>
            <a:off x="-1" y="-1"/>
            <a:ext cx="3094075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03A06AB-A3A7-0453-F3F2-1F3774DE3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094074" y="0"/>
            <a:ext cx="12344400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CD0AD7-A045-91F7-5776-98E19BE6B7AB}"/>
              </a:ext>
            </a:extLst>
          </p:cNvPr>
          <p:cNvSpPr txBox="1"/>
          <p:nvPr/>
        </p:nvSpPr>
        <p:spPr>
          <a:xfrm>
            <a:off x="735724" y="183343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561458-B035-A19A-2B4F-787F4A3A8242}"/>
              </a:ext>
            </a:extLst>
          </p:cNvPr>
          <p:cNvSpPr txBox="1"/>
          <p:nvPr/>
        </p:nvSpPr>
        <p:spPr>
          <a:xfrm>
            <a:off x="735724" y="1014340"/>
            <a:ext cx="617543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eogrotesque Rg" panose="02000000000000000000" pitchFamily="2" charset="77"/>
              </a:rPr>
              <a:t>Morning: Statistical Testing, Continued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  <a:latin typeface="Geogrotesque Rg" panose="02000000000000000000" pitchFamily="2" charset="7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eogrotesque Rg" panose="02000000000000000000" pitchFamily="2" charset="77"/>
              </a:rPr>
              <a:t>09:30 – 10:30	Lecture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eogrotesque Rg" panose="02000000000000000000" pitchFamily="2" charset="77"/>
              </a:rPr>
              <a:t>10:30 – 11:15	Hands-on session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eogrotesque Rg" panose="02000000000000000000" pitchFamily="2" charset="77"/>
              </a:rPr>
              <a:t>11:15 – 11:30	Break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eogrotesque Rg" panose="02000000000000000000" pitchFamily="2" charset="77"/>
              </a:rPr>
              <a:t>11:30 – 12:15	Hands-on session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eogrotesque Rg" panose="02000000000000000000" pitchFamily="2" charset="77"/>
              </a:rPr>
              <a:t>12:15 – 13:15	Lunch &amp; Group photo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  <a:latin typeface="Geogrotesque Rg" panose="02000000000000000000" pitchFamily="2" charset="7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eogrotesque Rg" panose="02000000000000000000" pitchFamily="2" charset="77"/>
              </a:rPr>
              <a:t>Afternoon: Correlation &amp; Regression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  <a:latin typeface="Geogrotesque Rg" panose="02000000000000000000" pitchFamily="2" charset="7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eogrotesque Rg" panose="02000000000000000000" pitchFamily="2" charset="77"/>
              </a:rPr>
              <a:t>13:15 – 13:45	Lecture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eogrotesque Rg" panose="02000000000000000000" pitchFamily="2" charset="77"/>
              </a:rPr>
              <a:t>13:45 – 14:45	Hands-on session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eogrotesque Rg" panose="02000000000000000000" pitchFamily="2" charset="77"/>
              </a:rPr>
              <a:t>14:45 – 15:00	Break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eogrotesque Rg" panose="02000000000000000000" pitchFamily="2" charset="77"/>
              </a:rPr>
              <a:t>15:00 – 16:00	Hands-on session</a:t>
            </a:r>
          </a:p>
        </p:txBody>
      </p:sp>
    </p:spTree>
    <p:extLst>
      <p:ext uri="{BB962C8B-B14F-4D97-AF65-F5344CB8AC3E}">
        <p14:creationId xmlns:p14="http://schemas.microsoft.com/office/powerpoint/2010/main" val="501702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1"/>
    </mc:Choice>
    <mc:Fallback>
      <p:transition spd="slow" advTm="45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153</Words>
  <Application>Microsoft Macintosh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Geogrotesque Rg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 Kolar</dc:creator>
  <cp:lastModifiedBy>Michal Kolar</cp:lastModifiedBy>
  <cp:revision>31</cp:revision>
  <dcterms:created xsi:type="dcterms:W3CDTF">2025-04-22T20:44:21Z</dcterms:created>
  <dcterms:modified xsi:type="dcterms:W3CDTF">2026-06-03T15:56:33Z</dcterms:modified>
</cp:coreProperties>
</file>