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Lst>
  <p:notesMasterIdLst>
    <p:notesMasterId r:id="rId33"/>
  </p:notesMasterIdLst>
  <p:sldIdLst>
    <p:sldId id="500" r:id="rId3"/>
    <p:sldId id="501" r:id="rId4"/>
    <p:sldId id="516" r:id="rId5"/>
    <p:sldId id="502" r:id="rId6"/>
    <p:sldId id="517" r:id="rId7"/>
    <p:sldId id="503" r:id="rId8"/>
    <p:sldId id="519" r:id="rId9"/>
    <p:sldId id="504" r:id="rId10"/>
    <p:sldId id="505" r:id="rId11"/>
    <p:sldId id="258" r:id="rId12"/>
    <p:sldId id="259" r:id="rId13"/>
    <p:sldId id="260" r:id="rId14"/>
    <p:sldId id="261" r:id="rId15"/>
    <p:sldId id="262" r:id="rId16"/>
    <p:sldId id="263" r:id="rId17"/>
    <p:sldId id="264" r:id="rId18"/>
    <p:sldId id="265" r:id="rId19"/>
    <p:sldId id="518" r:id="rId20"/>
    <p:sldId id="266" r:id="rId21"/>
    <p:sldId id="267" r:id="rId22"/>
    <p:sldId id="508" r:id="rId23"/>
    <p:sldId id="512" r:id="rId24"/>
    <p:sldId id="513" r:id="rId25"/>
    <p:sldId id="514" r:id="rId26"/>
    <p:sldId id="515" r:id="rId27"/>
    <p:sldId id="509" r:id="rId28"/>
    <p:sldId id="506" r:id="rId29"/>
    <p:sldId id="507" r:id="rId30"/>
    <p:sldId id="510" r:id="rId31"/>
    <p:sldId id="51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9D1"/>
    <a:srgbClr val="F2533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74110"/>
  </p:normalViewPr>
  <p:slideViewPr>
    <p:cSldViewPr snapToGrid="0">
      <p:cViewPr varScale="1">
        <p:scale>
          <a:sx n="92" d="100"/>
          <a:sy n="92" d="100"/>
        </p:scale>
        <p:origin x="18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C996B-914B-5148-85F1-ACCBABE58BEE}" type="datetimeFigureOut">
              <a:rPr lang="en-US" smtClean="0"/>
              <a:t>7/1/26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0852B2-2108-A947-8403-D1973C51B1E5}" type="slidenum">
              <a:rPr lang="en-US" smtClean="0"/>
              <a:t>‹#›</a:t>
            </a:fld>
            <a:endParaRPr lang="en-US"/>
          </a:p>
        </p:txBody>
      </p:sp>
    </p:spTree>
    <p:extLst>
      <p:ext uri="{BB962C8B-B14F-4D97-AF65-F5344CB8AC3E}">
        <p14:creationId xmlns:p14="http://schemas.microsoft.com/office/powerpoint/2010/main" val="40813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theory lecture for </a:t>
            </a:r>
          </a:p>
          <a:p>
            <a:endParaRPr lang="en-US" dirty="0"/>
          </a:p>
          <a:p>
            <a:r>
              <a:rPr lang="en-US" dirty="0"/>
              <a:t>Practical Session 1 (`01_exploratory_data_analysis.ipynb`). </a:t>
            </a:r>
          </a:p>
          <a:p>
            <a:endParaRPr lang="en-US" dirty="0"/>
          </a:p>
          <a:p>
            <a:r>
              <a:rPr lang="en-US" dirty="0"/>
              <a:t>Structured as slide content + speaker notes. </a:t>
            </a:r>
          </a:p>
          <a:p>
            <a:endParaRPr lang="en-US" dirty="0"/>
          </a:p>
          <a:p>
            <a:r>
              <a:rPr lang="en-US" dirty="0"/>
              <a:t>Part I is the general introduction (3 slides); </a:t>
            </a:r>
          </a:p>
          <a:p>
            <a:r>
              <a:rPr lang="en-US" dirty="0"/>
              <a:t>Part II walks through the concepts students will use in the notebook.</a:t>
            </a:r>
          </a:p>
          <a:p>
            <a:endParaRPr lang="en-US" dirty="0"/>
          </a:p>
        </p:txBody>
      </p:sp>
      <p:sp>
        <p:nvSpPr>
          <p:cNvPr id="4" name="Slide Number Placeholder 3"/>
          <p:cNvSpPr>
            <a:spLocks noGrp="1"/>
          </p:cNvSpPr>
          <p:nvPr>
            <p:ph type="sldNum" sz="quarter" idx="10"/>
          </p:nvPr>
        </p:nvSpPr>
        <p:spPr/>
        <p:txBody>
          <a:bodyPr/>
          <a:lstStyle/>
          <a:p>
            <a:fld id="{5F85B3B6-0D1D-4AF2-A283-5E0C73008F17}" type="slidenum">
              <a:rPr lang="en-US" smtClean="0"/>
              <a:t>1</a:t>
            </a:fld>
            <a:endParaRPr lang="en-US"/>
          </a:p>
        </p:txBody>
      </p:sp>
    </p:spTree>
    <p:extLst>
      <p:ext uri="{BB962C8B-B14F-4D97-AF65-F5344CB8AC3E}">
        <p14:creationId xmlns:p14="http://schemas.microsoft.com/office/powerpoint/2010/main" val="385567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F0592-CF96-A03F-6264-8BAE9BC81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DAB8B-70A2-997A-11D7-DCEB3B22A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2F2A6-F343-0BB5-43D3-BFBBE2E15DC9}"/>
              </a:ext>
            </a:extLst>
          </p:cNvPr>
          <p:cNvSpPr>
            <a:spLocks noGrp="1"/>
          </p:cNvSpPr>
          <p:nvPr>
            <p:ph type="body" idx="1"/>
          </p:nvPr>
        </p:nvSpPr>
        <p:spPr/>
        <p:txBody>
          <a:bodyPr/>
          <a:lstStyle/>
          <a:p>
            <a:r>
              <a:rPr lang="en-US" dirty="0"/>
              <a:t>Companion theory lecture for </a:t>
            </a:r>
          </a:p>
          <a:p>
            <a:endParaRPr lang="en-US" dirty="0"/>
          </a:p>
          <a:p>
            <a:r>
              <a:rPr lang="en-US" dirty="0"/>
              <a:t>Practical Session 1 (`01_exploratory_data_analysis.ipynb`). </a:t>
            </a:r>
          </a:p>
          <a:p>
            <a:endParaRPr lang="en-US" dirty="0"/>
          </a:p>
          <a:p>
            <a:r>
              <a:rPr lang="en-US" dirty="0"/>
              <a:t>Structured as slide content + speaker notes. </a:t>
            </a:r>
          </a:p>
          <a:p>
            <a:endParaRPr lang="en-US" dirty="0"/>
          </a:p>
          <a:p>
            <a:r>
              <a:rPr lang="en-US" dirty="0"/>
              <a:t>Part I is the general introduction (3 slides); </a:t>
            </a:r>
          </a:p>
          <a:p>
            <a:r>
              <a:rPr lang="en-US" dirty="0"/>
              <a:t>Part II walks through the concepts students will use in the notebook.</a:t>
            </a:r>
          </a:p>
          <a:p>
            <a:endParaRPr lang="en-US" dirty="0"/>
          </a:p>
        </p:txBody>
      </p:sp>
      <p:sp>
        <p:nvSpPr>
          <p:cNvPr id="4" name="Slide Number Placeholder 3">
            <a:extLst>
              <a:ext uri="{FF2B5EF4-FFF2-40B4-BE49-F238E27FC236}">
                <a16:creationId xmlns:a16="http://schemas.microsoft.com/office/drawing/2014/main" id="{E9EF444F-A24D-16E6-6564-D5D8ECA420AA}"/>
              </a:ext>
            </a:extLst>
          </p:cNvPr>
          <p:cNvSpPr>
            <a:spLocks noGrp="1"/>
          </p:cNvSpPr>
          <p:nvPr>
            <p:ph type="sldNum" sz="quarter" idx="10"/>
          </p:nvPr>
        </p:nvSpPr>
        <p:spPr/>
        <p:txBody>
          <a:bodyPr/>
          <a:lstStyle/>
          <a:p>
            <a:fld id="{5F85B3B6-0D1D-4AF2-A283-5E0C73008F17}" type="slidenum">
              <a:rPr lang="en-US" smtClean="0"/>
              <a:t>2</a:t>
            </a:fld>
            <a:endParaRPr lang="en-US"/>
          </a:p>
        </p:txBody>
      </p:sp>
    </p:spTree>
    <p:extLst>
      <p:ext uri="{BB962C8B-B14F-4D97-AF65-F5344CB8AC3E}">
        <p14:creationId xmlns:p14="http://schemas.microsoft.com/office/powerpoint/2010/main" val="1265525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0B504-5CCF-D2F5-ED72-8085254DEA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D834B-0A14-21ED-3105-3E6C97607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E65D6-33D3-9DB0-FE81-072CB1E67C1E}"/>
              </a:ext>
            </a:extLst>
          </p:cNvPr>
          <p:cNvSpPr>
            <a:spLocks noGrp="1"/>
          </p:cNvSpPr>
          <p:nvPr>
            <p:ph type="body" idx="1"/>
          </p:nvPr>
        </p:nvSpPr>
        <p:spPr/>
        <p:txBody>
          <a:bodyPr/>
          <a:lstStyle/>
          <a:p>
            <a:r>
              <a:rPr lang="en-US" dirty="0"/>
              <a:t>Companion theory lecture for </a:t>
            </a:r>
          </a:p>
          <a:p>
            <a:endParaRPr lang="en-US" dirty="0"/>
          </a:p>
          <a:p>
            <a:r>
              <a:rPr lang="en-US" dirty="0"/>
              <a:t>Practical Session 1 (`01_exploratory_data_analysis.ipynb`). </a:t>
            </a:r>
          </a:p>
          <a:p>
            <a:endParaRPr lang="en-US" dirty="0"/>
          </a:p>
          <a:p>
            <a:r>
              <a:rPr lang="en-US" dirty="0"/>
              <a:t>Structured as slide content + speaker notes. </a:t>
            </a:r>
          </a:p>
          <a:p>
            <a:endParaRPr lang="en-US" dirty="0"/>
          </a:p>
          <a:p>
            <a:r>
              <a:rPr lang="en-US" dirty="0"/>
              <a:t>Part I is the general introduction (3 slides); </a:t>
            </a:r>
          </a:p>
          <a:p>
            <a:r>
              <a:rPr lang="en-US" dirty="0"/>
              <a:t>Part II walks through the concepts students will use in the notebook.</a:t>
            </a:r>
          </a:p>
          <a:p>
            <a:endParaRPr lang="en-US" dirty="0"/>
          </a:p>
        </p:txBody>
      </p:sp>
      <p:sp>
        <p:nvSpPr>
          <p:cNvPr id="4" name="Slide Number Placeholder 3">
            <a:extLst>
              <a:ext uri="{FF2B5EF4-FFF2-40B4-BE49-F238E27FC236}">
                <a16:creationId xmlns:a16="http://schemas.microsoft.com/office/drawing/2014/main" id="{69F8CE25-B3FA-588F-959E-1ADF60885B78}"/>
              </a:ext>
            </a:extLst>
          </p:cNvPr>
          <p:cNvSpPr>
            <a:spLocks noGrp="1"/>
          </p:cNvSpPr>
          <p:nvPr>
            <p:ph type="sldNum" sz="quarter" idx="10"/>
          </p:nvPr>
        </p:nvSpPr>
        <p:spPr/>
        <p:txBody>
          <a:bodyPr/>
          <a:lstStyle/>
          <a:p>
            <a:fld id="{5F85B3B6-0D1D-4AF2-A283-5E0C73008F17}" type="slidenum">
              <a:rPr lang="en-US" smtClean="0"/>
              <a:t>3</a:t>
            </a:fld>
            <a:endParaRPr lang="en-US"/>
          </a:p>
        </p:txBody>
      </p:sp>
    </p:spTree>
    <p:extLst>
      <p:ext uri="{BB962C8B-B14F-4D97-AF65-F5344CB8AC3E}">
        <p14:creationId xmlns:p14="http://schemas.microsoft.com/office/powerpoint/2010/main" val="3993939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Covariance measures co-movement but in mixed units; dividing by the two SDs standardises it to [−1, 1]. Hammer 'linear only': r = 0 means no linear association, not independence. The Datasaurus / Anscombe examples — wildly different scatterplots with near-identical r — prove a single number never replaces the plot.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9DED6-A1E1-B3BD-587D-6CE5C73D1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55AF9F-1E2C-1BCC-A987-F20F260173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EB8F0E-A61D-DDF2-8FE8-2562B49B8B66}"/>
              </a:ext>
            </a:extLst>
          </p:cNvPr>
          <p:cNvSpPr>
            <a:spLocks noGrp="1"/>
          </p:cNvSpPr>
          <p:nvPr>
            <p:ph type="body" idx="1"/>
          </p:nvPr>
        </p:nvSpPr>
        <p:spPr/>
        <p:txBody>
          <a:bodyPr/>
          <a:lstStyle/>
          <a:p>
            <a:r>
              <a:rPr lang="en-US" dirty="0"/>
              <a:t>Companion theory lecture for </a:t>
            </a:r>
          </a:p>
          <a:p>
            <a:endParaRPr lang="en-US" dirty="0"/>
          </a:p>
          <a:p>
            <a:r>
              <a:rPr lang="en-US" dirty="0"/>
              <a:t>Practical Session 1 (`01_exploratory_data_analysis.ipynb`). </a:t>
            </a:r>
          </a:p>
          <a:p>
            <a:endParaRPr lang="en-US" dirty="0"/>
          </a:p>
          <a:p>
            <a:r>
              <a:rPr lang="en-US" dirty="0"/>
              <a:t>Structured as slide content + speaker notes. </a:t>
            </a:r>
          </a:p>
          <a:p>
            <a:endParaRPr lang="en-US" dirty="0"/>
          </a:p>
          <a:p>
            <a:r>
              <a:rPr lang="en-US" dirty="0"/>
              <a:t>Part I is the general introduction (3 slides); </a:t>
            </a:r>
          </a:p>
          <a:p>
            <a:r>
              <a:rPr lang="en-US" dirty="0"/>
              <a:t>Part II walks through the concepts students will use in the notebook.</a:t>
            </a:r>
          </a:p>
          <a:p>
            <a:endParaRPr lang="en-US" dirty="0"/>
          </a:p>
        </p:txBody>
      </p:sp>
      <p:sp>
        <p:nvSpPr>
          <p:cNvPr id="4" name="Slide Number Placeholder 3">
            <a:extLst>
              <a:ext uri="{FF2B5EF4-FFF2-40B4-BE49-F238E27FC236}">
                <a16:creationId xmlns:a16="http://schemas.microsoft.com/office/drawing/2014/main" id="{3233E159-1078-FE2F-E0F0-6EDA46781A72}"/>
              </a:ext>
            </a:extLst>
          </p:cNvPr>
          <p:cNvSpPr>
            <a:spLocks noGrp="1"/>
          </p:cNvSpPr>
          <p:nvPr>
            <p:ph type="sldNum" sz="quarter" idx="10"/>
          </p:nvPr>
        </p:nvSpPr>
        <p:spPr/>
        <p:txBody>
          <a:bodyPr/>
          <a:lstStyle/>
          <a:p>
            <a:fld id="{5F85B3B6-0D1D-4AF2-A283-5E0C73008F17}" type="slidenum">
              <a:rPr lang="en-US" smtClean="0"/>
              <a:t>5</a:t>
            </a:fld>
            <a:endParaRPr lang="en-US"/>
          </a:p>
        </p:txBody>
      </p:sp>
    </p:spTree>
    <p:extLst>
      <p:ext uri="{BB962C8B-B14F-4D97-AF65-F5344CB8AC3E}">
        <p14:creationId xmlns:p14="http://schemas.microsoft.com/office/powerpoint/2010/main" val="58888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Spearman swaps values for ranks then runs Pearson, so a perfect monotonic curve scores ρ = 1 even when non-linear. Kendall counts how often pairs agree in order; using only order, a wild outlier barely moves it. Reach for rank methods when data are ordinal, monotonic-but-non-linear, or outlier-prone.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3A240-73F7-CB33-7C05-0B52CB810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94FD0-4D2F-692E-D0A1-1E72C1AB56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E6C4C-6E46-329F-3197-59795193E8A7}"/>
              </a:ext>
            </a:extLst>
          </p:cNvPr>
          <p:cNvSpPr>
            <a:spLocks noGrp="1"/>
          </p:cNvSpPr>
          <p:nvPr>
            <p:ph type="body" idx="1"/>
          </p:nvPr>
        </p:nvSpPr>
        <p:spPr/>
        <p:txBody>
          <a:bodyPr/>
          <a:lstStyle/>
          <a:p>
            <a:r>
              <a:rPr lang="en-US" dirty="0"/>
              <a:t>Companion theory lecture for </a:t>
            </a:r>
          </a:p>
          <a:p>
            <a:endParaRPr lang="en-US" dirty="0"/>
          </a:p>
          <a:p>
            <a:r>
              <a:rPr lang="en-US" dirty="0"/>
              <a:t>Practical Session 1 (`01_exploratory_data_analysis.ipynb`). </a:t>
            </a:r>
          </a:p>
          <a:p>
            <a:endParaRPr lang="en-US" dirty="0"/>
          </a:p>
          <a:p>
            <a:r>
              <a:rPr lang="en-US" dirty="0"/>
              <a:t>Structured as slide content + speaker notes. </a:t>
            </a:r>
          </a:p>
          <a:p>
            <a:endParaRPr lang="en-US" dirty="0"/>
          </a:p>
          <a:p>
            <a:r>
              <a:rPr lang="en-US" dirty="0"/>
              <a:t>Part I is the general introduction (3 slides); </a:t>
            </a:r>
          </a:p>
          <a:p>
            <a:r>
              <a:rPr lang="en-US" dirty="0"/>
              <a:t>Part II walks through the concepts students will use in the notebook.</a:t>
            </a:r>
          </a:p>
          <a:p>
            <a:endParaRPr lang="en-US" dirty="0"/>
          </a:p>
        </p:txBody>
      </p:sp>
      <p:sp>
        <p:nvSpPr>
          <p:cNvPr id="4" name="Slide Number Placeholder 3">
            <a:extLst>
              <a:ext uri="{FF2B5EF4-FFF2-40B4-BE49-F238E27FC236}">
                <a16:creationId xmlns:a16="http://schemas.microsoft.com/office/drawing/2014/main" id="{1A4CE6AE-92AC-59EB-C1F6-B7B9EEA3D0B6}"/>
              </a:ext>
            </a:extLst>
          </p:cNvPr>
          <p:cNvSpPr>
            <a:spLocks noGrp="1"/>
          </p:cNvSpPr>
          <p:nvPr>
            <p:ph type="sldNum" sz="quarter" idx="10"/>
          </p:nvPr>
        </p:nvSpPr>
        <p:spPr/>
        <p:txBody>
          <a:bodyPr/>
          <a:lstStyle/>
          <a:p>
            <a:fld id="{5F85B3B6-0D1D-4AF2-A283-5E0C73008F17}" type="slidenum">
              <a:rPr lang="en-US" smtClean="0"/>
              <a:t>7</a:t>
            </a:fld>
            <a:endParaRPr lang="en-US"/>
          </a:p>
        </p:txBody>
      </p:sp>
    </p:spTree>
    <p:extLst>
      <p:ext uri="{BB962C8B-B14F-4D97-AF65-F5344CB8AC3E}">
        <p14:creationId xmlns:p14="http://schemas.microsoft.com/office/powerpoint/2010/main" val="1997458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The t-test is the usual route; the permutation test builds the null by shuffling one variable; Fisher's transform makes r approximately normal for CIs. Then slow down on causation: A–B correlation is equally consistent with A→B, B→A, a common cause C→both, or coincidence. The spurious-correlation gallery makes it stick.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0852B2-2108-A947-8403-D1973C51B1E5}" type="slidenum">
              <a:rPr lang="en-US" smtClean="0"/>
              <a:t>13</a:t>
            </a:fld>
            <a:endParaRPr lang="en-US"/>
          </a:p>
        </p:txBody>
      </p:sp>
    </p:spTree>
    <p:extLst>
      <p:ext uri="{BB962C8B-B14F-4D97-AF65-F5344CB8AC3E}">
        <p14:creationId xmlns:p14="http://schemas.microsoft.com/office/powerpoint/2010/main" val="1507769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0852B2-2108-A947-8403-D1973C51B1E5}" type="slidenum">
              <a:rPr lang="en-US" smtClean="0"/>
              <a:t>15</a:t>
            </a:fld>
            <a:endParaRPr lang="en-US"/>
          </a:p>
        </p:txBody>
      </p:sp>
    </p:spTree>
    <p:extLst>
      <p:ext uri="{BB962C8B-B14F-4D97-AF65-F5344CB8AC3E}">
        <p14:creationId xmlns:p14="http://schemas.microsoft.com/office/powerpoint/2010/main" val="3944456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0852B2-2108-A947-8403-D1973C51B1E5}" type="slidenum">
              <a:rPr lang="en-US" smtClean="0"/>
              <a:t>16</a:t>
            </a:fld>
            <a:endParaRPr lang="en-US"/>
          </a:p>
        </p:txBody>
      </p:sp>
    </p:spTree>
    <p:extLst>
      <p:ext uri="{BB962C8B-B14F-4D97-AF65-F5344CB8AC3E}">
        <p14:creationId xmlns:p14="http://schemas.microsoft.com/office/powerpoint/2010/main" val="13653411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0852B2-2108-A947-8403-D1973C51B1E5}" type="slidenum">
              <a:rPr lang="en-US" smtClean="0"/>
              <a:t>17</a:t>
            </a:fld>
            <a:endParaRPr lang="en-US"/>
          </a:p>
        </p:txBody>
      </p:sp>
    </p:spTree>
    <p:extLst>
      <p:ext uri="{BB962C8B-B14F-4D97-AF65-F5344CB8AC3E}">
        <p14:creationId xmlns:p14="http://schemas.microsoft.com/office/powerpoint/2010/main" val="415134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47EF8-54A2-0BA1-E25A-474A09BC6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CE0815-4FC9-5FDF-A8D7-B8DC579D8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86AD6E-BDB1-572A-5B9F-D7DB811394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5723F7-3CA0-D0B7-9487-745FB0C7D774}"/>
              </a:ext>
            </a:extLst>
          </p:cNvPr>
          <p:cNvSpPr>
            <a:spLocks noGrp="1"/>
          </p:cNvSpPr>
          <p:nvPr>
            <p:ph type="sldNum" sz="quarter" idx="5"/>
          </p:nvPr>
        </p:nvSpPr>
        <p:spPr/>
        <p:txBody>
          <a:bodyPr/>
          <a:lstStyle/>
          <a:p>
            <a:fld id="{E60852B2-2108-A947-8403-D1973C51B1E5}" type="slidenum">
              <a:rPr lang="en-US" smtClean="0"/>
              <a:t>18</a:t>
            </a:fld>
            <a:endParaRPr lang="en-US"/>
          </a:p>
        </p:txBody>
      </p:sp>
    </p:spTree>
    <p:extLst>
      <p:ext uri="{BB962C8B-B14F-4D97-AF65-F5344CB8AC3E}">
        <p14:creationId xmlns:p14="http://schemas.microsoft.com/office/powerpoint/2010/main" val="2070656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The recurring theme: validity = assumptions. Multicollinearity mainly corrupts effect-size interpretation (less so pure prediction). Homoscedasticity is broken by, e.g., count data. The normality nuance is key: point estimates are fine without normal errors, but CIs/p-values assume them — and when errors are normal, OLS coincides with Maximum Likelihood (efficient).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ML is the unifying idea: pick the parameters that make what you observed most probable. The punchline: assume normal errors and ML hands you least squares — so OLS is ML under a Gaussian model. Caveat: even with the true family, finite samples won't recover parameters exactly. ML generalises beyond Gaussian via GLMs.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The LRT answers a crisp question — does adding this parameter improve the fit beyond chance? — but only for nested models and (here) assuming normal noise. AIC/BIC trade fit against complexity for non-nested candidates. The thread underneath is overfitting, which leads to regularization.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When spherical-errors fails: a transform or WLS (uncorrelated errors) / GLS (correlated errors). Regularization fights overfitting and multicollinearity by shrinking unimportant coefficients — Lasso can set them exactly to zero (feature selection), Ridge shrinks without eliminating. Tuning C (and Elastic-Net's α) needs proper validation — the doorway to a machine-learning course.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R² is the intuitive headline but only ever rises as predictors are added, so it rewards clutter; adjusted R² subtracts a penalty in p and equals R² for a single predictor. Caveat: a high R² does not certify a good model — it can be propped up by a few leverage points or hide a mis-specified form (see diagnostics).</a:t>
            </a:r>
          </a:p>
        </p:txBody>
      </p:sp>
    </p:spTree>
    <p:extLst>
      <p:ext uri="{BB962C8B-B14F-4D97-AF65-F5344CB8AC3E}">
        <p14:creationId xmlns:p14="http://schemas.microsoft.com/office/powerpoint/2010/main" val="20637923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Contrast with Part I: correlation is one summary number; regression is a predictive model with interpretable coefficients. Linear-in-parameters trips people up — y = β₁x + β₂x² is linear regression on features {x, x²}. GLMs (transform the mean response for counts/categories) are the more powerful generalisation, out of scope here.</a:t>
            </a:r>
          </a:p>
        </p:txBody>
      </p:sp>
    </p:spTree>
    <p:extLst>
      <p:ext uri="{BB962C8B-B14F-4D97-AF65-F5344CB8AC3E}">
        <p14:creationId xmlns:p14="http://schemas.microsoft.com/office/powerpoint/2010/main" val="232313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Squaring penalises large misses heavily, which makes OLS sensitive to outliers. The closed form needs more observations than coefficients (overdetermined) and an invertible XᵀX, which fails under perfect multicollinearity. The common gotcha: forgetting add_constant forces the line through the origin.</a:t>
            </a:r>
          </a:p>
        </p:txBody>
      </p:sp>
    </p:spTree>
    <p:extLst>
      <p:ext uri="{BB962C8B-B14F-4D97-AF65-F5344CB8AC3E}">
        <p14:creationId xmlns:p14="http://schemas.microsoft.com/office/powerpoint/2010/main" val="798539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Interpreting coefficients is the scientific payoff. Flag that std-error, CI and p-value all rest on normal errors (checked via the diagnostics next slide). Reprise the Session-2 mantra: a significant coefficient is not necessarily a large or important one — report magnitude and CI alongside the p-value.</a:t>
            </a:r>
          </a:p>
        </p:txBody>
      </p:sp>
    </p:spTree>
    <p:extLst>
      <p:ext uri="{BB962C8B-B14F-4D97-AF65-F5344CB8AC3E}">
        <p14:creationId xmlns:p14="http://schemas.microsoft.com/office/powerpoint/2010/main" val="36999213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Give the room a map so the summary stops being a wall of numbers — the diagnostics block is where you check the slide-8 assumptions. Durbin–Watson ≈ 2 means no autocorrelation (below ~1 is bad); a huge condition number flags multicollinearity; low Omnibus/Jarque–Bera p means non-normal residuals. White's test (het_white) for homoscedasticity, H₀ = equal variance.</a:t>
            </a:r>
          </a:p>
        </p:txBody>
      </p:sp>
    </p:spTree>
    <p:extLst>
      <p:ext uri="{BB962C8B-B14F-4D97-AF65-F5344CB8AC3E}">
        <p14:creationId xmlns:p14="http://schemas.microsoft.com/office/powerpoint/2010/main" val="448640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A6E8A-98AB-3BA5-3BE4-EABDCFE9465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0796A2E-6033-4370-40AA-21537D84F5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1406FCA-BF3D-F064-C4FF-091BA1CF4D62}"/>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8B9111F2-D123-EB1B-8F18-A670C6C675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1A21D-BE0A-FAC5-0246-C0ADC1D110D2}"/>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4097620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9CAD6-8FA9-61AB-14AF-53F53CC8B1B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1CD8C00-5B3B-E40D-57DC-0B975A7A100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6B8B4EE-35BE-A356-9132-F226F6DE3BE6}"/>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2276F13B-080E-E794-3643-5B2E62F6A6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EDE43C-C2FC-C049-E05A-7E6FCE86D747}"/>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163628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F3A53-8CEE-48C2-176E-AFC20C4DE1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CA1780B-9982-60D8-D203-CD96B035BC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E959A1C-7A0B-A5FC-FA96-078CD6A43A89}"/>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88F5825D-2C3C-6AE8-B4C2-00D981B482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D68DCB-D9B0-0205-463B-1499F4C4FB20}"/>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907001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A4FDF-B5E4-884E-5633-3995F8BAB55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F4A113F-AF88-DB72-7763-7C119026749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CEDB8A0-CD5F-7366-3A8B-C8A708A5508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66777EE-2609-A05E-179B-A927B49A4194}"/>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6" name="Footer Placeholder 5">
            <a:extLst>
              <a:ext uri="{FF2B5EF4-FFF2-40B4-BE49-F238E27FC236}">
                <a16:creationId xmlns:a16="http://schemas.microsoft.com/office/drawing/2014/main" id="{22DC85CF-88D4-4556-80CD-2C55E5907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C2366D-E431-9AEA-E843-913EC1033250}"/>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039880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308D8-C016-C1DC-139F-188334F2BFA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62AFDD0-0D40-73F3-9942-346CC0C576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464DD22-8985-6FED-40C7-1DEA0742A9B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ECB3635-AA80-89E9-C178-0F7EC803FC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9300FA1-472A-154E-972F-9D6F4E8C63C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EC07557-DD2C-1662-8100-9AD66FC6B1C9}"/>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8" name="Footer Placeholder 7">
            <a:extLst>
              <a:ext uri="{FF2B5EF4-FFF2-40B4-BE49-F238E27FC236}">
                <a16:creationId xmlns:a16="http://schemas.microsoft.com/office/drawing/2014/main" id="{33F3546C-7384-825A-EF38-E522CEAA34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D47E84-861E-CBFF-7F5B-D15C8C8DE155}"/>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91068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FAA74-A68D-068D-3D2A-810C0ECFED7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B8ED38D-10EA-758F-3234-78D44C1FEEA7}"/>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4" name="Footer Placeholder 3">
            <a:extLst>
              <a:ext uri="{FF2B5EF4-FFF2-40B4-BE49-F238E27FC236}">
                <a16:creationId xmlns:a16="http://schemas.microsoft.com/office/drawing/2014/main" id="{B5D719A7-B550-3DF8-D1D6-575E0A3180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EE4DB1-E0B0-180E-D6F5-FFF06719D059}"/>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467197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7BCC6-C089-E9FC-08D3-85225CAD180E}"/>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3" name="Footer Placeholder 2">
            <a:extLst>
              <a:ext uri="{FF2B5EF4-FFF2-40B4-BE49-F238E27FC236}">
                <a16:creationId xmlns:a16="http://schemas.microsoft.com/office/drawing/2014/main" id="{74C80324-8C76-8C0F-74F6-7F0A87FE2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995303-6CF1-B16D-B1C0-B88C2966600A}"/>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828196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C7C8-68AB-D0BE-8D11-AF521BA803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A53127F-ACAF-B5BC-864F-EC741DF90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E1DD1B9-179C-1CD2-9C06-3FA4B42EC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5CEA6E7-A522-5C3D-CE43-00B87C7F4D42}"/>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6" name="Footer Placeholder 5">
            <a:extLst>
              <a:ext uri="{FF2B5EF4-FFF2-40B4-BE49-F238E27FC236}">
                <a16:creationId xmlns:a16="http://schemas.microsoft.com/office/drawing/2014/main" id="{BA6CF34A-68E8-1269-A25F-181E4CDBDC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5FE9F-C72F-C8E1-3925-DA30F2BCAE56}"/>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3504360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886AD-DD64-8E7F-2737-567CC192D4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4FF7C85-674F-86A8-87FC-57D2833ED2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574373-2A9F-2BD0-61D8-B9DCE83F37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8599398-8EF3-2EC2-F719-65A5CF7507D1}"/>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6" name="Footer Placeholder 5">
            <a:extLst>
              <a:ext uri="{FF2B5EF4-FFF2-40B4-BE49-F238E27FC236}">
                <a16:creationId xmlns:a16="http://schemas.microsoft.com/office/drawing/2014/main" id="{99D0BB87-F71E-15EB-F104-4D3EB53FAA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E3AA5C-2B33-3AE1-64E0-C1DE2D15E0D7}"/>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1151164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24D6-9538-9179-15A6-96F4D56445C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E81D4AC-FD53-1C4E-6C52-AA086D5A00C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E4E7B7F-A069-AC4E-AD25-BBDF56CB3F52}"/>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8BADC6B7-082B-4CB9-651C-5C067738BD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D1D80-12E2-B729-FDA2-D71CA5127863}"/>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8401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C69607-0ABB-4C0F-6280-34D5FD9E3A9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A912EC1-E0B9-A121-585D-9D98AC738DD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CCD24B6-98FB-1D10-31D8-972C89B43AA8}"/>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32B507C8-26A5-D2D4-6E2F-DF6177BFA5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ED1183-8100-2E75-0B5C-ECBBFCAF04DF}"/>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490653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600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10363200" cy="4571999"/>
          </a:xfrm>
        </p:spPr>
        <p:txBody>
          <a:bodyPr anchor="ctr">
            <a:noAutofit/>
          </a:bodyPr>
          <a:lstStyle>
            <a:lvl1pPr>
              <a:lnSpc>
                <a:spcPct val="100000"/>
              </a:lnSpc>
              <a:defRPr sz="8800" spc="-80" baseline="0">
                <a:solidFill>
                  <a:schemeClr val="tx1"/>
                </a:solidFill>
              </a:defRPr>
            </a:lvl1pPr>
          </a:lstStyle>
          <a:p>
            <a:r>
              <a:rPr lang="cs-CZ"/>
              <a:t>Click to edit Master title style</a:t>
            </a:r>
            <a:endParaRPr lang="en-US" dirty="0"/>
          </a:p>
        </p:txBody>
      </p:sp>
      <p:sp>
        <p:nvSpPr>
          <p:cNvPr id="3" name="Subtitle 2"/>
          <p:cNvSpPr>
            <a:spLocks noGrp="1"/>
          </p:cNvSpPr>
          <p:nvPr>
            <p:ph type="subTitle" idx="1"/>
          </p:nvPr>
        </p:nvSpPr>
        <p:spPr>
          <a:xfrm>
            <a:off x="609600" y="4800600"/>
            <a:ext cx="9144000" cy="914400"/>
          </a:xfrm>
        </p:spPr>
        <p:txBody>
          <a:bodyPr/>
          <a:lstStyle>
            <a:lvl1pPr marL="0" indent="0" algn="l">
              <a:buNone/>
              <a:defRPr b="1" i="0" cap="all" spc="120" baseline="0">
                <a:solidFill>
                  <a:schemeClr val="tx2"/>
                </a:solidFill>
                <a:latin typeface="Geogrotesque Bold"/>
                <a:cs typeface="Geogrotesque Bol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a:t>Click to edit Master subtitle style</a:t>
            </a:r>
            <a:endParaRPr lang="en-US" dirty="0"/>
          </a:p>
        </p:txBody>
      </p:sp>
      <p:sp>
        <p:nvSpPr>
          <p:cNvPr id="4" name="Date Placeholder 3"/>
          <p:cNvSpPr>
            <a:spLocks noGrp="1"/>
          </p:cNvSpPr>
          <p:nvPr>
            <p:ph type="dt" sz="half" idx="10"/>
          </p:nvPr>
        </p:nvSpPr>
        <p:spPr>
          <a:xfrm>
            <a:off x="-46240" y="6495715"/>
            <a:ext cx="2297631" cy="304800"/>
          </a:xfrm>
          <a:prstGeom prst="rect">
            <a:avLst/>
          </a:prstGeom>
        </p:spPr>
        <p:txBody>
          <a:bodyPr/>
          <a:lstStyle>
            <a:lvl1pPr>
              <a:defRPr b="1" i="0">
                <a:latin typeface="Geogrotesque-SemiBold"/>
                <a:cs typeface="Geogrotesque-SemiBold"/>
              </a:defRPr>
            </a:lvl1pPr>
          </a:lstStyle>
          <a:p>
            <a:r>
              <a:rPr lang="cs-CZ">
                <a:solidFill>
                  <a:srgbClr val="000000"/>
                </a:solidFill>
              </a:rPr>
              <a:t>September 25, 2015</a:t>
            </a:r>
            <a:endParaRPr lang="en-US" dirty="0">
              <a:solidFill>
                <a:srgbClr val="000000"/>
              </a:solidFill>
            </a:endParaRPr>
          </a:p>
        </p:txBody>
      </p:sp>
      <p:sp>
        <p:nvSpPr>
          <p:cNvPr id="5" name="Footer Placeholder 4"/>
          <p:cNvSpPr>
            <a:spLocks noGrp="1"/>
          </p:cNvSpPr>
          <p:nvPr>
            <p:ph type="ftr" sz="quarter" idx="11"/>
          </p:nvPr>
        </p:nvSpPr>
        <p:spPr>
          <a:xfrm>
            <a:off x="3759200" y="6564825"/>
            <a:ext cx="4572000" cy="283845"/>
          </a:xfrm>
          <a:prstGeom prst="rect">
            <a:avLst/>
          </a:prstGeom>
        </p:spPr>
        <p:txBody>
          <a:bodyPr/>
          <a:lstStyle>
            <a:lvl1pPr>
              <a:defRPr b="1" i="0">
                <a:latin typeface="Geogrotesque-SemiBold"/>
                <a:cs typeface="Geogrotesque-SemiBold"/>
              </a:defRPr>
            </a:lvl1pPr>
          </a:lstStyle>
          <a:p>
            <a:endParaRPr lang="en-US" dirty="0">
              <a:solidFill>
                <a:srgbClr val="000000"/>
              </a:solidFill>
            </a:endParaRPr>
          </a:p>
        </p:txBody>
      </p:sp>
      <p:sp>
        <p:nvSpPr>
          <p:cNvPr id="9" name="Rectangle 8"/>
          <p:cNvSpPr/>
          <p:nvPr/>
        </p:nvSpPr>
        <p:spPr>
          <a:xfrm>
            <a:off x="12001499" y="4833991"/>
            <a:ext cx="190501"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800" b="1" dirty="0">
                <a:solidFill>
                  <a:srgbClr val="FFFFFF"/>
                </a:solidFill>
                <a:latin typeface="Geogrotesque-SemiBold"/>
                <a:cs typeface="Geogrotesque-SemiBold"/>
              </a:rPr>
              <a:t>		</a:t>
            </a:r>
          </a:p>
        </p:txBody>
      </p:sp>
      <p:sp>
        <p:nvSpPr>
          <p:cNvPr id="10" name="Rectangle 9"/>
          <p:cNvSpPr/>
          <p:nvPr/>
        </p:nvSpPr>
        <p:spPr>
          <a:xfrm>
            <a:off x="12001499" y="0"/>
            <a:ext cx="190501"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1800" dirty="0">
              <a:solidFill>
                <a:srgbClr val="FFFFFF"/>
              </a:solidFill>
              <a:latin typeface="Geogrotesque Regular"/>
            </a:endParaRPr>
          </a:p>
        </p:txBody>
      </p:sp>
      <p:sp>
        <p:nvSpPr>
          <p:cNvPr id="6" name="Slide Number Placeholder 5"/>
          <p:cNvSpPr>
            <a:spLocks noGrp="1"/>
          </p:cNvSpPr>
          <p:nvPr>
            <p:ph type="sldNum" sz="quarter" idx="12"/>
          </p:nvPr>
        </p:nvSpPr>
        <p:spPr/>
        <p:txBody>
          <a:bodyPr/>
          <a:lstStyle>
            <a:lvl1pPr>
              <a:defRPr b="1" i="0">
                <a:solidFill>
                  <a:schemeClr val="tx1"/>
                </a:solidFill>
                <a:latin typeface="Geogrotesque-SemiBold"/>
                <a:cs typeface="Geogrotesque-SemiBold"/>
              </a:defRPr>
            </a:lvl1pPr>
          </a:lstStyle>
          <a:p>
            <a:fld id="{F38DF745-7D3F-47F4-83A3-874385CFAA69}" type="slidenum">
              <a:rPr lang="en-US" smtClean="0">
                <a:solidFill>
                  <a:srgbClr val="000000"/>
                </a:solidFill>
              </a:rPr>
              <a:pPr/>
              <a:t>‹#›</a:t>
            </a:fld>
            <a:endParaRPr lang="en-US" dirty="0">
              <a:solidFill>
                <a:srgbClr val="000000"/>
              </a:solidFill>
            </a:endParaRPr>
          </a:p>
        </p:txBody>
      </p:sp>
      <p:pic>
        <p:nvPicPr>
          <p:cNvPr id="12" name="Picture 11" descr="imglogo-name-en-left-color-rgb.em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314" y="397376"/>
            <a:ext cx="4762567" cy="799371"/>
          </a:xfrm>
          <a:prstGeom prst="rect">
            <a:avLst/>
          </a:prstGeom>
        </p:spPr>
      </p:pic>
      <p:pic>
        <p:nvPicPr>
          <p:cNvPr id="11" name="Picture 10" descr="imglogo-name-en-left-color-rgb.em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5314" y="397376"/>
            <a:ext cx="4762567" cy="799371"/>
          </a:xfrm>
          <a:prstGeom prst="rect">
            <a:avLst/>
          </a:prstGeom>
        </p:spPr>
      </p:pic>
    </p:spTree>
    <p:extLst>
      <p:ext uri="{BB962C8B-B14F-4D97-AF65-F5344CB8AC3E}">
        <p14:creationId xmlns:p14="http://schemas.microsoft.com/office/powerpoint/2010/main" val="3264278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cs-CZ"/>
              <a:t>Click to edit Master title style</a:t>
            </a:r>
            <a:endParaRPr lang="en-US"/>
          </a:p>
        </p:txBody>
      </p:sp>
      <p:sp>
        <p:nvSpPr>
          <p:cNvPr id="3" name="Content Placeholder 2"/>
          <p:cNvSpPr>
            <a:spLocks noGrp="1"/>
          </p:cNvSpPr>
          <p:nvPr>
            <p:ph idx="1"/>
          </p:nvPr>
        </p:nvSpPr>
        <p:spPr/>
        <p:txBody>
          <a:bodyPr/>
          <a:lstStyle/>
          <a:p>
            <a:pPr lvl="0"/>
            <a:r>
              <a:rPr lang="cs-CZ"/>
              <a:t>Click to edit Master text styles</a:t>
            </a:r>
          </a:p>
          <a:p>
            <a:pPr lvl="1"/>
            <a:r>
              <a:rPr lang="cs-CZ"/>
              <a:t>Second level</a:t>
            </a:r>
          </a:p>
          <a:p>
            <a:pPr lvl="2"/>
            <a:r>
              <a:rPr lang="cs-CZ"/>
              <a:t>Third level</a:t>
            </a:r>
          </a:p>
          <a:p>
            <a:pPr lvl="3"/>
            <a:r>
              <a:rPr lang="cs-CZ"/>
              <a:t>Fourth level</a:t>
            </a:r>
          </a:p>
          <a:p>
            <a:pPr lvl="4"/>
            <a:r>
              <a:rPr lang="cs-CZ"/>
              <a:t>Fifth level</a:t>
            </a:r>
            <a:endParaRPr lang="en-US" dirty="0"/>
          </a:p>
        </p:txBody>
      </p:sp>
      <p:sp>
        <p:nvSpPr>
          <p:cNvPr id="4" name="Date Placeholder 3"/>
          <p:cNvSpPr>
            <a:spLocks noGrp="1"/>
          </p:cNvSpPr>
          <p:nvPr>
            <p:ph type="dt" sz="half" idx="10"/>
          </p:nvPr>
        </p:nvSpPr>
        <p:spPr>
          <a:xfrm>
            <a:off x="-61126" y="6507584"/>
            <a:ext cx="2297631" cy="304800"/>
          </a:xfrm>
          <a:prstGeom prst="rect">
            <a:avLst/>
          </a:prstGeom>
        </p:spPr>
        <p:txBody>
          <a:bodyPr/>
          <a:lstStyle>
            <a:lvl1pPr>
              <a:defRPr b="1"/>
            </a:lvl1pPr>
          </a:lstStyle>
          <a:p>
            <a:r>
              <a:rPr lang="cs-CZ">
                <a:solidFill>
                  <a:srgbClr val="000000"/>
                </a:solidFill>
              </a:rPr>
              <a:t>September 25, 2015</a:t>
            </a:r>
            <a:endParaRPr lang="en-US">
              <a:solidFill>
                <a:srgbClr val="000000"/>
              </a:solidFill>
            </a:endParaRPr>
          </a:p>
        </p:txBody>
      </p:sp>
      <p:sp>
        <p:nvSpPr>
          <p:cNvPr id="5" name="Footer Placeholder 4"/>
          <p:cNvSpPr>
            <a:spLocks noGrp="1"/>
          </p:cNvSpPr>
          <p:nvPr>
            <p:ph type="ftr" sz="quarter" idx="11"/>
          </p:nvPr>
        </p:nvSpPr>
        <p:spPr>
          <a:xfrm>
            <a:off x="3759200" y="6564825"/>
            <a:ext cx="4572000" cy="283845"/>
          </a:xfrm>
          <a:prstGeom prst="rect">
            <a:avLst/>
          </a:prstGeom>
        </p:spPr>
        <p:txBody>
          <a:bodyPr/>
          <a:lstStyle/>
          <a:p>
            <a:endParaRPr lang="en-US" dirty="0">
              <a:solidFill>
                <a:srgbClr val="000000"/>
              </a:solidFill>
            </a:endParaRPr>
          </a:p>
        </p:txBody>
      </p:sp>
      <p:sp>
        <p:nvSpPr>
          <p:cNvPr id="6" name="Slide Number Placeholder 5"/>
          <p:cNvSpPr>
            <a:spLocks noGrp="1"/>
          </p:cNvSpPr>
          <p:nvPr>
            <p:ph type="sldNum" sz="quarter" idx="12"/>
          </p:nvPr>
        </p:nvSpPr>
        <p:spPr/>
        <p:txBody>
          <a:bodyPr/>
          <a:lstStyle/>
          <a:p>
            <a:fld id="{F38DF745-7D3F-47F4-83A3-874385CFAA69}" type="slidenum">
              <a:rPr lang="en-US" smtClean="0">
                <a:solidFill>
                  <a:srgbClr val="D1282E"/>
                </a:solidFill>
              </a:rPr>
              <a:pPr/>
              <a:t>‹#›</a:t>
            </a:fld>
            <a:endParaRPr lang="en-US">
              <a:solidFill>
                <a:srgbClr val="D1282E"/>
              </a:solidFill>
            </a:endParaRPr>
          </a:p>
        </p:txBody>
      </p:sp>
    </p:spTree>
    <p:extLst>
      <p:ext uri="{BB962C8B-B14F-4D97-AF65-F5344CB8AC3E}">
        <p14:creationId xmlns:p14="http://schemas.microsoft.com/office/powerpoint/2010/main" val="36065559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1447801"/>
            <a:ext cx="10363200" cy="4321175"/>
          </a:xfrm>
        </p:spPr>
        <p:txBody>
          <a:bodyPr anchor="ctr">
            <a:noAutofit/>
          </a:bodyPr>
          <a:lstStyle>
            <a:lvl1pPr algn="l">
              <a:lnSpc>
                <a:spcPct val="100000"/>
              </a:lnSpc>
              <a:defRPr sz="8800" b="1" cap="all" spc="-80" baseline="0">
                <a:solidFill>
                  <a:schemeClr val="tx1"/>
                </a:solidFill>
              </a:defRPr>
            </a:lvl1pPr>
          </a:lstStyle>
          <a:p>
            <a:r>
              <a:rPr lang="cs-CZ"/>
              <a:t>Click to edit Master title style</a:t>
            </a:r>
            <a:endParaRPr lang="en-US" dirty="0"/>
          </a:p>
        </p:txBody>
      </p:sp>
      <p:sp>
        <p:nvSpPr>
          <p:cNvPr id="3" name="Text Placeholder 2"/>
          <p:cNvSpPr>
            <a:spLocks noGrp="1"/>
          </p:cNvSpPr>
          <p:nvPr>
            <p:ph type="body" idx="1"/>
          </p:nvPr>
        </p:nvSpPr>
        <p:spPr>
          <a:xfrm>
            <a:off x="609600" y="228601"/>
            <a:ext cx="10363200" cy="1066800"/>
          </a:xfrm>
        </p:spPr>
        <p:txBody>
          <a:bodyPr anchor="b"/>
          <a:lstStyle>
            <a:lvl1pPr marL="0" indent="0">
              <a:buNone/>
              <a:defRPr sz="2000" b="1" i="0" cap="all" spc="120" baseline="0">
                <a:solidFill>
                  <a:schemeClr val="tx2"/>
                </a:solidFill>
                <a:latin typeface="Geogrotesque Bold"/>
                <a:cs typeface="Geogrotesque Bold"/>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Click to edit Master text styles</a:t>
            </a:r>
          </a:p>
        </p:txBody>
      </p:sp>
      <p:sp>
        <p:nvSpPr>
          <p:cNvPr id="7" name="Date Placeholder 6"/>
          <p:cNvSpPr>
            <a:spLocks noGrp="1"/>
          </p:cNvSpPr>
          <p:nvPr>
            <p:ph type="dt" sz="half" idx="10"/>
          </p:nvPr>
        </p:nvSpPr>
        <p:spPr>
          <a:xfrm>
            <a:off x="-61126" y="6507584"/>
            <a:ext cx="2297631" cy="304800"/>
          </a:xfrm>
          <a:prstGeom prst="rect">
            <a:avLst/>
          </a:prstGeom>
        </p:spPr>
        <p:txBody>
          <a:bodyPr/>
          <a:lstStyle/>
          <a:p>
            <a:r>
              <a:rPr lang="cs-CZ">
                <a:solidFill>
                  <a:srgbClr val="000000"/>
                </a:solidFill>
              </a:rPr>
              <a:t>September 25, 2015</a:t>
            </a:r>
            <a:endParaRPr lang="en-US" dirty="0">
              <a:solidFill>
                <a:srgbClr val="000000"/>
              </a:solidFill>
            </a:endParaRPr>
          </a:p>
        </p:txBody>
      </p:sp>
      <p:sp>
        <p:nvSpPr>
          <p:cNvPr id="8" name="Slide Number Placeholder 7"/>
          <p:cNvSpPr>
            <a:spLocks noGrp="1"/>
          </p:cNvSpPr>
          <p:nvPr>
            <p:ph type="sldNum" sz="quarter" idx="11"/>
          </p:nvPr>
        </p:nvSpPr>
        <p:spPr/>
        <p:txBody>
          <a:bodyPr/>
          <a:lstStyle>
            <a:lvl1pPr>
              <a:defRPr b="1" i="0">
                <a:latin typeface="Geogrotesque-SemiBold"/>
                <a:cs typeface="Geogrotesque-SemiBold"/>
              </a:defRPr>
            </a:lvl1pPr>
          </a:lstStyle>
          <a:p>
            <a:fld id="{F38DF745-7D3F-47F4-83A3-874385CFAA69}" type="slidenum">
              <a:rPr lang="en-US" smtClean="0">
                <a:solidFill>
                  <a:srgbClr val="D1282E"/>
                </a:solidFill>
              </a:rPr>
              <a:pPr/>
              <a:t>‹#›</a:t>
            </a:fld>
            <a:endParaRPr lang="en-US" dirty="0">
              <a:solidFill>
                <a:srgbClr val="D1282E"/>
              </a:solidFill>
            </a:endParaRPr>
          </a:p>
        </p:txBody>
      </p:sp>
      <p:sp>
        <p:nvSpPr>
          <p:cNvPr id="9" name="Footer Placeholder 8"/>
          <p:cNvSpPr>
            <a:spLocks noGrp="1"/>
          </p:cNvSpPr>
          <p:nvPr>
            <p:ph type="ftr" sz="quarter" idx="12"/>
          </p:nvPr>
        </p:nvSpPr>
        <p:spPr>
          <a:xfrm>
            <a:off x="3759200" y="6564825"/>
            <a:ext cx="4572000" cy="283845"/>
          </a:xfrm>
          <a:prstGeom prst="rect">
            <a:avLst/>
          </a:prstGeom>
        </p:spPr>
        <p:txBody>
          <a:bodyPr/>
          <a:lstStyle/>
          <a:p>
            <a:endParaRPr lang="en-US" dirty="0">
              <a:solidFill>
                <a:srgbClr val="000000"/>
              </a:solidFill>
            </a:endParaRPr>
          </a:p>
        </p:txBody>
      </p:sp>
    </p:spTree>
    <p:extLst>
      <p:ext uri="{BB962C8B-B14F-4D97-AF65-F5344CB8AC3E}">
        <p14:creationId xmlns:p14="http://schemas.microsoft.com/office/powerpoint/2010/main" val="2621887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cs-CZ"/>
              <a:t>Click to edit Master title style</a:t>
            </a:r>
            <a:endParaRPr lang="en-US" dirty="0"/>
          </a:p>
        </p:txBody>
      </p:sp>
      <p:sp>
        <p:nvSpPr>
          <p:cNvPr id="3" name="Content Placeholder 2"/>
          <p:cNvSpPr>
            <a:spLocks noGrp="1"/>
          </p:cNvSpPr>
          <p:nvPr>
            <p:ph sz="half" idx="1"/>
          </p:nvPr>
        </p:nvSpPr>
        <p:spPr>
          <a:xfrm>
            <a:off x="2174240" y="1574800"/>
            <a:ext cx="4389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Click to edit Master text styles</a:t>
            </a:r>
          </a:p>
          <a:p>
            <a:pPr lvl="1"/>
            <a:r>
              <a:rPr lang="cs-CZ"/>
              <a:t>Second level</a:t>
            </a:r>
          </a:p>
          <a:p>
            <a:pPr lvl="2"/>
            <a:r>
              <a:rPr lang="cs-CZ"/>
              <a:t>Third level</a:t>
            </a:r>
          </a:p>
          <a:p>
            <a:pPr lvl="3"/>
            <a:r>
              <a:rPr lang="cs-CZ"/>
              <a:t>Fourth level</a:t>
            </a:r>
          </a:p>
          <a:p>
            <a:pPr lvl="4"/>
            <a:r>
              <a:rPr lang="cs-CZ"/>
              <a:t>Fifth level</a:t>
            </a:r>
            <a:endParaRPr lang="en-US" dirty="0"/>
          </a:p>
        </p:txBody>
      </p:sp>
      <p:sp>
        <p:nvSpPr>
          <p:cNvPr id="4" name="Content Placeholder 3"/>
          <p:cNvSpPr>
            <a:spLocks noGrp="1"/>
          </p:cNvSpPr>
          <p:nvPr>
            <p:ph sz="half" idx="2"/>
          </p:nvPr>
        </p:nvSpPr>
        <p:spPr>
          <a:xfrm>
            <a:off x="6786880" y="1574800"/>
            <a:ext cx="4389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Click to edit Master text styles</a:t>
            </a:r>
          </a:p>
          <a:p>
            <a:pPr lvl="1"/>
            <a:r>
              <a:rPr lang="cs-CZ"/>
              <a:t>Second level</a:t>
            </a:r>
          </a:p>
          <a:p>
            <a:pPr lvl="2"/>
            <a:r>
              <a:rPr lang="cs-CZ"/>
              <a:t>Third level</a:t>
            </a:r>
          </a:p>
          <a:p>
            <a:pPr lvl="3"/>
            <a:r>
              <a:rPr lang="cs-CZ"/>
              <a:t>Fourth level</a:t>
            </a:r>
          </a:p>
          <a:p>
            <a:pPr lvl="4"/>
            <a:r>
              <a:rPr lang="cs-CZ"/>
              <a:t>Fifth level</a:t>
            </a:r>
            <a:endParaRPr lang="en-US" dirty="0"/>
          </a:p>
        </p:txBody>
      </p:sp>
      <p:sp>
        <p:nvSpPr>
          <p:cNvPr id="5" name="Date Placeholder 4"/>
          <p:cNvSpPr>
            <a:spLocks noGrp="1"/>
          </p:cNvSpPr>
          <p:nvPr>
            <p:ph type="dt" sz="half" idx="10"/>
          </p:nvPr>
        </p:nvSpPr>
        <p:spPr>
          <a:xfrm>
            <a:off x="-61126" y="6507584"/>
            <a:ext cx="2297631" cy="304800"/>
          </a:xfrm>
          <a:prstGeom prst="rect">
            <a:avLst/>
          </a:prstGeom>
        </p:spPr>
        <p:txBody>
          <a:bodyPr/>
          <a:lstStyle/>
          <a:p>
            <a:r>
              <a:rPr lang="cs-CZ">
                <a:solidFill>
                  <a:srgbClr val="000000"/>
                </a:solidFill>
              </a:rPr>
              <a:t>September 25, 2015</a:t>
            </a:r>
            <a:endParaRPr lang="en-US">
              <a:solidFill>
                <a:srgbClr val="000000"/>
              </a:solidFill>
            </a:endParaRPr>
          </a:p>
        </p:txBody>
      </p:sp>
      <p:sp>
        <p:nvSpPr>
          <p:cNvPr id="6" name="Footer Placeholder 5"/>
          <p:cNvSpPr>
            <a:spLocks noGrp="1"/>
          </p:cNvSpPr>
          <p:nvPr>
            <p:ph type="ftr" sz="quarter" idx="11"/>
          </p:nvPr>
        </p:nvSpPr>
        <p:spPr>
          <a:xfrm>
            <a:off x="3759200" y="6564825"/>
            <a:ext cx="4572000" cy="283845"/>
          </a:xfrm>
          <a:prstGeom prst="rect">
            <a:avLst/>
          </a:prstGeom>
        </p:spPr>
        <p:txBody>
          <a:bodyPr/>
          <a:lstStyle/>
          <a:p>
            <a:endParaRPr lang="en-US">
              <a:solidFill>
                <a:srgbClr val="000000"/>
              </a:solidFill>
            </a:endParaRPr>
          </a:p>
        </p:txBody>
      </p:sp>
      <p:sp>
        <p:nvSpPr>
          <p:cNvPr id="7" name="Slide Number Placeholder 6"/>
          <p:cNvSpPr>
            <a:spLocks noGrp="1"/>
          </p:cNvSpPr>
          <p:nvPr>
            <p:ph type="sldNum" sz="quarter" idx="12"/>
          </p:nvPr>
        </p:nvSpPr>
        <p:spPr/>
        <p:txBody>
          <a:bodyPr/>
          <a:lstStyle/>
          <a:p>
            <a:fld id="{F38DF745-7D3F-47F4-83A3-874385CFAA69}" type="slidenum">
              <a:rPr lang="en-US" smtClean="0">
                <a:solidFill>
                  <a:srgbClr val="D1282E"/>
                </a:solidFill>
              </a:rPr>
              <a:pPr/>
              <a:t>‹#›</a:t>
            </a:fld>
            <a:endParaRPr lang="en-US">
              <a:solidFill>
                <a:srgbClr val="D1282E"/>
              </a:solidFill>
            </a:endParaRPr>
          </a:p>
        </p:txBody>
      </p:sp>
    </p:spTree>
    <p:extLst>
      <p:ext uri="{BB962C8B-B14F-4D97-AF65-F5344CB8AC3E}">
        <p14:creationId xmlns:p14="http://schemas.microsoft.com/office/powerpoint/2010/main" val="180057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cs-CZ"/>
              <a:t>Click to edit Master title style</a:t>
            </a:r>
            <a:endParaRPr lang="en-US"/>
          </a:p>
        </p:txBody>
      </p:sp>
      <p:sp>
        <p:nvSpPr>
          <p:cNvPr id="3" name="Text Placeholder 2"/>
          <p:cNvSpPr>
            <a:spLocks noGrp="1"/>
          </p:cNvSpPr>
          <p:nvPr>
            <p:ph type="body" idx="1"/>
          </p:nvPr>
        </p:nvSpPr>
        <p:spPr>
          <a:xfrm>
            <a:off x="2170176" y="1572768"/>
            <a:ext cx="4389120" cy="639762"/>
          </a:xfrm>
        </p:spPr>
        <p:txBody>
          <a:bodyPr anchor="b">
            <a:noAutofit/>
          </a:bodyPr>
          <a:lstStyle>
            <a:lvl1pPr marL="0" indent="0">
              <a:buNone/>
              <a:defRPr sz="1800" b="1" i="0" cap="all" spc="100" baseline="0">
                <a:solidFill>
                  <a:schemeClr val="tx1"/>
                </a:solidFill>
                <a:latin typeface="Geogrotesque Bold"/>
                <a:cs typeface="Geogrotesque Bold"/>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Click to edit Master text styles</a:t>
            </a:r>
          </a:p>
        </p:txBody>
      </p:sp>
      <p:sp>
        <p:nvSpPr>
          <p:cNvPr id="4" name="Content Placeholder 3"/>
          <p:cNvSpPr>
            <a:spLocks noGrp="1"/>
          </p:cNvSpPr>
          <p:nvPr>
            <p:ph sz="half" idx="2"/>
          </p:nvPr>
        </p:nvSpPr>
        <p:spPr>
          <a:xfrm>
            <a:off x="2170176" y="2271348"/>
            <a:ext cx="438912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Click to edit Master text styles</a:t>
            </a:r>
          </a:p>
          <a:p>
            <a:pPr lvl="1"/>
            <a:r>
              <a:rPr lang="cs-CZ"/>
              <a:t>Second level</a:t>
            </a:r>
          </a:p>
          <a:p>
            <a:pPr lvl="2"/>
            <a:r>
              <a:rPr lang="cs-CZ"/>
              <a:t>Third level</a:t>
            </a:r>
          </a:p>
          <a:p>
            <a:pPr lvl="3"/>
            <a:r>
              <a:rPr lang="cs-CZ"/>
              <a:t>Fourth level</a:t>
            </a:r>
          </a:p>
          <a:p>
            <a:pPr lvl="4"/>
            <a:r>
              <a:rPr lang="cs-CZ"/>
              <a:t>Fifth level</a:t>
            </a:r>
            <a:endParaRPr lang="en-US" dirty="0"/>
          </a:p>
        </p:txBody>
      </p:sp>
      <p:sp>
        <p:nvSpPr>
          <p:cNvPr id="5" name="Text Placeholder 4"/>
          <p:cNvSpPr>
            <a:spLocks noGrp="1"/>
          </p:cNvSpPr>
          <p:nvPr>
            <p:ph type="body" sz="quarter" idx="3"/>
          </p:nvPr>
        </p:nvSpPr>
        <p:spPr>
          <a:xfrm>
            <a:off x="6790944" y="1572768"/>
            <a:ext cx="4389120" cy="639762"/>
          </a:xfrm>
        </p:spPr>
        <p:txBody>
          <a:bodyPr anchor="b">
            <a:noAutofit/>
          </a:bodyPr>
          <a:lstStyle>
            <a:lvl1pPr marL="0" indent="0">
              <a:buNone/>
              <a:defRPr lang="en-US" sz="1800" b="1" i="0" kern="1200" cap="all" spc="100" baseline="0" dirty="0" smtClean="0">
                <a:solidFill>
                  <a:schemeClr val="tx1"/>
                </a:solidFill>
                <a:latin typeface="Geogrotesque Bold"/>
                <a:ea typeface="+mn-ea"/>
                <a:cs typeface="Geogrotesque Bold"/>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cs-CZ"/>
              <a:t>Click to edit Master text styles</a:t>
            </a:r>
          </a:p>
        </p:txBody>
      </p:sp>
      <p:sp>
        <p:nvSpPr>
          <p:cNvPr id="6" name="Content Placeholder 5"/>
          <p:cNvSpPr>
            <a:spLocks noGrp="1"/>
          </p:cNvSpPr>
          <p:nvPr>
            <p:ph sz="quarter" idx="4"/>
          </p:nvPr>
        </p:nvSpPr>
        <p:spPr>
          <a:xfrm>
            <a:off x="6790944" y="2259366"/>
            <a:ext cx="438912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Click to edit Master text styles</a:t>
            </a:r>
          </a:p>
          <a:p>
            <a:pPr lvl="1"/>
            <a:r>
              <a:rPr lang="cs-CZ"/>
              <a:t>Second level</a:t>
            </a:r>
          </a:p>
          <a:p>
            <a:pPr lvl="2"/>
            <a:r>
              <a:rPr lang="cs-CZ"/>
              <a:t>Third level</a:t>
            </a:r>
          </a:p>
          <a:p>
            <a:pPr lvl="3"/>
            <a:r>
              <a:rPr lang="cs-CZ"/>
              <a:t>Fourth level</a:t>
            </a:r>
          </a:p>
          <a:p>
            <a:pPr lvl="4"/>
            <a:r>
              <a:rPr lang="cs-CZ"/>
              <a:t>Fifth level</a:t>
            </a:r>
            <a:endParaRPr lang="en-US" dirty="0"/>
          </a:p>
        </p:txBody>
      </p:sp>
      <p:sp>
        <p:nvSpPr>
          <p:cNvPr id="7" name="Date Placeholder 6"/>
          <p:cNvSpPr>
            <a:spLocks noGrp="1"/>
          </p:cNvSpPr>
          <p:nvPr>
            <p:ph type="dt" sz="half" idx="10"/>
          </p:nvPr>
        </p:nvSpPr>
        <p:spPr>
          <a:xfrm>
            <a:off x="-61126" y="6507584"/>
            <a:ext cx="2297631" cy="304800"/>
          </a:xfrm>
          <a:prstGeom prst="rect">
            <a:avLst/>
          </a:prstGeom>
        </p:spPr>
        <p:txBody>
          <a:bodyPr/>
          <a:lstStyle/>
          <a:p>
            <a:r>
              <a:rPr lang="cs-CZ">
                <a:solidFill>
                  <a:srgbClr val="000000"/>
                </a:solidFill>
              </a:rPr>
              <a:t>September 25, 2015</a:t>
            </a:r>
            <a:endParaRPr lang="en-US">
              <a:solidFill>
                <a:srgbClr val="000000"/>
              </a:solidFill>
            </a:endParaRPr>
          </a:p>
        </p:txBody>
      </p:sp>
      <p:sp>
        <p:nvSpPr>
          <p:cNvPr id="8" name="Footer Placeholder 7"/>
          <p:cNvSpPr>
            <a:spLocks noGrp="1"/>
          </p:cNvSpPr>
          <p:nvPr>
            <p:ph type="ftr" sz="quarter" idx="11"/>
          </p:nvPr>
        </p:nvSpPr>
        <p:spPr>
          <a:xfrm>
            <a:off x="3759200" y="6564825"/>
            <a:ext cx="4572000" cy="283845"/>
          </a:xfrm>
          <a:prstGeom prst="rect">
            <a:avLst/>
          </a:prstGeom>
        </p:spPr>
        <p:txBody>
          <a:bodyPr/>
          <a:lstStyle/>
          <a:p>
            <a:endParaRPr lang="en-US">
              <a:solidFill>
                <a:srgbClr val="000000"/>
              </a:solidFill>
            </a:endParaRPr>
          </a:p>
        </p:txBody>
      </p:sp>
      <p:sp>
        <p:nvSpPr>
          <p:cNvPr id="9" name="Slide Number Placeholder 8"/>
          <p:cNvSpPr>
            <a:spLocks noGrp="1"/>
          </p:cNvSpPr>
          <p:nvPr>
            <p:ph type="sldNum" sz="quarter" idx="12"/>
          </p:nvPr>
        </p:nvSpPr>
        <p:spPr/>
        <p:txBody>
          <a:bodyPr/>
          <a:lstStyle/>
          <a:p>
            <a:fld id="{F38DF745-7D3F-47F4-83A3-874385CFAA69}" type="slidenum">
              <a:rPr lang="en-US" smtClean="0">
                <a:solidFill>
                  <a:srgbClr val="D1282E"/>
                </a:solidFill>
              </a:rPr>
              <a:pPr/>
              <a:t>‹#›</a:t>
            </a:fld>
            <a:endParaRPr lang="en-US">
              <a:solidFill>
                <a:srgbClr val="D1282E"/>
              </a:solidFill>
            </a:endParaRPr>
          </a:p>
        </p:txBody>
      </p:sp>
    </p:spTree>
    <p:extLst>
      <p:ext uri="{BB962C8B-B14F-4D97-AF65-F5344CB8AC3E}">
        <p14:creationId xmlns:p14="http://schemas.microsoft.com/office/powerpoint/2010/main" val="36896650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Click to edit Master title style</a:t>
            </a:r>
            <a:endParaRPr lang="en-US"/>
          </a:p>
        </p:txBody>
      </p:sp>
      <p:sp>
        <p:nvSpPr>
          <p:cNvPr id="3" name="Date Placeholder 2"/>
          <p:cNvSpPr>
            <a:spLocks noGrp="1"/>
          </p:cNvSpPr>
          <p:nvPr>
            <p:ph type="dt" sz="half" idx="10"/>
          </p:nvPr>
        </p:nvSpPr>
        <p:spPr>
          <a:xfrm>
            <a:off x="-61126" y="6507584"/>
            <a:ext cx="2297631" cy="304800"/>
          </a:xfrm>
          <a:prstGeom prst="rect">
            <a:avLst/>
          </a:prstGeom>
        </p:spPr>
        <p:txBody>
          <a:bodyPr/>
          <a:lstStyle/>
          <a:p>
            <a:r>
              <a:rPr lang="cs-CZ">
                <a:solidFill>
                  <a:srgbClr val="000000"/>
                </a:solidFill>
              </a:rPr>
              <a:t>September 25, 2015</a:t>
            </a:r>
            <a:endParaRPr lang="en-US">
              <a:solidFill>
                <a:srgbClr val="000000"/>
              </a:solidFill>
            </a:endParaRPr>
          </a:p>
        </p:txBody>
      </p:sp>
      <p:sp>
        <p:nvSpPr>
          <p:cNvPr id="4" name="Footer Placeholder 3"/>
          <p:cNvSpPr>
            <a:spLocks noGrp="1"/>
          </p:cNvSpPr>
          <p:nvPr>
            <p:ph type="ftr" sz="quarter" idx="11"/>
          </p:nvPr>
        </p:nvSpPr>
        <p:spPr>
          <a:xfrm>
            <a:off x="3759200" y="6564825"/>
            <a:ext cx="4572000" cy="283845"/>
          </a:xfrm>
          <a:prstGeom prst="rect">
            <a:avLst/>
          </a:prstGeom>
        </p:spPr>
        <p:txBody>
          <a:bodyPr/>
          <a:lstStyle/>
          <a:p>
            <a:endParaRPr lang="en-US">
              <a:solidFill>
                <a:srgbClr val="000000"/>
              </a:solidFill>
            </a:endParaRPr>
          </a:p>
        </p:txBody>
      </p:sp>
      <p:sp>
        <p:nvSpPr>
          <p:cNvPr id="5" name="Slide Number Placeholder 4"/>
          <p:cNvSpPr>
            <a:spLocks noGrp="1"/>
          </p:cNvSpPr>
          <p:nvPr>
            <p:ph type="sldNum" sz="quarter" idx="12"/>
          </p:nvPr>
        </p:nvSpPr>
        <p:spPr/>
        <p:txBody>
          <a:bodyPr/>
          <a:lstStyle/>
          <a:p>
            <a:fld id="{F38DF745-7D3F-47F4-83A3-874385CFAA69}" type="slidenum">
              <a:rPr lang="en-US" smtClean="0">
                <a:solidFill>
                  <a:srgbClr val="D1282E"/>
                </a:solidFill>
              </a:rPr>
              <a:pPr/>
              <a:t>‹#›</a:t>
            </a:fld>
            <a:endParaRPr lang="en-US">
              <a:solidFill>
                <a:srgbClr val="D1282E"/>
              </a:solidFill>
            </a:endParaRPr>
          </a:p>
        </p:txBody>
      </p:sp>
    </p:spTree>
    <p:extLst>
      <p:ext uri="{BB962C8B-B14F-4D97-AF65-F5344CB8AC3E}">
        <p14:creationId xmlns:p14="http://schemas.microsoft.com/office/powerpoint/2010/main" val="15572191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1126" y="6507584"/>
            <a:ext cx="2297631" cy="304800"/>
          </a:xfrm>
          <a:prstGeom prst="rect">
            <a:avLst/>
          </a:prstGeom>
        </p:spPr>
        <p:txBody>
          <a:bodyPr/>
          <a:lstStyle/>
          <a:p>
            <a:r>
              <a:rPr lang="cs-CZ">
                <a:solidFill>
                  <a:srgbClr val="000000"/>
                </a:solidFill>
              </a:rPr>
              <a:t>September 25, 2015</a:t>
            </a:r>
            <a:endParaRPr lang="en-US">
              <a:solidFill>
                <a:srgbClr val="000000"/>
              </a:solidFill>
            </a:endParaRPr>
          </a:p>
        </p:txBody>
      </p:sp>
      <p:sp>
        <p:nvSpPr>
          <p:cNvPr id="3" name="Footer Placeholder 2"/>
          <p:cNvSpPr>
            <a:spLocks noGrp="1"/>
          </p:cNvSpPr>
          <p:nvPr>
            <p:ph type="ftr" sz="quarter" idx="11"/>
          </p:nvPr>
        </p:nvSpPr>
        <p:spPr>
          <a:xfrm>
            <a:off x="3759200" y="6564825"/>
            <a:ext cx="4572000" cy="283845"/>
          </a:xfrm>
          <a:prstGeom prst="rect">
            <a:avLst/>
          </a:prstGeom>
        </p:spPr>
        <p:txBody>
          <a:bodyPr/>
          <a:lstStyle/>
          <a:p>
            <a:endParaRPr lang="en-US">
              <a:solidFill>
                <a:srgbClr val="000000"/>
              </a:solidFill>
            </a:endParaRPr>
          </a:p>
        </p:txBody>
      </p:sp>
      <p:sp>
        <p:nvSpPr>
          <p:cNvPr id="4" name="Slide Number Placeholder 3"/>
          <p:cNvSpPr>
            <a:spLocks noGrp="1"/>
          </p:cNvSpPr>
          <p:nvPr>
            <p:ph type="sldNum" sz="quarter" idx="12"/>
          </p:nvPr>
        </p:nvSpPr>
        <p:spPr/>
        <p:txBody>
          <a:bodyPr/>
          <a:lstStyle/>
          <a:p>
            <a:fld id="{F38DF745-7D3F-47F4-83A3-874385CFAA69}" type="slidenum">
              <a:rPr lang="en-US" smtClean="0">
                <a:solidFill>
                  <a:srgbClr val="D1282E"/>
                </a:solidFill>
              </a:rPr>
              <a:pPr/>
              <a:t>‹#›</a:t>
            </a:fld>
            <a:endParaRPr lang="en-US">
              <a:solidFill>
                <a:srgbClr val="D1282E"/>
              </a:solidFill>
            </a:endParaRPr>
          </a:p>
        </p:txBody>
      </p:sp>
    </p:spTree>
    <p:extLst>
      <p:ext uri="{BB962C8B-B14F-4D97-AF65-F5344CB8AC3E}">
        <p14:creationId xmlns:p14="http://schemas.microsoft.com/office/powerpoint/2010/main" val="27073064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600200"/>
            <a:ext cx="6815667"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Click to edit Master text styles</a:t>
            </a:r>
          </a:p>
          <a:p>
            <a:pPr lvl="1"/>
            <a:r>
              <a:rPr lang="cs-CZ"/>
              <a:t>Second level</a:t>
            </a:r>
          </a:p>
          <a:p>
            <a:pPr lvl="2"/>
            <a:r>
              <a:rPr lang="cs-CZ"/>
              <a:t>Third level</a:t>
            </a:r>
          </a:p>
          <a:p>
            <a:pPr lvl="3"/>
            <a:r>
              <a:rPr lang="cs-CZ"/>
              <a:t>Fourth level</a:t>
            </a:r>
          </a:p>
          <a:p>
            <a:pPr lvl="4"/>
            <a:r>
              <a:rPr lang="cs-CZ"/>
              <a:t>Fifth level</a:t>
            </a:r>
            <a:endParaRPr lang="en-US" dirty="0"/>
          </a:p>
        </p:txBody>
      </p:sp>
      <p:sp>
        <p:nvSpPr>
          <p:cNvPr id="4" name="Text Placeholder 3"/>
          <p:cNvSpPr>
            <a:spLocks noGrp="1"/>
          </p:cNvSpPr>
          <p:nvPr>
            <p:ph type="body" sz="half" idx="2"/>
          </p:nvPr>
        </p:nvSpPr>
        <p:spPr>
          <a:xfrm>
            <a:off x="609601" y="1600200"/>
            <a:ext cx="4011084"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Click to edit Master text styles</a:t>
            </a:r>
          </a:p>
        </p:txBody>
      </p:sp>
      <p:sp>
        <p:nvSpPr>
          <p:cNvPr id="5" name="Date Placeholder 4"/>
          <p:cNvSpPr>
            <a:spLocks noGrp="1"/>
          </p:cNvSpPr>
          <p:nvPr>
            <p:ph type="dt" sz="half" idx="10"/>
          </p:nvPr>
        </p:nvSpPr>
        <p:spPr>
          <a:xfrm>
            <a:off x="-61126" y="6507584"/>
            <a:ext cx="2297631" cy="304800"/>
          </a:xfrm>
          <a:prstGeom prst="rect">
            <a:avLst/>
          </a:prstGeom>
        </p:spPr>
        <p:txBody>
          <a:bodyPr/>
          <a:lstStyle/>
          <a:p>
            <a:r>
              <a:rPr lang="cs-CZ">
                <a:solidFill>
                  <a:srgbClr val="000000"/>
                </a:solidFill>
              </a:rPr>
              <a:t>September 25, 2015</a:t>
            </a:r>
            <a:endParaRPr lang="en-US">
              <a:solidFill>
                <a:srgbClr val="000000"/>
              </a:solidFill>
            </a:endParaRPr>
          </a:p>
        </p:txBody>
      </p:sp>
      <p:sp>
        <p:nvSpPr>
          <p:cNvPr id="6" name="Footer Placeholder 5"/>
          <p:cNvSpPr>
            <a:spLocks noGrp="1"/>
          </p:cNvSpPr>
          <p:nvPr>
            <p:ph type="ftr" sz="quarter" idx="11"/>
          </p:nvPr>
        </p:nvSpPr>
        <p:spPr>
          <a:xfrm>
            <a:off x="3759200" y="6564825"/>
            <a:ext cx="4572000" cy="283845"/>
          </a:xfrm>
          <a:prstGeom prst="rect">
            <a:avLst/>
          </a:prstGeom>
        </p:spPr>
        <p:txBody>
          <a:bodyPr/>
          <a:lstStyle/>
          <a:p>
            <a:endParaRPr lang="en-US">
              <a:solidFill>
                <a:srgbClr val="000000"/>
              </a:solidFill>
            </a:endParaRPr>
          </a:p>
        </p:txBody>
      </p:sp>
      <p:sp>
        <p:nvSpPr>
          <p:cNvPr id="7" name="Slide Number Placeholder 6"/>
          <p:cNvSpPr>
            <a:spLocks noGrp="1"/>
          </p:cNvSpPr>
          <p:nvPr>
            <p:ph type="sldNum" sz="quarter" idx="12"/>
          </p:nvPr>
        </p:nvSpPr>
        <p:spPr/>
        <p:txBody>
          <a:bodyPr/>
          <a:lstStyle/>
          <a:p>
            <a:fld id="{F38DF745-7D3F-47F4-83A3-874385CFAA69}" type="slidenum">
              <a:rPr lang="en-US" smtClean="0">
                <a:solidFill>
                  <a:srgbClr val="D1282E"/>
                </a:solidFill>
              </a:rPr>
              <a:pPr/>
              <a:t>‹#›</a:t>
            </a:fld>
            <a:endParaRPr lang="en-US">
              <a:solidFill>
                <a:srgbClr val="D1282E"/>
              </a:solidFill>
            </a:endParaRPr>
          </a:p>
        </p:txBody>
      </p:sp>
      <p:sp>
        <p:nvSpPr>
          <p:cNvPr id="8" name="Title 7"/>
          <p:cNvSpPr>
            <a:spLocks noGrp="1"/>
          </p:cNvSpPr>
          <p:nvPr>
            <p:ph type="title"/>
          </p:nvPr>
        </p:nvSpPr>
        <p:spPr/>
        <p:txBody>
          <a:bodyPr/>
          <a:lstStyle/>
          <a:p>
            <a:r>
              <a:rPr lang="cs-CZ"/>
              <a:t>Click to edit Master title style</a:t>
            </a:r>
            <a:endParaRPr lang="en-US"/>
          </a:p>
        </p:txBody>
      </p:sp>
    </p:spTree>
    <p:extLst>
      <p:ext uri="{BB962C8B-B14F-4D97-AF65-F5344CB8AC3E}">
        <p14:creationId xmlns:p14="http://schemas.microsoft.com/office/powerpoint/2010/main" val="33231503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12001499" y="4846320"/>
            <a:ext cx="190501"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1800" dirty="0">
              <a:solidFill>
                <a:srgbClr val="FFFFFF"/>
              </a:solidFill>
              <a:latin typeface="Geogrotesque-SemiBoldItalic"/>
              <a:cs typeface="Geogrotesque-SemiBoldItalic"/>
            </a:endParaRPr>
          </a:p>
        </p:txBody>
      </p:sp>
      <p:sp>
        <p:nvSpPr>
          <p:cNvPr id="3" name="Picture Placeholder 2"/>
          <p:cNvSpPr>
            <a:spLocks noGrp="1"/>
          </p:cNvSpPr>
          <p:nvPr>
            <p:ph type="pic" idx="1"/>
          </p:nvPr>
        </p:nvSpPr>
        <p:spPr>
          <a:xfrm>
            <a:off x="0" y="0"/>
            <a:ext cx="12001169"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cs-CZ"/>
              <a:t>Drag picture to placeholder or click icon to add</a:t>
            </a:r>
            <a:endParaRPr lang="en-US" dirty="0"/>
          </a:p>
        </p:txBody>
      </p:sp>
      <p:sp>
        <p:nvSpPr>
          <p:cNvPr id="4" name="Text Placeholder 3"/>
          <p:cNvSpPr>
            <a:spLocks noGrp="1"/>
          </p:cNvSpPr>
          <p:nvPr>
            <p:ph type="body" sz="half" idx="2"/>
          </p:nvPr>
        </p:nvSpPr>
        <p:spPr>
          <a:xfrm>
            <a:off x="609600" y="5715000"/>
            <a:ext cx="108712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Click to edit Master text styles</a:t>
            </a:r>
          </a:p>
        </p:txBody>
      </p:sp>
      <p:sp>
        <p:nvSpPr>
          <p:cNvPr id="5" name="Date Placeholder 4"/>
          <p:cNvSpPr>
            <a:spLocks noGrp="1"/>
          </p:cNvSpPr>
          <p:nvPr>
            <p:ph type="dt" sz="half" idx="10"/>
          </p:nvPr>
        </p:nvSpPr>
        <p:spPr>
          <a:xfrm>
            <a:off x="-61126" y="6507584"/>
            <a:ext cx="2297631" cy="304800"/>
          </a:xfrm>
          <a:prstGeom prst="rect">
            <a:avLst/>
          </a:prstGeom>
        </p:spPr>
        <p:txBody>
          <a:bodyPr/>
          <a:lstStyle/>
          <a:p>
            <a:r>
              <a:rPr lang="cs-CZ">
                <a:solidFill>
                  <a:srgbClr val="000000"/>
                </a:solidFill>
              </a:rPr>
              <a:t>September 25, 2015</a:t>
            </a:r>
            <a:endParaRPr lang="en-US">
              <a:solidFill>
                <a:srgbClr val="000000"/>
              </a:solidFill>
            </a:endParaRPr>
          </a:p>
        </p:txBody>
      </p:sp>
      <p:sp>
        <p:nvSpPr>
          <p:cNvPr id="6" name="Footer Placeholder 5"/>
          <p:cNvSpPr>
            <a:spLocks noGrp="1"/>
          </p:cNvSpPr>
          <p:nvPr>
            <p:ph type="ftr" sz="quarter" idx="11"/>
          </p:nvPr>
        </p:nvSpPr>
        <p:spPr>
          <a:xfrm>
            <a:off x="3759200" y="6564825"/>
            <a:ext cx="4572000" cy="283845"/>
          </a:xfrm>
          <a:prstGeom prst="rect">
            <a:avLst/>
          </a:prstGeom>
        </p:spPr>
        <p:txBody>
          <a:body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F38DF745-7D3F-47F4-83A3-874385CFAA69}" type="slidenum">
              <a:rPr lang="en-US" smtClean="0">
                <a:solidFill>
                  <a:srgbClr val="000000"/>
                </a:solidFill>
              </a:rPr>
              <a:pPr/>
              <a:t>‹#›</a:t>
            </a:fld>
            <a:endParaRPr lang="en-US" dirty="0">
              <a:solidFill>
                <a:srgbClr val="000000"/>
              </a:solidFill>
            </a:endParaRPr>
          </a:p>
        </p:txBody>
      </p:sp>
      <p:sp>
        <p:nvSpPr>
          <p:cNvPr id="8" name="Title 7"/>
          <p:cNvSpPr>
            <a:spLocks noGrp="1"/>
          </p:cNvSpPr>
          <p:nvPr>
            <p:ph type="title"/>
          </p:nvPr>
        </p:nvSpPr>
        <p:spPr>
          <a:xfrm>
            <a:off x="609600" y="4953000"/>
            <a:ext cx="10871200" cy="762000"/>
          </a:xfrm>
        </p:spPr>
        <p:txBody>
          <a:bodyPr anchor="t">
            <a:normAutofit/>
          </a:bodyPr>
          <a:lstStyle>
            <a:lvl1pPr>
              <a:defRPr sz="3200"/>
            </a:lvl1pPr>
          </a:lstStyle>
          <a:p>
            <a:r>
              <a:rPr lang="cs-CZ"/>
              <a:t>Click to edit Master title style</a:t>
            </a:r>
            <a:endParaRPr lang="en-US" dirty="0"/>
          </a:p>
        </p:txBody>
      </p:sp>
      <p:sp>
        <p:nvSpPr>
          <p:cNvPr id="10" name="Rectangle 9"/>
          <p:cNvSpPr/>
          <p:nvPr/>
        </p:nvSpPr>
        <p:spPr>
          <a:xfrm>
            <a:off x="12001499" y="0"/>
            <a:ext cx="190501"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1800" dirty="0">
              <a:solidFill>
                <a:srgbClr val="FFFFFF"/>
              </a:solidFill>
              <a:latin typeface="Geogrotesque-SemiBoldItalic"/>
              <a:cs typeface="Geogrotesque-SemiBoldItalic"/>
            </a:endParaRPr>
          </a:p>
        </p:txBody>
      </p:sp>
    </p:spTree>
    <p:extLst>
      <p:ext uri="{BB962C8B-B14F-4D97-AF65-F5344CB8AC3E}">
        <p14:creationId xmlns:p14="http://schemas.microsoft.com/office/powerpoint/2010/main" val="3058077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cs-CZ"/>
              <a:t>Click to edit Master text styles</a:t>
            </a:r>
          </a:p>
          <a:p>
            <a:pPr lvl="1"/>
            <a:r>
              <a:rPr lang="cs-CZ"/>
              <a:t>Second level</a:t>
            </a:r>
          </a:p>
          <a:p>
            <a:pPr lvl="2"/>
            <a:r>
              <a:rPr lang="cs-CZ"/>
              <a:t>Third level</a:t>
            </a:r>
          </a:p>
          <a:p>
            <a:pPr lvl="3"/>
            <a:r>
              <a:rPr lang="cs-CZ"/>
              <a:t>Fourth level</a:t>
            </a:r>
          </a:p>
          <a:p>
            <a:pPr lvl="4"/>
            <a:r>
              <a:rPr lang="cs-CZ"/>
              <a:t>Fifth level</a:t>
            </a:r>
            <a:endParaRPr lang="en-US"/>
          </a:p>
        </p:txBody>
      </p:sp>
      <p:sp>
        <p:nvSpPr>
          <p:cNvPr id="4" name="Date Placeholder 3"/>
          <p:cNvSpPr>
            <a:spLocks noGrp="1"/>
          </p:cNvSpPr>
          <p:nvPr>
            <p:ph type="dt" sz="half" idx="10"/>
          </p:nvPr>
        </p:nvSpPr>
        <p:spPr>
          <a:xfrm>
            <a:off x="-61126" y="6507584"/>
            <a:ext cx="2297631" cy="304800"/>
          </a:xfrm>
          <a:prstGeom prst="rect">
            <a:avLst/>
          </a:prstGeom>
        </p:spPr>
        <p:txBody>
          <a:bodyPr/>
          <a:lstStyle/>
          <a:p>
            <a:r>
              <a:rPr lang="cs-CZ">
                <a:solidFill>
                  <a:srgbClr val="000000"/>
                </a:solidFill>
              </a:rPr>
              <a:t>September 25, 2015</a:t>
            </a:r>
            <a:endParaRPr lang="en-US">
              <a:solidFill>
                <a:srgbClr val="000000"/>
              </a:solidFill>
            </a:endParaRPr>
          </a:p>
        </p:txBody>
      </p:sp>
      <p:sp>
        <p:nvSpPr>
          <p:cNvPr id="5" name="Footer Placeholder 4"/>
          <p:cNvSpPr>
            <a:spLocks noGrp="1"/>
          </p:cNvSpPr>
          <p:nvPr>
            <p:ph type="ftr" sz="quarter" idx="11"/>
          </p:nvPr>
        </p:nvSpPr>
        <p:spPr>
          <a:xfrm>
            <a:off x="3759200" y="6564825"/>
            <a:ext cx="4572000" cy="283845"/>
          </a:xfrm>
          <a:prstGeom prst="rect">
            <a:avLst/>
          </a:prstGeom>
        </p:spPr>
        <p:txBody>
          <a:bodyPr/>
          <a:lstStyle/>
          <a:p>
            <a:endParaRPr lang="en-US">
              <a:solidFill>
                <a:srgbClr val="000000"/>
              </a:solidFill>
            </a:endParaRPr>
          </a:p>
        </p:txBody>
      </p:sp>
      <p:sp>
        <p:nvSpPr>
          <p:cNvPr id="6" name="Slide Number Placeholder 5"/>
          <p:cNvSpPr>
            <a:spLocks noGrp="1"/>
          </p:cNvSpPr>
          <p:nvPr>
            <p:ph type="sldNum" sz="quarter" idx="12"/>
          </p:nvPr>
        </p:nvSpPr>
        <p:spPr/>
        <p:txBody>
          <a:bodyPr/>
          <a:lstStyle/>
          <a:p>
            <a:fld id="{F38DF745-7D3F-47F4-83A3-874385CFAA69}" type="slidenum">
              <a:rPr lang="en-US" smtClean="0">
                <a:solidFill>
                  <a:srgbClr val="D1282E"/>
                </a:solidFill>
              </a:rPr>
              <a:pPr/>
              <a:t>‹#›</a:t>
            </a:fld>
            <a:endParaRPr lang="en-US">
              <a:solidFill>
                <a:srgbClr val="D1282E"/>
              </a:solidFill>
            </a:endParaRPr>
          </a:p>
        </p:txBody>
      </p:sp>
    </p:spTree>
    <p:extLst>
      <p:ext uri="{BB962C8B-B14F-4D97-AF65-F5344CB8AC3E}">
        <p14:creationId xmlns:p14="http://schemas.microsoft.com/office/powerpoint/2010/main" val="3350995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cs-CZ"/>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cs-CZ"/>
              <a:t>Click to edit Master text styles</a:t>
            </a:r>
          </a:p>
          <a:p>
            <a:pPr lvl="1"/>
            <a:r>
              <a:rPr lang="cs-CZ"/>
              <a:t>Second level</a:t>
            </a:r>
          </a:p>
          <a:p>
            <a:pPr lvl="2"/>
            <a:r>
              <a:rPr lang="cs-CZ"/>
              <a:t>Third level</a:t>
            </a:r>
          </a:p>
          <a:p>
            <a:pPr lvl="3"/>
            <a:r>
              <a:rPr lang="cs-CZ"/>
              <a:t>Fourth level</a:t>
            </a:r>
          </a:p>
          <a:p>
            <a:pPr lvl="4"/>
            <a:r>
              <a:rPr lang="cs-CZ"/>
              <a:t>Fifth level</a:t>
            </a:r>
            <a:endParaRPr lang="en-US"/>
          </a:p>
        </p:txBody>
      </p:sp>
      <p:sp>
        <p:nvSpPr>
          <p:cNvPr id="4" name="Date Placeholder 3"/>
          <p:cNvSpPr>
            <a:spLocks noGrp="1"/>
          </p:cNvSpPr>
          <p:nvPr>
            <p:ph type="dt" sz="half" idx="10"/>
          </p:nvPr>
        </p:nvSpPr>
        <p:spPr>
          <a:xfrm>
            <a:off x="-61126" y="6507584"/>
            <a:ext cx="2297631" cy="304800"/>
          </a:xfrm>
          <a:prstGeom prst="rect">
            <a:avLst/>
          </a:prstGeom>
        </p:spPr>
        <p:txBody>
          <a:bodyPr/>
          <a:lstStyle/>
          <a:p>
            <a:r>
              <a:rPr lang="cs-CZ">
                <a:solidFill>
                  <a:srgbClr val="000000"/>
                </a:solidFill>
              </a:rPr>
              <a:t>September 25, 2015</a:t>
            </a:r>
            <a:endParaRPr lang="en-US">
              <a:solidFill>
                <a:srgbClr val="000000"/>
              </a:solidFill>
            </a:endParaRPr>
          </a:p>
        </p:txBody>
      </p:sp>
      <p:sp>
        <p:nvSpPr>
          <p:cNvPr id="5" name="Footer Placeholder 4"/>
          <p:cNvSpPr>
            <a:spLocks noGrp="1"/>
          </p:cNvSpPr>
          <p:nvPr>
            <p:ph type="ftr" sz="quarter" idx="11"/>
          </p:nvPr>
        </p:nvSpPr>
        <p:spPr>
          <a:xfrm>
            <a:off x="3759200" y="6564825"/>
            <a:ext cx="4572000" cy="283845"/>
          </a:xfrm>
          <a:prstGeom prst="rect">
            <a:avLst/>
          </a:prstGeom>
        </p:spPr>
        <p:txBody>
          <a:bodyPr/>
          <a:lstStyle/>
          <a:p>
            <a:endParaRPr lang="en-US">
              <a:solidFill>
                <a:srgbClr val="000000"/>
              </a:solidFill>
            </a:endParaRPr>
          </a:p>
        </p:txBody>
      </p:sp>
      <p:sp>
        <p:nvSpPr>
          <p:cNvPr id="6" name="Slide Number Placeholder 5"/>
          <p:cNvSpPr>
            <a:spLocks noGrp="1"/>
          </p:cNvSpPr>
          <p:nvPr>
            <p:ph type="sldNum" sz="quarter" idx="12"/>
          </p:nvPr>
        </p:nvSpPr>
        <p:spPr/>
        <p:txBody>
          <a:bodyPr/>
          <a:lstStyle/>
          <a:p>
            <a:fld id="{F38DF745-7D3F-47F4-83A3-874385CFAA69}" type="slidenum">
              <a:rPr lang="en-US" smtClean="0">
                <a:solidFill>
                  <a:srgbClr val="D1282E"/>
                </a:solidFill>
              </a:rPr>
              <a:pPr/>
              <a:t>‹#›</a:t>
            </a:fld>
            <a:endParaRPr lang="en-US">
              <a:solidFill>
                <a:srgbClr val="D1282E"/>
              </a:solidFill>
            </a:endParaRPr>
          </a:p>
        </p:txBody>
      </p:sp>
    </p:spTree>
    <p:extLst>
      <p:ext uri="{BB962C8B-B14F-4D97-AF65-F5344CB8AC3E}">
        <p14:creationId xmlns:p14="http://schemas.microsoft.com/office/powerpoint/2010/main" val="3162792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141A9C-DB8D-0EA6-5771-BD0E159022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9ACD66E-1C1A-6D14-1AD1-843605D5EA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3BBD1BC-7AAE-0115-68F9-6944108433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2DA41F16-B2B8-01C0-545B-C71F3324F5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15F467-BF1E-1C0C-F980-905566F73C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723DEB-0A6A-FE4C-AB1C-CAF73B1EA4F0}" type="slidenum">
              <a:rPr lang="en-US" smtClean="0"/>
              <a:t>‹#›</a:t>
            </a:fld>
            <a:endParaRPr lang="en-US"/>
          </a:p>
        </p:txBody>
      </p:sp>
    </p:spTree>
    <p:extLst>
      <p:ext uri="{BB962C8B-B14F-4D97-AF65-F5344CB8AC3E}">
        <p14:creationId xmlns:p14="http://schemas.microsoft.com/office/powerpoint/2010/main" val="1956958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52718"/>
            <a:ext cx="11370747" cy="956861"/>
          </a:xfrm>
          <a:prstGeom prst="rect">
            <a:avLst/>
          </a:prstGeom>
        </p:spPr>
        <p:txBody>
          <a:bodyPr vert="horz" lIns="91440" tIns="45720" rIns="91440" bIns="45720" rtlCol="0" anchor="t" anchorCtr="0">
            <a:normAutofit/>
          </a:bodyPr>
          <a:lstStyle/>
          <a:p>
            <a:r>
              <a:rPr lang="cs-CZ" dirty="0" err="1"/>
              <a:t>Click</a:t>
            </a:r>
            <a:r>
              <a:rPr lang="cs-CZ" dirty="0"/>
              <a:t> to </a:t>
            </a:r>
            <a:r>
              <a:rPr lang="cs-CZ" dirty="0" err="1"/>
              <a:t>edit</a:t>
            </a:r>
            <a:r>
              <a:rPr lang="cs-CZ" dirty="0"/>
              <a:t> Master </a:t>
            </a:r>
            <a:r>
              <a:rPr lang="cs-CZ" dirty="0" err="1"/>
              <a:t>title</a:t>
            </a:r>
            <a:r>
              <a:rPr lang="cs-CZ" dirty="0"/>
              <a:t> style</a:t>
            </a:r>
            <a:endParaRPr lang="en-US" dirty="0"/>
          </a:p>
        </p:txBody>
      </p:sp>
      <p:sp>
        <p:nvSpPr>
          <p:cNvPr id="3" name="Text Placeholder 2"/>
          <p:cNvSpPr>
            <a:spLocks noGrp="1"/>
          </p:cNvSpPr>
          <p:nvPr>
            <p:ph type="body" idx="1"/>
          </p:nvPr>
        </p:nvSpPr>
        <p:spPr>
          <a:xfrm>
            <a:off x="609600" y="1283369"/>
            <a:ext cx="10160000" cy="4842795"/>
          </a:xfrm>
          <a:prstGeom prst="rect">
            <a:avLst/>
          </a:prstGeom>
        </p:spPr>
        <p:txBody>
          <a:bodyPr vert="horz" lIns="91440" tIns="45720" rIns="91440" bIns="45720" rtlCol="0">
            <a:normAutofit/>
          </a:bodyPr>
          <a:lstStyle/>
          <a:p>
            <a:pPr lvl="0"/>
            <a:r>
              <a:rPr lang="cs-CZ" dirty="0" err="1"/>
              <a:t>Click</a:t>
            </a:r>
            <a:r>
              <a:rPr lang="cs-CZ" dirty="0"/>
              <a:t> to </a:t>
            </a:r>
            <a:r>
              <a:rPr lang="cs-CZ" dirty="0" err="1"/>
              <a:t>edit</a:t>
            </a:r>
            <a:r>
              <a:rPr lang="cs-CZ" dirty="0"/>
              <a:t> Master text </a:t>
            </a:r>
            <a:r>
              <a:rPr lang="cs-CZ" dirty="0" err="1"/>
              <a:t>styles</a:t>
            </a:r>
            <a:endParaRPr lang="cs-CZ" dirty="0"/>
          </a:p>
          <a:p>
            <a:pPr lvl="1"/>
            <a:r>
              <a:rPr lang="cs-CZ" dirty="0"/>
              <a:t>Second </a:t>
            </a:r>
            <a:r>
              <a:rPr lang="cs-CZ" dirty="0" err="1"/>
              <a:t>level</a:t>
            </a:r>
            <a:endParaRPr lang="cs-CZ" dirty="0"/>
          </a:p>
          <a:p>
            <a:pPr lvl="2"/>
            <a:r>
              <a:rPr lang="cs-CZ" dirty="0" err="1"/>
              <a:t>Third</a:t>
            </a:r>
            <a:r>
              <a:rPr lang="cs-CZ" dirty="0"/>
              <a:t> </a:t>
            </a:r>
            <a:r>
              <a:rPr lang="cs-CZ" dirty="0" err="1"/>
              <a:t>level</a:t>
            </a:r>
            <a:endParaRPr lang="cs-CZ" dirty="0"/>
          </a:p>
          <a:p>
            <a:pPr lvl="3"/>
            <a:r>
              <a:rPr lang="cs-CZ" dirty="0" err="1"/>
              <a:t>Fourth</a:t>
            </a:r>
            <a:r>
              <a:rPr lang="cs-CZ" dirty="0"/>
              <a:t> </a:t>
            </a:r>
            <a:r>
              <a:rPr lang="cs-CZ" dirty="0" err="1"/>
              <a:t>level</a:t>
            </a:r>
            <a:endParaRPr lang="cs-CZ" dirty="0"/>
          </a:p>
          <a:p>
            <a:pPr lvl="4"/>
            <a:r>
              <a:rPr lang="cs-CZ" dirty="0" err="1"/>
              <a:t>Fifth</a:t>
            </a:r>
            <a:r>
              <a:rPr lang="cs-CZ" dirty="0"/>
              <a:t> </a:t>
            </a:r>
            <a:r>
              <a:rPr lang="cs-CZ" dirty="0" err="1"/>
              <a:t>level</a:t>
            </a:r>
            <a:endParaRPr lang="en-US" dirty="0"/>
          </a:p>
        </p:txBody>
      </p:sp>
      <p:sp>
        <p:nvSpPr>
          <p:cNvPr id="6" name="Slide Number Placeholder 5"/>
          <p:cNvSpPr>
            <a:spLocks noGrp="1"/>
          </p:cNvSpPr>
          <p:nvPr>
            <p:ph type="sldNum" sz="quarter" idx="4"/>
          </p:nvPr>
        </p:nvSpPr>
        <p:spPr>
          <a:xfrm>
            <a:off x="10425378" y="6519830"/>
            <a:ext cx="1754295" cy="365125"/>
          </a:xfrm>
          <a:prstGeom prst="rect">
            <a:avLst/>
          </a:prstGeom>
        </p:spPr>
        <p:txBody>
          <a:bodyPr vert="horz" lIns="91440" tIns="45720" rIns="91440" bIns="45720" rtlCol="0" anchor="ctr"/>
          <a:lstStyle>
            <a:lvl1pPr algn="r">
              <a:defRPr sz="1800" b="1" i="0">
                <a:solidFill>
                  <a:schemeClr val="tx2"/>
                </a:solidFill>
                <a:latin typeface="Geogrotesque-SemiBold"/>
                <a:cs typeface="Geogrotesque-SemiBold"/>
              </a:defRPr>
            </a:lvl1pPr>
          </a:lstStyle>
          <a:p>
            <a:fld id="{F38DF745-7D3F-47F4-83A3-874385CFAA69}" type="slidenum">
              <a:rPr lang="en-US" smtClean="0">
                <a:solidFill>
                  <a:srgbClr val="D1282E"/>
                </a:solidFill>
              </a:rPr>
              <a:pPr/>
              <a:t>‹#›</a:t>
            </a:fld>
            <a:endParaRPr lang="en-US" dirty="0">
              <a:solidFill>
                <a:srgbClr val="D1282E"/>
              </a:solidFill>
            </a:endParaRPr>
          </a:p>
        </p:txBody>
      </p:sp>
    </p:spTree>
    <p:extLst>
      <p:ext uri="{BB962C8B-B14F-4D97-AF65-F5344CB8AC3E}">
        <p14:creationId xmlns:p14="http://schemas.microsoft.com/office/powerpoint/2010/main" val="392147019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p:txStyles>
    <p:titleStyle>
      <a:lvl1pPr algn="l" defTabSz="914400" rtl="0" eaLnBrk="1" latinLnBrk="0" hangingPunct="1">
        <a:spcBef>
          <a:spcPct val="0"/>
        </a:spcBef>
        <a:buNone/>
        <a:defRPr sz="3600" b="0" i="0" kern="1200" cap="all" spc="-60" baseline="0">
          <a:solidFill>
            <a:schemeClr val="tx2"/>
          </a:solidFill>
          <a:latin typeface="Geogrotesque-Medium"/>
          <a:ea typeface="+mj-ea"/>
          <a:cs typeface="Geogrotesque-Medium"/>
        </a:defRPr>
      </a:lvl1pPr>
    </p:titleStyle>
    <p:bodyStyle>
      <a:lvl1pPr marL="0" indent="0" algn="l" defTabSz="914400" rtl="0" eaLnBrk="1" latinLnBrk="0" hangingPunct="1">
        <a:spcBef>
          <a:spcPct val="20000"/>
        </a:spcBef>
        <a:spcAft>
          <a:spcPts val="600"/>
        </a:spcAft>
        <a:buFont typeface="Arial" pitchFamily="34" charset="0"/>
        <a:buNone/>
        <a:defRPr sz="2000" b="0" i="0" kern="1200">
          <a:solidFill>
            <a:schemeClr val="tx1"/>
          </a:solidFill>
          <a:latin typeface="Geogrotesque-Medium"/>
          <a:ea typeface="+mn-ea"/>
          <a:cs typeface="Geogrotesque-Medium"/>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Geogrotesque Regular"/>
          <a:ea typeface="+mn-ea"/>
          <a:cs typeface="Geogrotesque Regular"/>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Geogrotesque Regular"/>
          <a:ea typeface="+mn-ea"/>
          <a:cs typeface="Geogrotesque Regular"/>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Geogrotesque Regular"/>
          <a:ea typeface="+mn-ea"/>
          <a:cs typeface="Geogrotesque Regular"/>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Geogrotesque Regular"/>
          <a:ea typeface="+mn-ea"/>
          <a:cs typeface="Geogrotesque Regular"/>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 Id="rId9" Type="http://schemas.openxmlformats.org/officeDocument/2006/relationships/image" Target="../media/image17.emf"/></Relationships>
</file>

<file path=ppt/slides/_rels/slide1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20.emf"/><Relationship Id="rId7" Type="http://schemas.openxmlformats.org/officeDocument/2006/relationships/image" Target="../media/image24.emf"/><Relationship Id="rId2" Type="http://schemas.openxmlformats.org/officeDocument/2006/relationships/notesSlide" Target="../notesSlides/notesSlide10.xml"/><Relationship Id="rId1" Type="http://schemas.openxmlformats.org/officeDocument/2006/relationships/slideLayout" Target="../slideLayouts/slideLayout22.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1.xml"/><Relationship Id="rId1" Type="http://schemas.openxmlformats.org/officeDocument/2006/relationships/slideLayout" Target="../slideLayouts/slideLayout22.xml"/><Relationship Id="rId5" Type="http://schemas.openxmlformats.org/officeDocument/2006/relationships/image" Target="../media/image27.emf"/><Relationship Id="rId4" Type="http://schemas.openxmlformats.org/officeDocument/2006/relationships/image" Target="../media/image26.emf"/></Relationships>
</file>

<file path=ppt/slides/_rels/slide17.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2.xml"/><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image" Target="../media/image29.emf"/></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7.emf"/><Relationship Id="rId1" Type="http://schemas.openxmlformats.org/officeDocument/2006/relationships/slideLayout" Target="../slideLayouts/slideLayout22.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emf"/></Relationships>
</file>

<file path=ppt/slides/_rels/slide2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22.xml"/><Relationship Id="rId4" Type="http://schemas.openxmlformats.org/officeDocument/2006/relationships/image" Target="../media/image39.emf"/></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232266"/>
            <a:ext cx="12192000" cy="1323439"/>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4000" noProof="0" dirty="0">
                <a:latin typeface="Geogrotesque Rg" panose="02000000000000000000" pitchFamily="2" charset="77"/>
              </a:rPr>
              <a:t>Lecture 4 — Correlation &amp; Regression</a:t>
            </a:r>
          </a:p>
        </p:txBody>
      </p:sp>
      <p:sp>
        <p:nvSpPr>
          <p:cNvPr id="5" name="TextBox 4"/>
          <p:cNvSpPr txBox="1"/>
          <p:nvPr/>
        </p:nvSpPr>
        <p:spPr>
          <a:xfrm>
            <a:off x="0" y="5071736"/>
            <a:ext cx="12192000" cy="553998"/>
          </a:xfrm>
          <a:prstGeom prst="rect">
            <a:avLst/>
          </a:prstGeom>
          <a:noFill/>
        </p:spPr>
        <p:txBody>
          <a:bodyPr wrap="square" rtlCol="0">
            <a:spAutoFit/>
          </a:bodyPr>
          <a:lstStyle/>
          <a:p>
            <a:pPr algn="ctr"/>
            <a:r>
              <a:rPr lang="en-GB" sz="3000" noProof="0" dirty="0">
                <a:latin typeface="Geogrotesque Rg" panose="02000000000000000000" pitchFamily="2" charset="77"/>
              </a:rPr>
              <a:t>Michal Kolář</a:t>
            </a:r>
          </a:p>
        </p:txBody>
      </p:sp>
      <p:sp>
        <p:nvSpPr>
          <p:cNvPr id="6" name="TextBox 5"/>
          <p:cNvSpPr txBox="1"/>
          <p:nvPr/>
        </p:nvSpPr>
        <p:spPr>
          <a:xfrm>
            <a:off x="0" y="5625734"/>
            <a:ext cx="12192000" cy="553998"/>
          </a:xfrm>
          <a:prstGeom prst="rect">
            <a:avLst/>
          </a:prstGeom>
          <a:noFill/>
        </p:spPr>
        <p:txBody>
          <a:bodyPr wrap="square" rtlCol="0">
            <a:spAutoFit/>
          </a:bodyPr>
          <a:lstStyle/>
          <a:p>
            <a:pPr algn="ctr"/>
            <a:r>
              <a:rPr lang="en-GB" sz="3000" noProof="0" dirty="0">
                <a:solidFill>
                  <a:srgbClr val="007FBA"/>
                </a:solidFill>
                <a:latin typeface="Geogrotesque Rg" panose="02000000000000000000" pitchFamily="2" charset="77"/>
                <a:cs typeface="Arial" panose="020B0604020202020204" pitchFamily="34" charset="0"/>
              </a:rPr>
              <a:t>IMG</a:t>
            </a:r>
          </a:p>
        </p:txBody>
      </p:sp>
      <p:sp>
        <p:nvSpPr>
          <p:cNvPr id="7" name="TextBox 6">
            <a:extLst>
              <a:ext uri="{FF2B5EF4-FFF2-40B4-BE49-F238E27FC236}">
                <a16:creationId xmlns:a16="http://schemas.microsoft.com/office/drawing/2014/main" id="{1C9C07E4-CA13-A349-82FC-508587E8704F}"/>
              </a:ext>
            </a:extLst>
          </p:cNvPr>
          <p:cNvSpPr txBox="1"/>
          <p:nvPr/>
        </p:nvSpPr>
        <p:spPr>
          <a:xfrm>
            <a:off x="0" y="6179732"/>
            <a:ext cx="12192000" cy="338554"/>
          </a:xfrm>
          <a:prstGeom prst="rect">
            <a:avLst/>
          </a:prstGeom>
          <a:noFill/>
        </p:spPr>
        <p:txBody>
          <a:bodyPr wrap="square" rtlCol="0">
            <a:spAutoFit/>
          </a:bodyPr>
          <a:lstStyle/>
          <a:p>
            <a:pPr algn="ctr"/>
            <a:r>
              <a:rPr lang="en-GB" sz="1600" noProof="0" dirty="0">
                <a:latin typeface="Geogrotesque Rg" panose="02000000000000000000" pitchFamily="2" charset="77"/>
              </a:rPr>
              <a:t>Prague, 06/2026</a:t>
            </a:r>
          </a:p>
        </p:txBody>
      </p:sp>
    </p:spTree>
    <p:extLst>
      <p:ext uri="{BB962C8B-B14F-4D97-AF65-F5344CB8AC3E}">
        <p14:creationId xmlns:p14="http://schemas.microsoft.com/office/powerpoint/2010/main" val="2659336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4000" noProof="0">
                <a:latin typeface="Geogrotesque Rg" panose="02000000000000000000" pitchFamily="2" charset="77"/>
              </a:rPr>
              <a:t>Part I — Measuring association</a:t>
            </a:r>
          </a:p>
        </p:txBody>
      </p:sp>
    </p:spTree>
    <p:extLst>
      <p:ext uri="{BB962C8B-B14F-4D97-AF65-F5344CB8AC3E}">
        <p14:creationId xmlns:p14="http://schemas.microsoft.com/office/powerpoint/2010/main" val="1549153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07789-6E52-3DC9-C503-0C50F27B80B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9C70469-39CD-EA86-AC16-55D5C74D7872}"/>
              </a:ext>
            </a:extLst>
          </p:cNvPr>
          <p:cNvPicPr>
            <a:picLocks noChangeAspect="1"/>
          </p:cNvPicPr>
          <p:nvPr/>
        </p:nvPicPr>
        <p:blipFill>
          <a:blip r:embed="rId3"/>
          <a:stretch>
            <a:fillRect/>
          </a:stretch>
        </p:blipFill>
        <p:spPr>
          <a:xfrm>
            <a:off x="537344" y="891672"/>
            <a:ext cx="11117311" cy="5074656"/>
          </a:xfrm>
          <a:prstGeom prst="rect">
            <a:avLst/>
          </a:prstGeom>
        </p:spPr>
      </p:pic>
    </p:spTree>
    <p:extLst>
      <p:ext uri="{BB962C8B-B14F-4D97-AF65-F5344CB8AC3E}">
        <p14:creationId xmlns:p14="http://schemas.microsoft.com/office/powerpoint/2010/main" val="1115686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4</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Correlation: Pearson's r</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How strongly do two measured variables move together?</a:t>
            </a:r>
          </a:p>
          <a:p>
            <a:pPr marL="0" indent="0" algn="just">
              <a:buNone/>
            </a:pPr>
            <a:endParaRPr lang="en-GB" sz="2000" noProof="0" dirty="0"/>
          </a:p>
          <a:p>
            <a:pPr algn="just"/>
            <a:r>
              <a:rPr lang="en-GB" sz="2000" noProof="0" dirty="0">
                <a:latin typeface="Geogrotesque Rg" panose="02000000000000000000" pitchFamily="2" charset="77"/>
              </a:rPr>
              <a:t>Correlation runs from −1 (anti) through 0 (unrelated) to +1; a strong correlate is a </a:t>
            </a:r>
            <a:r>
              <a:rPr lang="en-GB" sz="2000" noProof="0" dirty="0">
                <a:solidFill>
                  <a:srgbClr val="F25331"/>
                </a:solidFill>
                <a:latin typeface="Geogrotesque Rg" panose="02000000000000000000" pitchFamily="2" charset="77"/>
              </a:rPr>
              <a:t>predictor</a:t>
            </a:r>
            <a:r>
              <a:rPr lang="en-GB" sz="2000" noProof="0" dirty="0">
                <a:latin typeface="Geogrotesque Rg" panose="02000000000000000000" pitchFamily="2" charset="77"/>
              </a:rPr>
              <a:t>, carrying redundant information.</a:t>
            </a:r>
          </a:p>
          <a:p>
            <a:pPr algn="just"/>
            <a:r>
              <a:rPr lang="en-GB" sz="2000" noProof="0" dirty="0">
                <a:solidFill>
                  <a:srgbClr val="F25331"/>
                </a:solidFill>
                <a:latin typeface="Geogrotesque Rg" panose="02000000000000000000" pitchFamily="2" charset="77"/>
              </a:rPr>
              <a:t>Pearson's r</a:t>
            </a:r>
            <a:r>
              <a:rPr lang="en-GB" sz="2000" noProof="0" dirty="0">
                <a:latin typeface="Geogrotesque Rg" panose="02000000000000000000" pitchFamily="2" charset="77"/>
              </a:rPr>
              <a:t> is a standardized covariance — it measures </a:t>
            </a:r>
            <a:r>
              <a:rPr lang="en-GB" sz="2000" noProof="0" dirty="0">
                <a:solidFill>
                  <a:srgbClr val="F25331"/>
                </a:solidFill>
                <a:latin typeface="Geogrotesque Rg" panose="02000000000000000000" pitchFamily="2" charset="77"/>
              </a:rPr>
              <a:t>linear</a:t>
            </a:r>
            <a:r>
              <a:rPr lang="en-GB" sz="2000" noProof="0" dirty="0">
                <a:latin typeface="Geogrotesque Rg" panose="02000000000000000000" pitchFamily="2" charset="77"/>
              </a:rPr>
              <a:t> association only</a:t>
            </a:r>
          </a:p>
          <a:p>
            <a:pPr algn="just"/>
            <a:endParaRPr lang="en-GB" sz="200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r>
              <a:rPr lang="en-GB" sz="2000" noProof="0" dirty="0">
                <a:latin typeface="Geogrotesque Rg" panose="02000000000000000000" pitchFamily="2" charset="77"/>
              </a:rPr>
              <a:t>Pitfall: a strong non-linear relationship can still give r ≈ 0 — </a:t>
            </a:r>
            <a:r>
              <a:rPr lang="en-GB" sz="2000" noProof="0" dirty="0">
                <a:solidFill>
                  <a:srgbClr val="F25331"/>
                </a:solidFill>
                <a:latin typeface="Geogrotesque Rg" panose="02000000000000000000" pitchFamily="2" charset="77"/>
              </a:rPr>
              <a:t>always plot the data</a:t>
            </a:r>
            <a:r>
              <a:rPr lang="en-GB" sz="2000" noProof="0" dirty="0">
                <a:latin typeface="Geogrotesque Rg" panose="02000000000000000000" pitchFamily="2" charset="77"/>
              </a:rPr>
              <a:t>.</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509506" y="6067385"/>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r = 0 means no linear association — not independence.</a:t>
            </a:r>
          </a:p>
        </p:txBody>
      </p:sp>
      <p:pic>
        <p:nvPicPr>
          <p:cNvPr id="91" name="pearson_r"/>
          <p:cNvPicPr>
            <a:picLocks noChangeAspect="1"/>
          </p:cNvPicPr>
          <p:nvPr/>
        </p:nvPicPr>
        <p:blipFill>
          <a:blip r:embed="rId3">
            <a:duotone>
              <a:schemeClr val="accent4">
                <a:shade val="45000"/>
                <a:satMod val="135000"/>
              </a:schemeClr>
              <a:prstClr val="white"/>
            </a:duotone>
          </a:blip>
          <a:stretch>
            <a:fillRect/>
          </a:stretch>
        </p:blipFill>
        <p:spPr>
          <a:xfrm>
            <a:off x="2690400" y="2884699"/>
            <a:ext cx="4202312" cy="1000000"/>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A6A11-4F01-2861-ABE5-BDED79C7E08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8AA8374-C85F-E067-6C66-6DCF0720B52C}"/>
              </a:ext>
            </a:extLst>
          </p:cNvPr>
          <p:cNvPicPr>
            <a:picLocks noChangeAspect="1"/>
          </p:cNvPicPr>
          <p:nvPr/>
        </p:nvPicPr>
        <p:blipFill>
          <a:blip r:embed="rId3"/>
          <a:srcRect t="-5" b="123"/>
          <a:stretch>
            <a:fillRect/>
          </a:stretch>
        </p:blipFill>
        <p:spPr>
          <a:xfrm>
            <a:off x="1080354" y="1791448"/>
            <a:ext cx="10059002" cy="3191974"/>
          </a:xfrm>
          <a:prstGeom prst="rect">
            <a:avLst/>
          </a:prstGeom>
        </p:spPr>
      </p:pic>
      <p:sp>
        <p:nvSpPr>
          <p:cNvPr id="5" name="Rectangle 4">
            <a:extLst>
              <a:ext uri="{FF2B5EF4-FFF2-40B4-BE49-F238E27FC236}">
                <a16:creationId xmlns:a16="http://schemas.microsoft.com/office/drawing/2014/main" id="{ED4B4632-1C2E-A6D4-A6A9-DC7319FFA82F}"/>
              </a:ext>
            </a:extLst>
          </p:cNvPr>
          <p:cNvSpPr/>
          <p:nvPr/>
        </p:nvSpPr>
        <p:spPr>
          <a:xfrm>
            <a:off x="2687781" y="1800481"/>
            <a:ext cx="1676400" cy="2036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CB1D208-BDCE-AA80-1480-DC290027B41C}"/>
              </a:ext>
            </a:extLst>
          </p:cNvPr>
          <p:cNvSpPr/>
          <p:nvPr/>
        </p:nvSpPr>
        <p:spPr>
          <a:xfrm>
            <a:off x="6013172" y="1828187"/>
            <a:ext cx="1856213" cy="2036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2E56E90-51CB-7047-D5A1-1E9C170979C3}"/>
              </a:ext>
            </a:extLst>
          </p:cNvPr>
          <p:cNvSpPr/>
          <p:nvPr/>
        </p:nvSpPr>
        <p:spPr>
          <a:xfrm>
            <a:off x="9331483" y="1648691"/>
            <a:ext cx="2029243" cy="383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3506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CC3AA-9ABF-9321-6646-2574790902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0F74BD-3B68-5881-EBC8-BDE622E2C963}"/>
              </a:ext>
            </a:extLst>
          </p:cNvPr>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6</a:t>
            </a:fld>
            <a:endParaRPr lang="en-GB" noProof="0" dirty="0">
              <a:latin typeface="Geogrotesque Rg" panose="02000000000000000000" pitchFamily="2" charset="77"/>
            </a:endParaRPr>
          </a:p>
        </p:txBody>
      </p:sp>
      <p:sp>
        <p:nvSpPr>
          <p:cNvPr id="5" name="TextBox 4">
            <a:extLst>
              <a:ext uri="{FF2B5EF4-FFF2-40B4-BE49-F238E27FC236}">
                <a16:creationId xmlns:a16="http://schemas.microsoft.com/office/drawing/2014/main" id="{7A5ED571-A110-27EA-4F1A-6FB86532EF6E}"/>
              </a:ext>
            </a:extLst>
          </p:cNvPr>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dirty="0">
                <a:latin typeface="Geogrotesque Rg" panose="02000000000000000000" pitchFamily="2" charset="77"/>
              </a:rPr>
              <a:t>When linear isn't enough: Spearman &amp; Kendall</a:t>
            </a:r>
            <a:endParaRPr lang="en-GB" sz="3000" noProof="0" dirty="0">
              <a:latin typeface="Geogrotesque Rg" panose="02000000000000000000" pitchFamily="2" charset="77"/>
            </a:endParaRPr>
          </a:p>
        </p:txBody>
      </p:sp>
      <p:sp>
        <p:nvSpPr>
          <p:cNvPr id="3" name="Rectangle 2">
            <a:extLst>
              <a:ext uri="{FF2B5EF4-FFF2-40B4-BE49-F238E27FC236}">
                <a16:creationId xmlns:a16="http://schemas.microsoft.com/office/drawing/2014/main" id="{1120204E-BA83-9E61-709D-C4921632089D}"/>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24CEB84C-7C05-1456-D083-55FE1EDEDCEE}"/>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323C6559-B9AA-6CA4-0045-9CA8A41DD38B}"/>
              </a:ext>
            </a:extLst>
          </p:cNvPr>
          <p:cNvSpPr txBox="1">
            <a:spLocks/>
          </p:cNvSpPr>
          <p:nvPr/>
        </p:nvSpPr>
        <p:spPr>
          <a:xfrm>
            <a:off x="349060" y="917258"/>
            <a:ext cx="10429776" cy="5348384"/>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Rank-based correlations for monotonic relationships.</a:t>
            </a:r>
          </a:p>
          <a:p>
            <a:pPr marL="0" indent="0" algn="just">
              <a:buNone/>
            </a:pPr>
            <a:endParaRPr lang="en-GB" sz="2000" noProof="0" dirty="0"/>
          </a:p>
          <a:p>
            <a:pPr algn="just"/>
            <a:r>
              <a:rPr lang="en-GB" sz="2000" noProof="0" dirty="0">
                <a:solidFill>
                  <a:srgbClr val="F25331"/>
                </a:solidFill>
                <a:latin typeface="Geogrotesque Rg" panose="02000000000000000000" pitchFamily="2" charset="77"/>
              </a:rPr>
              <a:t>Spearman's ρ</a:t>
            </a:r>
            <a:r>
              <a:rPr lang="en-GB" sz="2000" noProof="0" dirty="0">
                <a:latin typeface="Geogrotesque Rg" panose="02000000000000000000" pitchFamily="2" charset="77"/>
              </a:rPr>
              <a:t> = Pearson computed on the </a:t>
            </a:r>
            <a:r>
              <a:rPr lang="en-GB" sz="2000" noProof="0" dirty="0">
                <a:solidFill>
                  <a:srgbClr val="F25331"/>
                </a:solidFill>
                <a:latin typeface="Geogrotesque Rg" panose="02000000000000000000" pitchFamily="2" charset="77"/>
              </a:rPr>
              <a:t>ranks</a:t>
            </a:r>
            <a:r>
              <a:rPr lang="en-GB" sz="2000" noProof="0" dirty="0">
                <a:latin typeface="Geogrotesque Rg" panose="02000000000000000000" pitchFamily="2" charset="77"/>
              </a:rPr>
              <a:t> → captures any monotonic relationship. </a:t>
            </a:r>
          </a:p>
          <a:p>
            <a:pPr algn="just"/>
            <a:endParaRPr lang="en-GB" sz="200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endParaRPr lang="en-GB" sz="2000" noProof="0" dirty="0">
              <a:solidFill>
                <a:srgbClr val="F25331"/>
              </a:solidFill>
              <a:latin typeface="Geogrotesque Rg" panose="02000000000000000000" pitchFamily="2" charset="77"/>
            </a:endParaRPr>
          </a:p>
          <a:p>
            <a:pPr algn="just"/>
            <a:r>
              <a:rPr lang="en-GB" sz="2000" dirty="0">
                <a:latin typeface="Geogrotesque Rg" panose="02000000000000000000" pitchFamily="2" charset="77"/>
              </a:rPr>
              <a:t>                                           is the difference between the two ranks of each observation</a:t>
            </a:r>
          </a:p>
          <a:p>
            <a:pPr algn="just"/>
            <a:r>
              <a:rPr lang="en-GB" sz="2000" noProof="0" dirty="0">
                <a:solidFill>
                  <a:srgbClr val="F25331"/>
                </a:solidFill>
                <a:latin typeface="Geogrotesque Rg" panose="02000000000000000000" pitchFamily="2" charset="77"/>
              </a:rPr>
              <a:t>Kendall's τ</a:t>
            </a:r>
            <a:r>
              <a:rPr lang="en-GB" sz="2000" noProof="0" dirty="0">
                <a:latin typeface="Geogrotesque Rg" panose="02000000000000000000" pitchFamily="2" charset="77"/>
              </a:rPr>
              <a:t> = concordant (C) minus discordant (D) pairs, normalized.</a:t>
            </a:r>
          </a:p>
          <a:p>
            <a:pPr algn="just"/>
            <a:endParaRPr lang="en-GB" sz="2000" noProof="0" dirty="0">
              <a:latin typeface="Geogrotesque Rg" panose="02000000000000000000" pitchFamily="2" charset="77"/>
            </a:endParaRPr>
          </a:p>
          <a:p>
            <a:pPr algn="just"/>
            <a:endParaRPr lang="en-GB" sz="2000" dirty="0">
              <a:latin typeface="Geogrotesque Rg" panose="02000000000000000000" pitchFamily="2" charset="77"/>
            </a:endParaRPr>
          </a:p>
          <a:p>
            <a:pPr algn="just"/>
            <a:r>
              <a:rPr lang="en-GB" sz="2000" noProof="0" dirty="0">
                <a:latin typeface="Geogrotesque Rg" panose="02000000000000000000" pitchFamily="2" charset="77"/>
              </a:rPr>
              <a:t>Because they use only order, Spearman and Kendall are far less sensitive to </a:t>
            </a:r>
            <a:r>
              <a:rPr lang="en-GB" sz="2000" noProof="0" dirty="0">
                <a:solidFill>
                  <a:srgbClr val="F25331"/>
                </a:solidFill>
                <a:latin typeface="Geogrotesque Rg" panose="02000000000000000000" pitchFamily="2" charset="77"/>
              </a:rPr>
              <a:t>outliers and scale</a:t>
            </a:r>
            <a:r>
              <a:rPr lang="en-GB" sz="2000" noProof="0" dirty="0">
                <a:latin typeface="Geogrotesque Rg" panose="02000000000000000000" pitchFamily="2" charset="77"/>
              </a:rPr>
              <a:t>.</a:t>
            </a:r>
          </a:p>
        </p:txBody>
      </p:sp>
      <p:sp>
        <p:nvSpPr>
          <p:cNvPr id="2" name="Rectangle 2">
            <a:extLst>
              <a:ext uri="{FF2B5EF4-FFF2-40B4-BE49-F238E27FC236}">
                <a16:creationId xmlns:a16="http://schemas.microsoft.com/office/drawing/2014/main" id="{5578BE7B-D6B6-D6C9-2E38-C2A7C6DEAD5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F8AC6560-2A50-F6F1-2804-5C5AE75E50F1}"/>
              </a:ext>
            </a:extLst>
          </p:cNvPr>
          <p:cNvSpPr txBox="1"/>
          <p:nvPr/>
        </p:nvSpPr>
        <p:spPr>
          <a:xfrm>
            <a:off x="4985440" y="6265642"/>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Ordinal, monotonic-but-non-linear, or outlier-prone → rank methods.</a:t>
            </a:r>
          </a:p>
        </p:txBody>
      </p:sp>
      <p:pic>
        <p:nvPicPr>
          <p:cNvPr id="92" name="spearman_kendall"/>
          <p:cNvPicPr>
            <a:picLocks noChangeAspect="1"/>
          </p:cNvPicPr>
          <p:nvPr/>
        </p:nvPicPr>
        <p:blipFill>
          <a:blip r:embed="rId3">
            <a:duotone>
              <a:schemeClr val="accent4">
                <a:shade val="45000"/>
                <a:satMod val="135000"/>
              </a:schemeClr>
              <a:prstClr val="white"/>
            </a:duotone>
          </a:blip>
          <a:srcRect r="56679"/>
          <a:stretch>
            <a:fillRect/>
          </a:stretch>
        </p:blipFill>
        <p:spPr>
          <a:xfrm>
            <a:off x="4003835" y="2263053"/>
            <a:ext cx="1963211" cy="820000"/>
          </a:xfrm>
          <a:prstGeom prst="rect">
            <a:avLst/>
          </a:prstGeom>
        </p:spPr>
      </p:pic>
      <p:pic>
        <p:nvPicPr>
          <p:cNvPr id="7" name="spearman_kendall">
            <a:extLst>
              <a:ext uri="{FF2B5EF4-FFF2-40B4-BE49-F238E27FC236}">
                <a16:creationId xmlns:a16="http://schemas.microsoft.com/office/drawing/2014/main" id="{6EE4CBC7-1102-AEEC-F9E9-1129DA040F91}"/>
              </a:ext>
            </a:extLst>
          </p:cNvPr>
          <p:cNvPicPr>
            <a:picLocks noChangeAspect="1"/>
          </p:cNvPicPr>
          <p:nvPr/>
        </p:nvPicPr>
        <p:blipFill>
          <a:blip r:embed="rId3">
            <a:duotone>
              <a:schemeClr val="accent4">
                <a:shade val="45000"/>
                <a:satMod val="135000"/>
              </a:schemeClr>
              <a:prstClr val="white"/>
            </a:duotone>
          </a:blip>
          <a:srcRect l="56679"/>
          <a:stretch>
            <a:fillRect/>
          </a:stretch>
        </p:blipFill>
        <p:spPr>
          <a:xfrm>
            <a:off x="3886804" y="4018848"/>
            <a:ext cx="1963211" cy="820000"/>
          </a:xfrm>
          <a:prstGeom prst="rect">
            <a:avLst/>
          </a:prstGeom>
        </p:spPr>
      </p:pic>
      <p:pic>
        <p:nvPicPr>
          <p:cNvPr id="8" name="Picture 7">
            <a:extLst>
              <a:ext uri="{FF2B5EF4-FFF2-40B4-BE49-F238E27FC236}">
                <a16:creationId xmlns:a16="http://schemas.microsoft.com/office/drawing/2014/main" id="{853D3CC4-3EDE-27C3-4A6E-3684042A6B0D}"/>
              </a:ext>
            </a:extLst>
          </p:cNvPr>
          <p:cNvPicPr>
            <a:picLocks noChangeAspect="1"/>
          </p:cNvPicPr>
          <p:nvPr/>
        </p:nvPicPr>
        <p:blipFill>
          <a:blip r:embed="rId4">
            <a:duotone>
              <a:schemeClr val="accent4">
                <a:shade val="45000"/>
                <a:satMod val="135000"/>
              </a:schemeClr>
              <a:prstClr val="white"/>
            </a:duotone>
          </a:blip>
          <a:stretch>
            <a:fillRect/>
          </a:stretch>
        </p:blipFill>
        <p:spPr>
          <a:xfrm>
            <a:off x="655205" y="3319882"/>
            <a:ext cx="2471420" cy="355600"/>
          </a:xfrm>
          <a:prstGeom prst="rect">
            <a:avLst/>
          </a:prstGeom>
        </p:spPr>
      </p:pic>
    </p:spTree>
    <p:extLst>
      <p:ext uri="{BB962C8B-B14F-4D97-AF65-F5344CB8AC3E}">
        <p14:creationId xmlns:p14="http://schemas.microsoft.com/office/powerpoint/2010/main" val="1286789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2C88A-63BF-4356-2219-1BD859A06FF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7F000B-352A-86A3-02C6-95DBEC482895}"/>
              </a:ext>
            </a:extLst>
          </p:cNvPr>
          <p:cNvPicPr>
            <a:picLocks noChangeAspect="1"/>
          </p:cNvPicPr>
          <p:nvPr/>
        </p:nvPicPr>
        <p:blipFill>
          <a:blip r:embed="rId3"/>
          <a:srcRect b="91419"/>
          <a:stretch>
            <a:fillRect/>
          </a:stretch>
        </p:blipFill>
        <p:spPr>
          <a:xfrm>
            <a:off x="1066493" y="1573990"/>
            <a:ext cx="10059002" cy="274227"/>
          </a:xfrm>
          <a:prstGeom prst="rect">
            <a:avLst/>
          </a:prstGeom>
        </p:spPr>
      </p:pic>
      <p:pic>
        <p:nvPicPr>
          <p:cNvPr id="4" name="Picture 3">
            <a:extLst>
              <a:ext uri="{FF2B5EF4-FFF2-40B4-BE49-F238E27FC236}">
                <a16:creationId xmlns:a16="http://schemas.microsoft.com/office/drawing/2014/main" id="{9DD85950-5BB4-CC6A-311F-A19F03CE46C2}"/>
              </a:ext>
            </a:extLst>
          </p:cNvPr>
          <p:cNvPicPr>
            <a:picLocks noChangeAspect="1"/>
          </p:cNvPicPr>
          <p:nvPr/>
        </p:nvPicPr>
        <p:blipFill>
          <a:blip r:embed="rId4"/>
          <a:stretch>
            <a:fillRect/>
          </a:stretch>
        </p:blipFill>
        <p:spPr>
          <a:xfrm>
            <a:off x="1066493" y="1820507"/>
            <a:ext cx="10059014" cy="3216986"/>
          </a:xfrm>
          <a:prstGeom prst="rect">
            <a:avLst/>
          </a:prstGeom>
        </p:spPr>
      </p:pic>
    </p:spTree>
    <p:extLst>
      <p:ext uri="{BB962C8B-B14F-4D97-AF65-F5344CB8AC3E}">
        <p14:creationId xmlns:p14="http://schemas.microsoft.com/office/powerpoint/2010/main" val="1578616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8</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Significance, and the two big caveats</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4125959" cy="5439092"/>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Is the correlation real — and what does it actually mean?</a:t>
            </a:r>
          </a:p>
          <a:p>
            <a:pPr marL="0" indent="0" algn="just">
              <a:buNone/>
            </a:pPr>
            <a:endParaRPr lang="en-GB" sz="2000" noProof="0" dirty="0"/>
          </a:p>
          <a:p>
            <a:pPr algn="just"/>
            <a:r>
              <a:rPr lang="en-GB" sz="2000" noProof="0" dirty="0">
                <a:latin typeface="Geogrotesque Rg" panose="02000000000000000000" pitchFamily="2" charset="77"/>
              </a:rPr>
              <a:t>Test H₀: ρ = 0 via a </a:t>
            </a:r>
            <a:r>
              <a:rPr lang="en-GB" sz="2000" noProof="0" dirty="0">
                <a:solidFill>
                  <a:srgbClr val="F25331"/>
                </a:solidFill>
                <a:latin typeface="Geogrotesque Rg" panose="02000000000000000000" pitchFamily="2" charset="77"/>
              </a:rPr>
              <a:t>t-test</a:t>
            </a:r>
            <a:r>
              <a:rPr lang="en-GB" sz="2000" noProof="0" dirty="0">
                <a:latin typeface="Geogrotesque Rg" panose="02000000000000000000" pitchFamily="2" charset="77"/>
              </a:rPr>
              <a:t>, a </a:t>
            </a:r>
            <a:r>
              <a:rPr lang="en-GB" sz="2000" noProof="0" dirty="0">
                <a:solidFill>
                  <a:srgbClr val="F25331"/>
                </a:solidFill>
                <a:latin typeface="Geogrotesque Rg" panose="02000000000000000000" pitchFamily="2" charset="77"/>
              </a:rPr>
              <a:t>permutation test</a:t>
            </a:r>
            <a:r>
              <a:rPr lang="en-GB" sz="2000" noProof="0" dirty="0">
                <a:latin typeface="Geogrotesque Rg" panose="02000000000000000000" pitchFamily="2" charset="77"/>
              </a:rPr>
              <a:t>, or </a:t>
            </a:r>
            <a:r>
              <a:rPr lang="en-GB" sz="2000" noProof="0" dirty="0">
                <a:solidFill>
                  <a:srgbClr val="F25331"/>
                </a:solidFill>
                <a:latin typeface="Geogrotesque Rg" panose="02000000000000000000" pitchFamily="2" charset="77"/>
              </a:rPr>
              <a:t>Fisher's</a:t>
            </a:r>
            <a:r>
              <a:rPr lang="en-GB" sz="2000" noProof="0" dirty="0">
                <a:latin typeface="Geogrotesque Rg" panose="02000000000000000000" pitchFamily="2" charset="77"/>
              </a:rPr>
              <a:t> arctanh transform.</a:t>
            </a:r>
          </a:p>
          <a:p>
            <a:pPr algn="just"/>
            <a:r>
              <a:rPr lang="en-GB" sz="2000" noProof="0" dirty="0">
                <a:solidFill>
                  <a:srgbClr val="F25331"/>
                </a:solidFill>
                <a:latin typeface="Geogrotesque Rg" panose="02000000000000000000" pitchFamily="2" charset="77"/>
              </a:rPr>
              <a:t>Correlation ≠ causation</a:t>
            </a:r>
            <a:r>
              <a:rPr lang="en-GB" sz="2000" noProof="0" dirty="0">
                <a:latin typeface="Geogrotesque Rg" panose="02000000000000000000" pitchFamily="2" charset="77"/>
              </a:rPr>
              <a:t>: nothing about direction, nor whether a hidden confounder drives both.</a:t>
            </a:r>
          </a:p>
          <a:p>
            <a:pPr algn="just"/>
            <a:r>
              <a:rPr lang="en-GB" sz="2000" noProof="0" dirty="0">
                <a:latin typeface="Geogrotesque Rg" panose="02000000000000000000" pitchFamily="2" charset="77"/>
              </a:rPr>
              <a:t>Spurious correlations are everywhere — apply a critical eye and visualize.</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482862" y="6271475"/>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A fitted number is not automatically a causal effect.</a:t>
            </a:r>
          </a:p>
        </p:txBody>
      </p:sp>
      <p:pic>
        <p:nvPicPr>
          <p:cNvPr id="7" name="Picture 6">
            <a:extLst>
              <a:ext uri="{FF2B5EF4-FFF2-40B4-BE49-F238E27FC236}">
                <a16:creationId xmlns:a16="http://schemas.microsoft.com/office/drawing/2014/main" id="{B726104E-918F-D9BA-30BD-5108D0D1D64F}"/>
              </a:ext>
            </a:extLst>
          </p:cNvPr>
          <p:cNvPicPr>
            <a:picLocks noChangeAspect="1"/>
          </p:cNvPicPr>
          <p:nvPr/>
        </p:nvPicPr>
        <p:blipFill>
          <a:blip r:embed="rId3"/>
          <a:stretch>
            <a:fillRect/>
          </a:stretch>
        </p:blipFill>
        <p:spPr>
          <a:xfrm>
            <a:off x="5095879" y="702013"/>
            <a:ext cx="7029442" cy="4497025"/>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3200" noProof="0">
                <a:latin typeface="Geogrotesque Rg" panose="02000000000000000000" pitchFamily="2" charset="77"/>
              </a:rPr>
              <a:t>Part II — Modelling a relationship</a:t>
            </a:r>
          </a:p>
        </p:txBody>
      </p:sp>
    </p:spTree>
    <p:extLst>
      <p:ext uri="{BB962C8B-B14F-4D97-AF65-F5344CB8AC3E}">
        <p14:creationId xmlns:p14="http://schemas.microsoft.com/office/powerpoint/2010/main" val="1549153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a:t>
            </a:r>
          </a:p>
        </p:txBody>
      </p:sp>
      <p:sp>
        <p:nvSpPr>
          <p:cNvPr id="3" name="Vertical Text Placeholder 2"/>
          <p:cNvSpPr>
            <a:spLocks noGrp="1"/>
          </p:cNvSpPr>
          <p:nvPr>
            <p:ph type="body" orient="vert" idx="1"/>
          </p:nvPr>
        </p:nvSpPr>
        <p:spPr>
          <a:xfrm>
            <a:off x="1981200" y="1122949"/>
            <a:ext cx="7620000" cy="5396881"/>
          </a:xfrm>
        </p:spPr>
        <p:txBody>
          <a:bodyPr vert="horz">
            <a:normAutofit/>
          </a:bodyPr>
          <a:lstStyle/>
          <a:p>
            <a:pPr marL="342900" indent="-342900">
              <a:buFont typeface="Arial"/>
              <a:buChar char="•"/>
            </a:pPr>
            <a:r>
              <a:rPr lang="en-US" dirty="0">
                <a:latin typeface="Geogrotesque Rg" panose="02000000000000000000" pitchFamily="2" charset="77"/>
              </a:rPr>
              <a:t>Technique used for the modeling and analysis of numerical data </a:t>
            </a:r>
          </a:p>
          <a:p>
            <a:pPr marL="342900" indent="-342900">
              <a:buFont typeface="Arial"/>
              <a:buChar char="•"/>
            </a:pPr>
            <a:r>
              <a:rPr lang="en-US" dirty="0">
                <a:latin typeface="Geogrotesque Rg" panose="02000000000000000000" pitchFamily="2" charset="77"/>
              </a:rPr>
              <a:t>Exploits the relationship between two or more variables so that we can gain information about one of them through knowing values of the other </a:t>
            </a:r>
          </a:p>
          <a:p>
            <a:pPr marL="342900" indent="-342900">
              <a:buFont typeface="Arial"/>
              <a:buChar char="•"/>
            </a:pPr>
            <a:r>
              <a:rPr lang="en-US" dirty="0">
                <a:latin typeface="Geogrotesque Rg" panose="02000000000000000000" pitchFamily="2" charset="77"/>
              </a:rPr>
              <a:t>Regression can be used for prediction, estimation, hypothesis testing, and modeling causal relationships </a:t>
            </a:r>
          </a:p>
          <a:p>
            <a:r>
              <a:rPr lang="en-US" sz="3200" b="1" dirty="0">
                <a:solidFill>
                  <a:srgbClr val="0089D1"/>
                </a:solidFill>
                <a:latin typeface="Geogrotesque Rg" panose="02000000000000000000" pitchFamily="2" charset="77"/>
                <a:cs typeface="Geogrotesque Regular"/>
              </a:rPr>
              <a:t>			</a:t>
            </a:r>
            <a:r>
              <a:rPr lang="en-US" sz="3200" i="1" dirty="0">
                <a:solidFill>
                  <a:srgbClr val="0089D1"/>
                </a:solidFill>
                <a:latin typeface="Geogrotesque Rg" panose="02000000000000000000" pitchFamily="2" charset="77"/>
                <a:cs typeface="Geogrotesque Regular"/>
              </a:rPr>
              <a:t>Y = f(X</a:t>
            </a:r>
            <a:r>
              <a:rPr lang="en-US" i="1" dirty="0">
                <a:solidFill>
                  <a:srgbClr val="0089D1"/>
                </a:solidFill>
                <a:latin typeface="Geogrotesque Rg" panose="02000000000000000000" pitchFamily="2" charset="77"/>
                <a:cs typeface="Geogrotesque Regular"/>
              </a:rPr>
              <a:t>1, </a:t>
            </a:r>
            <a:r>
              <a:rPr lang="en-US" sz="3200" i="1" dirty="0">
                <a:solidFill>
                  <a:srgbClr val="0089D1"/>
                </a:solidFill>
                <a:latin typeface="Geogrotesque Rg" panose="02000000000000000000" pitchFamily="2" charset="77"/>
                <a:cs typeface="Geogrotesque Regular"/>
              </a:rPr>
              <a:t>X</a:t>
            </a:r>
            <a:r>
              <a:rPr lang="en-US" i="1" dirty="0">
                <a:solidFill>
                  <a:srgbClr val="0089D1"/>
                </a:solidFill>
                <a:latin typeface="Geogrotesque Rg" panose="02000000000000000000" pitchFamily="2" charset="77"/>
                <a:cs typeface="Geogrotesque Regular"/>
              </a:rPr>
              <a:t>2</a:t>
            </a:r>
            <a:r>
              <a:rPr lang="en-US" sz="3200" i="1" dirty="0">
                <a:solidFill>
                  <a:srgbClr val="0089D1"/>
                </a:solidFill>
                <a:latin typeface="Geogrotesque Rg" panose="02000000000000000000" pitchFamily="2" charset="77"/>
                <a:cs typeface="Geogrotesque Regular"/>
              </a:rPr>
              <a:t>)</a:t>
            </a:r>
            <a:endParaRPr lang="en-US" i="1" dirty="0">
              <a:solidFill>
                <a:srgbClr val="0089D1"/>
              </a:solidFill>
              <a:latin typeface="Geogrotesque Rg" panose="02000000000000000000" pitchFamily="2" charset="77"/>
              <a:cs typeface="Geogrotesque Regular"/>
            </a:endParaRPr>
          </a:p>
          <a:p>
            <a:pPr marL="342900" indent="-342900">
              <a:buFont typeface="Arial"/>
              <a:buChar char="•"/>
            </a:pPr>
            <a:r>
              <a:rPr lang="en-US" i="1" dirty="0">
                <a:latin typeface="Geogrotesque Rg" panose="02000000000000000000" pitchFamily="2" charset="77"/>
                <a:cs typeface="Geogrotesque Regular"/>
              </a:rPr>
              <a:t>Y </a:t>
            </a:r>
            <a:r>
              <a:rPr lang="en-US" dirty="0">
                <a:latin typeface="Geogrotesque Rg" panose="02000000000000000000" pitchFamily="2" charset="77"/>
                <a:cs typeface="Geogrotesque Regular"/>
              </a:rPr>
              <a:t>is a dependent variable (or outcome variable, or response variable) </a:t>
            </a:r>
          </a:p>
          <a:p>
            <a:pPr marL="342900" indent="-342900">
              <a:buFont typeface="Arial"/>
              <a:buChar char="•"/>
            </a:pPr>
            <a:r>
              <a:rPr lang="en-US" dirty="0">
                <a:latin typeface="Geogrotesque Rg" panose="02000000000000000000" pitchFamily="2" charset="77"/>
                <a:cs typeface="Geogrotesque Regular"/>
              </a:rPr>
              <a:t>X’s are independent variables (or predictor variables, or explanatory variables) </a:t>
            </a:r>
          </a:p>
          <a:p>
            <a:pPr marL="342900" indent="-342900">
              <a:buFont typeface="Arial"/>
              <a:buChar char="•"/>
            </a:pPr>
            <a:endParaRPr lang="en-US" dirty="0">
              <a:latin typeface="Geogrotesque Rg" panose="02000000000000000000" pitchFamily="2" charset="77"/>
            </a:endParaRPr>
          </a:p>
        </p:txBody>
      </p:sp>
      <p:sp>
        <p:nvSpPr>
          <p:cNvPr id="6" name="Slide Number Placeholder 5"/>
          <p:cNvSpPr>
            <a:spLocks noGrp="1"/>
          </p:cNvSpPr>
          <p:nvPr>
            <p:ph type="sldNum" sz="quarter" idx="12"/>
          </p:nvPr>
        </p:nvSpPr>
        <p:spPr/>
        <p:txBody>
          <a:bodyPr/>
          <a:lstStyle/>
          <a:p>
            <a:pPr defTabSz="457200"/>
            <a:fld id="{F38DF745-7D3F-47F4-83A3-874385CFAA69}" type="slidenum">
              <a:rPr lang="en-US">
                <a:solidFill>
                  <a:srgbClr val="D1282E"/>
                </a:solidFill>
              </a:rPr>
              <a:pPr defTabSz="457200"/>
              <a:t>10</a:t>
            </a:fld>
            <a:endParaRPr lang="en-US">
              <a:solidFill>
                <a:srgbClr val="D1282E"/>
              </a:solidFill>
            </a:endParaRPr>
          </a:p>
        </p:txBody>
      </p:sp>
    </p:spTree>
    <p:extLst>
      <p:ext uri="{BB962C8B-B14F-4D97-AF65-F5344CB8AC3E}">
        <p14:creationId xmlns:p14="http://schemas.microsoft.com/office/powerpoint/2010/main" val="1244820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a:t>
            </a:r>
          </a:p>
        </p:txBody>
      </p:sp>
      <p:sp>
        <p:nvSpPr>
          <p:cNvPr id="3" name="Vertical Text Placeholder 2"/>
          <p:cNvSpPr>
            <a:spLocks noGrp="1"/>
          </p:cNvSpPr>
          <p:nvPr>
            <p:ph type="body" orient="vert" idx="1"/>
          </p:nvPr>
        </p:nvSpPr>
        <p:spPr>
          <a:xfrm>
            <a:off x="1981200" y="1122949"/>
            <a:ext cx="7620000" cy="5396881"/>
          </a:xfrm>
        </p:spPr>
        <p:txBody>
          <a:bodyPr vert="horz">
            <a:normAutofit/>
          </a:bodyPr>
          <a:lstStyle/>
          <a:p>
            <a:pPr marL="342900" indent="-342900">
              <a:buFont typeface="Arial"/>
              <a:buChar char="•"/>
            </a:pPr>
            <a:r>
              <a:rPr lang="en-US" dirty="0">
                <a:latin typeface="Geogrotesque Rg" panose="02000000000000000000" pitchFamily="2" charset="77"/>
              </a:rPr>
              <a:t>Suppose we want to model the dependent variable </a:t>
            </a:r>
            <a:r>
              <a:rPr lang="en-US" i="1" dirty="0">
                <a:latin typeface="Geogrotesque Rg" panose="02000000000000000000" pitchFamily="2" charset="77"/>
              </a:rPr>
              <a:t>Y</a:t>
            </a:r>
            <a:r>
              <a:rPr lang="en-US" dirty="0">
                <a:latin typeface="Geogrotesque Rg" panose="02000000000000000000" pitchFamily="2" charset="77"/>
              </a:rPr>
              <a:t> in terms of two predictors, </a:t>
            </a:r>
            <a:r>
              <a:rPr lang="en-US" i="1" dirty="0">
                <a:latin typeface="Geogrotesque Rg" panose="02000000000000000000" pitchFamily="2" charset="77"/>
              </a:rPr>
              <a:t>X</a:t>
            </a:r>
            <a:r>
              <a:rPr lang="en-US" i="1" baseline="-25000" dirty="0">
                <a:latin typeface="Geogrotesque Rg" panose="02000000000000000000" pitchFamily="2" charset="77"/>
              </a:rPr>
              <a:t>1</a:t>
            </a:r>
            <a:r>
              <a:rPr lang="en-US" dirty="0">
                <a:latin typeface="Geogrotesque Rg" panose="02000000000000000000" pitchFamily="2" charset="77"/>
              </a:rPr>
              <a:t>, </a:t>
            </a:r>
            <a:r>
              <a:rPr lang="en-US" i="1" dirty="0">
                <a:latin typeface="Geogrotesque Rg" panose="02000000000000000000" pitchFamily="2" charset="77"/>
              </a:rPr>
              <a:t>X</a:t>
            </a:r>
            <a:r>
              <a:rPr lang="en-US" i="1" baseline="-25000" dirty="0">
                <a:latin typeface="Geogrotesque Rg" panose="02000000000000000000" pitchFamily="2" charset="77"/>
              </a:rPr>
              <a:t>2</a:t>
            </a:r>
          </a:p>
          <a:p>
            <a:pPr algn="ctr"/>
            <a:r>
              <a:rPr lang="en-US" sz="3200" i="1" dirty="0">
                <a:solidFill>
                  <a:srgbClr val="0089D1"/>
                </a:solidFill>
                <a:latin typeface="Geogrotesque Rg" panose="02000000000000000000" pitchFamily="2" charset="77"/>
                <a:cs typeface="Geogrotesque Regular"/>
              </a:rPr>
              <a:t>Y = f(X</a:t>
            </a:r>
            <a:r>
              <a:rPr lang="en-US" sz="3200" i="1" baseline="-25000" dirty="0">
                <a:solidFill>
                  <a:srgbClr val="0089D1"/>
                </a:solidFill>
                <a:latin typeface="Geogrotesque Rg" panose="02000000000000000000" pitchFamily="2" charset="77"/>
                <a:cs typeface="Geogrotesque Regular"/>
              </a:rPr>
              <a:t>1</a:t>
            </a:r>
            <a:r>
              <a:rPr lang="en-US" sz="3200" i="1" dirty="0">
                <a:solidFill>
                  <a:srgbClr val="0089D1"/>
                </a:solidFill>
                <a:latin typeface="Geogrotesque Rg" panose="02000000000000000000" pitchFamily="2" charset="77"/>
                <a:cs typeface="Geogrotesque Regular"/>
              </a:rPr>
              <a:t>, X</a:t>
            </a:r>
            <a:r>
              <a:rPr lang="en-US" sz="3200" i="1" baseline="-25000" dirty="0">
                <a:solidFill>
                  <a:srgbClr val="0089D1"/>
                </a:solidFill>
                <a:latin typeface="Geogrotesque Rg" panose="02000000000000000000" pitchFamily="2" charset="77"/>
                <a:cs typeface="Geogrotesque Regular"/>
              </a:rPr>
              <a:t>2</a:t>
            </a:r>
            <a:r>
              <a:rPr lang="en-US" sz="3200" i="1" dirty="0">
                <a:solidFill>
                  <a:srgbClr val="0089D1"/>
                </a:solidFill>
                <a:latin typeface="Geogrotesque Rg" panose="02000000000000000000" pitchFamily="2" charset="77"/>
                <a:cs typeface="Geogrotesque Regular"/>
              </a:rPr>
              <a:t>)</a:t>
            </a:r>
            <a:endParaRPr lang="en-US" i="1" dirty="0">
              <a:solidFill>
                <a:srgbClr val="0089D1"/>
              </a:solidFill>
              <a:latin typeface="Geogrotesque Rg" panose="02000000000000000000" pitchFamily="2" charset="77"/>
              <a:cs typeface="Geogrotesque Regular"/>
            </a:endParaRPr>
          </a:p>
          <a:p>
            <a:pPr marL="342900" indent="-342900">
              <a:buFont typeface="Arial"/>
              <a:buChar char="•"/>
            </a:pPr>
            <a:r>
              <a:rPr lang="en-US" dirty="0">
                <a:latin typeface="Geogrotesque Rg" panose="02000000000000000000" pitchFamily="2" charset="77"/>
              </a:rPr>
              <a:t>Typically, we will not have enough data to try to directly estimate f</a:t>
            </a:r>
          </a:p>
          <a:p>
            <a:pPr marL="342900" indent="-342900">
              <a:buFont typeface="Arial"/>
              <a:buChar char="•"/>
            </a:pPr>
            <a:r>
              <a:rPr lang="en-US" dirty="0">
                <a:latin typeface="Geogrotesque Rg" panose="02000000000000000000" pitchFamily="2" charset="77"/>
              </a:rPr>
              <a:t>Therefore, we usually have to assume that </a:t>
            </a:r>
            <a:r>
              <a:rPr lang="en-US" i="1" dirty="0">
                <a:latin typeface="Geogrotesque Rg" panose="02000000000000000000" pitchFamily="2" charset="77"/>
              </a:rPr>
              <a:t>f</a:t>
            </a:r>
            <a:r>
              <a:rPr lang="en-US" dirty="0">
                <a:latin typeface="Geogrotesque Rg" panose="02000000000000000000" pitchFamily="2" charset="77"/>
              </a:rPr>
              <a:t>  has some restricted form, such as linear </a:t>
            </a:r>
          </a:p>
          <a:p>
            <a:pPr lvl="0" algn="ctr"/>
            <a:r>
              <a:rPr lang="en-US" sz="3200" i="1" dirty="0">
                <a:solidFill>
                  <a:srgbClr val="0089D1"/>
                </a:solidFill>
                <a:latin typeface="Geogrotesque Rg" panose="02000000000000000000" pitchFamily="2" charset="77"/>
                <a:cs typeface="Geogrotesque Regular"/>
              </a:rPr>
              <a:t>Y = a + bX</a:t>
            </a:r>
            <a:r>
              <a:rPr lang="en-US" sz="3200" i="1" baseline="-25000" dirty="0">
                <a:solidFill>
                  <a:srgbClr val="0089D1"/>
                </a:solidFill>
                <a:latin typeface="Geogrotesque Rg" panose="02000000000000000000" pitchFamily="2" charset="77"/>
                <a:cs typeface="Geogrotesque Regular"/>
              </a:rPr>
              <a:t>1</a:t>
            </a:r>
            <a:r>
              <a:rPr lang="en-US" sz="3200" i="1" dirty="0">
                <a:solidFill>
                  <a:srgbClr val="0089D1"/>
                </a:solidFill>
                <a:latin typeface="Geogrotesque Rg" panose="02000000000000000000" pitchFamily="2" charset="77"/>
                <a:cs typeface="Geogrotesque Regular"/>
              </a:rPr>
              <a:t> + cX</a:t>
            </a:r>
            <a:r>
              <a:rPr lang="en-US" sz="3200" i="1" baseline="-25000" dirty="0">
                <a:solidFill>
                  <a:srgbClr val="0089D1"/>
                </a:solidFill>
                <a:latin typeface="Geogrotesque Rg" panose="02000000000000000000" pitchFamily="2" charset="77"/>
                <a:cs typeface="Geogrotesque Regular"/>
              </a:rPr>
              <a:t>2</a:t>
            </a:r>
            <a:endParaRPr lang="en-US" i="1" baseline="-25000" dirty="0">
              <a:solidFill>
                <a:srgbClr val="0089D1"/>
              </a:solidFill>
              <a:latin typeface="Geogrotesque Rg" panose="02000000000000000000" pitchFamily="2" charset="77"/>
              <a:cs typeface="Geogrotesque Regular"/>
            </a:endParaRPr>
          </a:p>
          <a:p>
            <a:endParaRPr lang="en-US" dirty="0">
              <a:latin typeface="Geogrotesque Rg" panose="02000000000000000000" pitchFamily="2" charset="77"/>
            </a:endParaRPr>
          </a:p>
        </p:txBody>
      </p:sp>
      <p:sp>
        <p:nvSpPr>
          <p:cNvPr id="6" name="Slide Number Placeholder 5"/>
          <p:cNvSpPr>
            <a:spLocks noGrp="1"/>
          </p:cNvSpPr>
          <p:nvPr>
            <p:ph type="sldNum" sz="quarter" idx="12"/>
          </p:nvPr>
        </p:nvSpPr>
        <p:spPr/>
        <p:txBody>
          <a:bodyPr/>
          <a:lstStyle/>
          <a:p>
            <a:pPr defTabSz="457200"/>
            <a:fld id="{F38DF745-7D3F-47F4-83A3-874385CFAA69}" type="slidenum">
              <a:rPr lang="en-US">
                <a:solidFill>
                  <a:srgbClr val="D1282E"/>
                </a:solidFill>
              </a:rPr>
              <a:pPr defTabSz="457200"/>
              <a:t>11</a:t>
            </a:fld>
            <a:endParaRPr lang="en-US">
              <a:solidFill>
                <a:srgbClr val="D1282E"/>
              </a:solidFill>
            </a:endParaRPr>
          </a:p>
        </p:txBody>
      </p:sp>
      <p:sp>
        <p:nvSpPr>
          <p:cNvPr id="4" name="TextBox 3">
            <a:extLst>
              <a:ext uri="{FF2B5EF4-FFF2-40B4-BE49-F238E27FC236}">
                <a16:creationId xmlns:a16="http://schemas.microsoft.com/office/drawing/2014/main" id="{E75AB86B-1708-81B9-9B82-ADF128327AA2}"/>
              </a:ext>
            </a:extLst>
          </p:cNvPr>
          <p:cNvSpPr txBox="1"/>
          <p:nvPr/>
        </p:nvSpPr>
        <p:spPr>
          <a:xfrm>
            <a:off x="5791200" y="608320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Correlation is one number; regression is a full predictive model.</a:t>
            </a:r>
          </a:p>
        </p:txBody>
      </p:sp>
    </p:spTree>
    <p:extLst>
      <p:ext uri="{BB962C8B-B14F-4D97-AF65-F5344CB8AC3E}">
        <p14:creationId xmlns:p14="http://schemas.microsoft.com/office/powerpoint/2010/main" val="3895123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Linear Regression is a probabilistic model</a:t>
            </a:r>
            <a:br>
              <a:rPr lang="en-US" dirty="0"/>
            </a:br>
            <a:endParaRPr lang="en-US" dirty="0"/>
          </a:p>
        </p:txBody>
      </p:sp>
      <p:sp>
        <p:nvSpPr>
          <p:cNvPr id="3" name="Vertical Text Placeholder 2"/>
          <p:cNvSpPr>
            <a:spLocks noGrp="1"/>
          </p:cNvSpPr>
          <p:nvPr>
            <p:ph type="body" orient="vert" idx="1"/>
          </p:nvPr>
        </p:nvSpPr>
        <p:spPr>
          <a:xfrm>
            <a:off x="1981200" y="1064689"/>
            <a:ext cx="7620000" cy="5108784"/>
          </a:xfrm>
        </p:spPr>
        <p:txBody>
          <a:bodyPr vert="horz">
            <a:normAutofit/>
          </a:bodyPr>
          <a:lstStyle/>
          <a:p>
            <a:pPr marL="342900" indent="-342900">
              <a:buFont typeface="Arial"/>
              <a:buChar char="•"/>
            </a:pPr>
            <a:r>
              <a:rPr lang="en-US" dirty="0"/>
              <a:t>Much of mathematics is devoted to studying variables that are deterministically related to one another </a:t>
            </a:r>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r>
              <a:rPr lang="en-US" dirty="0"/>
              <a:t>But we’re interested in understanding the relationship between variables related in a nondeterministic fashion </a:t>
            </a:r>
          </a:p>
        </p:txBody>
      </p:sp>
      <p:sp>
        <p:nvSpPr>
          <p:cNvPr id="6" name="Slide Number Placeholder 5"/>
          <p:cNvSpPr>
            <a:spLocks noGrp="1"/>
          </p:cNvSpPr>
          <p:nvPr>
            <p:ph type="sldNum" sz="quarter" idx="12"/>
          </p:nvPr>
        </p:nvSpPr>
        <p:spPr/>
        <p:txBody>
          <a:bodyPr/>
          <a:lstStyle/>
          <a:p>
            <a:pPr defTabSz="457200"/>
            <a:fld id="{F38DF745-7D3F-47F4-83A3-874385CFAA69}" type="slidenum">
              <a:rPr lang="en-US">
                <a:solidFill>
                  <a:srgbClr val="D1282E"/>
                </a:solidFill>
              </a:rPr>
              <a:pPr defTabSz="457200"/>
              <a:t>12</a:t>
            </a:fld>
            <a:endParaRPr lang="en-US">
              <a:solidFill>
                <a:srgbClr val="D1282E"/>
              </a:solidFill>
            </a:endParaRPr>
          </a:p>
        </p:txBody>
      </p:sp>
      <p:pic>
        <p:nvPicPr>
          <p:cNvPr id="4" name="Picture 3"/>
          <p:cNvPicPr>
            <a:picLocks noChangeAspect="1"/>
          </p:cNvPicPr>
          <p:nvPr/>
        </p:nvPicPr>
        <p:blipFill>
          <a:blip r:embed="rId2"/>
          <a:stretch>
            <a:fillRect/>
          </a:stretch>
        </p:blipFill>
        <p:spPr>
          <a:xfrm>
            <a:off x="3971610" y="2134874"/>
            <a:ext cx="3556000" cy="2832100"/>
          </a:xfrm>
          <a:prstGeom prst="rect">
            <a:avLst/>
          </a:prstGeom>
        </p:spPr>
      </p:pic>
    </p:spTree>
    <p:extLst>
      <p:ext uri="{BB962C8B-B14F-4D97-AF65-F5344CB8AC3E}">
        <p14:creationId xmlns:p14="http://schemas.microsoft.com/office/powerpoint/2010/main" val="1413947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Linear Regression is a probabilistic model</a:t>
            </a:r>
            <a:br>
              <a:rPr lang="en-US" dirty="0"/>
            </a:br>
            <a:endParaRPr lang="en-US" dirty="0"/>
          </a:p>
        </p:txBody>
      </p:sp>
      <p:sp>
        <p:nvSpPr>
          <p:cNvPr id="3" name="Vertical Text Placeholder 2"/>
          <p:cNvSpPr>
            <a:spLocks noGrp="1"/>
          </p:cNvSpPr>
          <p:nvPr>
            <p:ph type="body" orient="vert" idx="1"/>
          </p:nvPr>
        </p:nvSpPr>
        <p:spPr>
          <a:xfrm>
            <a:off x="1981200" y="1064689"/>
            <a:ext cx="7620000" cy="5108784"/>
          </a:xfrm>
        </p:spPr>
        <p:txBody>
          <a:bodyPr vert="horz">
            <a:normAutofit/>
          </a:bodyPr>
          <a:lstStyle/>
          <a:p>
            <a:pPr marL="342900" indent="-342900">
              <a:buFont typeface="Arial"/>
              <a:buChar char="•"/>
            </a:pPr>
            <a:r>
              <a:rPr lang="en-US" dirty="0"/>
              <a:t>Definition: There exists parameters       ,       , and    ,   such that for any fixed value of the independent variable </a:t>
            </a:r>
            <a:r>
              <a:rPr lang="en-US" i="1" dirty="0"/>
              <a:t>x</a:t>
            </a:r>
            <a:r>
              <a:rPr lang="en-US" dirty="0"/>
              <a:t>, the dependent variable </a:t>
            </a:r>
            <a:r>
              <a:rPr lang="en-US" i="1" dirty="0"/>
              <a:t>y </a:t>
            </a:r>
            <a:r>
              <a:rPr lang="en-US" dirty="0"/>
              <a:t>is related to </a:t>
            </a:r>
            <a:r>
              <a:rPr lang="en-US" i="1" dirty="0"/>
              <a:t>x</a:t>
            </a:r>
            <a:r>
              <a:rPr lang="en-US" dirty="0"/>
              <a:t> through the model equation </a:t>
            </a:r>
          </a:p>
          <a:p>
            <a:pPr marL="342900" indent="-342900">
              <a:buFont typeface="Arial"/>
              <a:buChar char="•"/>
            </a:pPr>
            <a:endParaRPr lang="en-US" dirty="0"/>
          </a:p>
          <a:p>
            <a:endParaRPr lang="en-US" dirty="0"/>
          </a:p>
          <a:p>
            <a:pPr marL="342900" indent="-342900">
              <a:buFont typeface="Arial"/>
              <a:buChar char="•"/>
            </a:pPr>
            <a:r>
              <a:rPr lang="en-US" dirty="0"/>
              <a:t>   is a random variable assumed to be </a:t>
            </a:r>
          </a:p>
          <a:p>
            <a:pPr marL="342900" indent="-342900">
              <a:buFont typeface="Arial"/>
              <a:buChar char="•"/>
            </a:pPr>
            <a:endParaRPr lang="en-US" dirty="0"/>
          </a:p>
          <a:p>
            <a:pPr marL="342900" indent="-342900">
              <a:buFont typeface="Arial"/>
              <a:buChar char="•"/>
            </a:pPr>
            <a:endParaRPr lang="en-US" dirty="0"/>
          </a:p>
        </p:txBody>
      </p:sp>
      <p:sp>
        <p:nvSpPr>
          <p:cNvPr id="6" name="Slide Number Placeholder 5"/>
          <p:cNvSpPr>
            <a:spLocks noGrp="1"/>
          </p:cNvSpPr>
          <p:nvPr>
            <p:ph type="sldNum" sz="quarter" idx="12"/>
          </p:nvPr>
        </p:nvSpPr>
        <p:spPr/>
        <p:txBody>
          <a:bodyPr/>
          <a:lstStyle/>
          <a:p>
            <a:pPr defTabSz="457200"/>
            <a:fld id="{F38DF745-7D3F-47F4-83A3-874385CFAA69}" type="slidenum">
              <a:rPr lang="en-US">
                <a:solidFill>
                  <a:srgbClr val="D1282E"/>
                </a:solidFill>
              </a:rPr>
              <a:pPr defTabSz="457200"/>
              <a:t>13</a:t>
            </a:fld>
            <a:endParaRPr lang="en-US">
              <a:solidFill>
                <a:srgbClr val="D1282E"/>
              </a:solidFill>
            </a:endParaRPr>
          </a:p>
        </p:txBody>
      </p:sp>
      <p:pic>
        <p:nvPicPr>
          <p:cNvPr id="5" name="Picture 4"/>
          <p:cNvPicPr>
            <a:picLocks noChangeAspect="1"/>
          </p:cNvPicPr>
          <p:nvPr/>
        </p:nvPicPr>
        <p:blipFill>
          <a:blip r:embed="rId3"/>
          <a:stretch>
            <a:fillRect/>
          </a:stretch>
        </p:blipFill>
        <p:spPr>
          <a:xfrm>
            <a:off x="3121822" y="3793951"/>
            <a:ext cx="6553200" cy="2552700"/>
          </a:xfrm>
          <a:prstGeom prst="rect">
            <a:avLst/>
          </a:prstGeom>
        </p:spPr>
      </p:pic>
      <p:pic>
        <p:nvPicPr>
          <p:cNvPr id="7" name="Picture 6"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98422" y="3022643"/>
            <a:ext cx="1130300" cy="342900"/>
          </a:xfrm>
          <a:prstGeom prst="rect">
            <a:avLst/>
          </a:prstGeom>
        </p:spPr>
      </p:pic>
      <p:pic>
        <p:nvPicPr>
          <p:cNvPr id="8" name="Picture 7"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9389" y="3118149"/>
            <a:ext cx="114300" cy="152400"/>
          </a:xfrm>
          <a:prstGeom prst="rect">
            <a:avLst/>
          </a:prstGeom>
        </p:spPr>
      </p:pic>
      <p:pic>
        <p:nvPicPr>
          <p:cNvPr id="9" name="Picture 8" descr="latex-image-1.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27416" y="1109231"/>
            <a:ext cx="279400" cy="292100"/>
          </a:xfrm>
          <a:prstGeom prst="rect">
            <a:avLst/>
          </a:prstGeom>
        </p:spPr>
      </p:pic>
      <p:pic>
        <p:nvPicPr>
          <p:cNvPr id="10" name="Picture 9" descr="latex-image-1.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69651" y="1121872"/>
            <a:ext cx="279400" cy="292100"/>
          </a:xfrm>
          <a:prstGeom prst="rect">
            <a:avLst/>
          </a:prstGeom>
        </p:spPr>
      </p:pic>
      <p:pic>
        <p:nvPicPr>
          <p:cNvPr id="12" name="Picture 11" descr="latex-image-1.pdf"/>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28722" y="1085264"/>
            <a:ext cx="292100" cy="266700"/>
          </a:xfrm>
          <a:prstGeom prst="rect">
            <a:avLst/>
          </a:prstGeom>
        </p:spPr>
      </p:pic>
      <p:pic>
        <p:nvPicPr>
          <p:cNvPr id="13" name="Picture 12" descr="latex-image-1.pdf"/>
          <p:cNvPicPr>
            <a:picLocks noChangeAspect="1"/>
          </p:cNvPicPr>
          <p:nvPr/>
        </p:nvPicPr>
        <p:blipFill>
          <a:blip r:embed="rId9">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991100" y="2465346"/>
            <a:ext cx="2209800" cy="279400"/>
          </a:xfrm>
          <a:prstGeom prst="rect">
            <a:avLst/>
          </a:prstGeom>
        </p:spPr>
      </p:pic>
      <p:sp>
        <p:nvSpPr>
          <p:cNvPr id="11" name="TextBox 10">
            <a:extLst>
              <a:ext uri="{FF2B5EF4-FFF2-40B4-BE49-F238E27FC236}">
                <a16:creationId xmlns:a16="http://schemas.microsoft.com/office/drawing/2014/main" id="{9BAF4D8F-6B6B-B635-F3B2-2C84B9D98DEA}"/>
              </a:ext>
            </a:extLst>
          </p:cNvPr>
          <p:cNvSpPr txBox="1"/>
          <p:nvPr/>
        </p:nvSpPr>
        <p:spPr>
          <a:xfrm>
            <a:off x="6227416" y="6109811"/>
            <a:ext cx="6116782" cy="369332"/>
          </a:xfrm>
          <a:prstGeom prst="rect">
            <a:avLst/>
          </a:prstGeom>
          <a:noFill/>
        </p:spPr>
        <p:txBody>
          <a:bodyPr wrap="square">
            <a:spAutoFit/>
          </a:bodyPr>
          <a:lstStyle/>
          <a:p>
            <a:pPr marL="0" indent="0" algn="just">
              <a:buNone/>
            </a:pPr>
            <a:r>
              <a:rPr lang="en-GB" sz="1800" noProof="0" dirty="0">
                <a:solidFill>
                  <a:srgbClr val="007FBA"/>
                </a:solidFill>
                <a:latin typeface="Geogrotesque Rg" panose="02000000000000000000" pitchFamily="2" charset="77"/>
              </a:rPr>
              <a:t>Model the response as a function of predictors plus noise.</a:t>
            </a:r>
          </a:p>
        </p:txBody>
      </p:sp>
    </p:spTree>
    <p:extLst>
      <p:ext uri="{BB962C8B-B14F-4D97-AF65-F5344CB8AC3E}">
        <p14:creationId xmlns:p14="http://schemas.microsoft.com/office/powerpoint/2010/main" val="2415704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graphical interpretation</a:t>
            </a:r>
          </a:p>
        </p:txBody>
      </p:sp>
      <p:sp>
        <p:nvSpPr>
          <p:cNvPr id="6" name="Slide Number Placeholder 5"/>
          <p:cNvSpPr>
            <a:spLocks noGrp="1"/>
          </p:cNvSpPr>
          <p:nvPr>
            <p:ph type="sldNum" sz="quarter" idx="12"/>
          </p:nvPr>
        </p:nvSpPr>
        <p:spPr/>
        <p:txBody>
          <a:bodyPr/>
          <a:lstStyle/>
          <a:p>
            <a:pPr defTabSz="457200"/>
            <a:fld id="{F38DF745-7D3F-47F4-83A3-874385CFAA69}" type="slidenum">
              <a:rPr lang="en-US">
                <a:solidFill>
                  <a:srgbClr val="D1282E"/>
                </a:solidFill>
              </a:rPr>
              <a:pPr defTabSz="457200"/>
              <a:t>14</a:t>
            </a:fld>
            <a:endParaRPr lang="en-US">
              <a:solidFill>
                <a:srgbClr val="D1282E"/>
              </a:solidFill>
            </a:endParaRPr>
          </a:p>
        </p:txBody>
      </p:sp>
      <p:pic>
        <p:nvPicPr>
          <p:cNvPr id="11" name="Picture 10"/>
          <p:cNvPicPr>
            <a:picLocks noChangeAspect="1"/>
          </p:cNvPicPr>
          <p:nvPr/>
        </p:nvPicPr>
        <p:blipFill>
          <a:blip r:embed="rId2"/>
          <a:stretch>
            <a:fillRect/>
          </a:stretch>
        </p:blipFill>
        <p:spPr>
          <a:xfrm>
            <a:off x="2235200" y="1303069"/>
            <a:ext cx="7721600" cy="3073400"/>
          </a:xfrm>
          <a:prstGeom prst="rect">
            <a:avLst/>
          </a:prstGeom>
        </p:spPr>
      </p:pic>
      <p:sp>
        <p:nvSpPr>
          <p:cNvPr id="14" name="TextBox 13"/>
          <p:cNvSpPr txBox="1"/>
          <p:nvPr/>
        </p:nvSpPr>
        <p:spPr>
          <a:xfrm>
            <a:off x="2270315" y="4779323"/>
            <a:ext cx="7882138" cy="833113"/>
          </a:xfrm>
          <a:prstGeom prst="rect">
            <a:avLst/>
          </a:prstGeom>
          <a:noFill/>
        </p:spPr>
        <p:txBody>
          <a:bodyPr wrap="square" rtlCol="0">
            <a:spAutoFit/>
          </a:bodyPr>
          <a:lstStyle/>
          <a:p>
            <a:pPr defTabSz="457200">
              <a:lnSpc>
                <a:spcPct val="140000"/>
              </a:lnSpc>
            </a:pPr>
            <a:r>
              <a:rPr lang="en-US" dirty="0">
                <a:solidFill>
                  <a:srgbClr val="000000"/>
                </a:solidFill>
                <a:latin typeface="Geogrotesque Regular"/>
                <a:cs typeface="Geogrotesque Regular"/>
              </a:rPr>
              <a:t>For example if </a:t>
            </a:r>
            <a:r>
              <a:rPr lang="en-US" i="1" dirty="0">
                <a:solidFill>
                  <a:srgbClr val="000000"/>
                </a:solidFill>
                <a:latin typeface="Geogrotesque Regular"/>
                <a:cs typeface="Geogrotesque Regular"/>
              </a:rPr>
              <a:t>y</a:t>
            </a:r>
            <a:r>
              <a:rPr lang="en-US" dirty="0">
                <a:solidFill>
                  <a:srgbClr val="000000"/>
                </a:solidFill>
                <a:latin typeface="Geogrotesque Regular"/>
                <a:cs typeface="Geogrotesque Regular"/>
              </a:rPr>
              <a:t> is log expression intensity of a gene and </a:t>
            </a:r>
            <a:r>
              <a:rPr lang="en-US" i="1" dirty="0">
                <a:solidFill>
                  <a:srgbClr val="000000"/>
                </a:solidFill>
                <a:latin typeface="Geogrotesque Regular"/>
                <a:cs typeface="Geogrotesque Regular"/>
              </a:rPr>
              <a:t>x</a:t>
            </a:r>
            <a:r>
              <a:rPr lang="en-US" dirty="0">
                <a:solidFill>
                  <a:srgbClr val="000000"/>
                </a:solidFill>
                <a:latin typeface="Geogrotesque Regular"/>
                <a:cs typeface="Geogrotesque Regular"/>
              </a:rPr>
              <a:t>  is age then              is the average expression intensity in 2 year old children.</a:t>
            </a:r>
          </a:p>
        </p:txBody>
      </p:sp>
      <p:pic>
        <p:nvPicPr>
          <p:cNvPr id="15" name="Picture 14"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3633" y="4959766"/>
            <a:ext cx="558800" cy="254000"/>
          </a:xfrm>
          <a:prstGeom prst="rect">
            <a:avLst/>
          </a:prstGeom>
        </p:spPr>
      </p:pic>
      <p:sp>
        <p:nvSpPr>
          <p:cNvPr id="3" name="TextBox 2">
            <a:extLst>
              <a:ext uri="{FF2B5EF4-FFF2-40B4-BE49-F238E27FC236}">
                <a16:creationId xmlns:a16="http://schemas.microsoft.com/office/drawing/2014/main" id="{5611ED06-3AD7-2EBA-6A09-87674E8801B2}"/>
              </a:ext>
            </a:extLst>
          </p:cNvPr>
          <p:cNvSpPr txBox="1"/>
          <p:nvPr/>
        </p:nvSpPr>
        <p:spPr>
          <a:xfrm>
            <a:off x="8579660" y="6150498"/>
            <a:ext cx="2754280" cy="369332"/>
          </a:xfrm>
          <a:prstGeom prst="rect">
            <a:avLst/>
          </a:prstGeom>
          <a:noFill/>
        </p:spPr>
        <p:txBody>
          <a:bodyPr wrap="none" rtlCol="0">
            <a:spAutoFit/>
          </a:bodyPr>
          <a:lstStyle/>
          <a:p>
            <a:r>
              <a:rPr lang="en-GB" dirty="0">
                <a:solidFill>
                  <a:srgbClr val="0089D1"/>
                </a:solidFill>
                <a:latin typeface="Geogrotesque Rg" panose="02000000000000000000" pitchFamily="2" charset="77"/>
              </a:rPr>
              <a:t>We need homoscedasticity</a:t>
            </a:r>
            <a:endParaRPr lang="en-US" dirty="0" err="1">
              <a:solidFill>
                <a:srgbClr val="0089D1"/>
              </a:solidFill>
              <a:latin typeface="Geogrotesque Regular"/>
              <a:cs typeface="Geogrotesque Regular"/>
            </a:endParaRPr>
          </a:p>
        </p:txBody>
      </p:sp>
    </p:spTree>
    <p:extLst>
      <p:ext uri="{BB962C8B-B14F-4D97-AF65-F5344CB8AC3E}">
        <p14:creationId xmlns:p14="http://schemas.microsoft.com/office/powerpoint/2010/main" val="496776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a:fillRect/>
          </a:stretch>
        </p:blipFill>
        <p:spPr>
          <a:xfrm>
            <a:off x="3393774" y="2899054"/>
            <a:ext cx="4330732" cy="2694678"/>
          </a:xfrm>
          <a:prstGeom prst="rect">
            <a:avLst/>
          </a:prstGeom>
        </p:spPr>
      </p:pic>
      <p:sp>
        <p:nvSpPr>
          <p:cNvPr id="17" name="Rectangle 16"/>
          <p:cNvSpPr/>
          <p:nvPr/>
        </p:nvSpPr>
        <p:spPr>
          <a:xfrm>
            <a:off x="3802227" y="4412689"/>
            <a:ext cx="327331" cy="51066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srgbClr val="FFFFFF"/>
              </a:solidFill>
              <a:latin typeface="Arial"/>
            </a:endParaRPr>
          </a:p>
        </p:txBody>
      </p:sp>
      <p:sp>
        <p:nvSpPr>
          <p:cNvPr id="2" name="Title 1"/>
          <p:cNvSpPr>
            <a:spLocks noGrp="1"/>
          </p:cNvSpPr>
          <p:nvPr>
            <p:ph type="title"/>
          </p:nvPr>
        </p:nvSpPr>
        <p:spPr/>
        <p:txBody>
          <a:bodyPr>
            <a:normAutofit/>
          </a:bodyPr>
          <a:lstStyle/>
          <a:p>
            <a:r>
              <a:rPr lang="en-GB" dirty="0"/>
              <a:t>Ordinary Least Squares (OLS) parameter estimation</a:t>
            </a:r>
            <a:endParaRPr lang="en-US" dirty="0"/>
          </a:p>
        </p:txBody>
      </p:sp>
      <p:sp>
        <p:nvSpPr>
          <p:cNvPr id="3" name="Vertical Text Placeholder 2"/>
          <p:cNvSpPr>
            <a:spLocks noGrp="1"/>
          </p:cNvSpPr>
          <p:nvPr>
            <p:ph type="body" orient="vert" idx="1"/>
          </p:nvPr>
        </p:nvSpPr>
        <p:spPr>
          <a:xfrm>
            <a:off x="1981200" y="1064689"/>
            <a:ext cx="7620000" cy="5108784"/>
          </a:xfrm>
        </p:spPr>
        <p:txBody>
          <a:bodyPr vert="horz">
            <a:normAutofit/>
          </a:bodyPr>
          <a:lstStyle/>
          <a:p>
            <a:pPr marL="342900" indent="-342900">
              <a:buFont typeface="Arial"/>
              <a:buChar char="•"/>
            </a:pPr>
            <a:r>
              <a:rPr lang="en-US" dirty="0"/>
              <a:t>Point estimates of        and        are obtained by the principle of least squares</a:t>
            </a:r>
          </a:p>
          <a:p>
            <a:endParaRPr lang="en-US" dirty="0"/>
          </a:p>
          <a:p>
            <a:endParaRPr lang="en-US" dirty="0"/>
          </a:p>
          <a:p>
            <a:pPr marL="342900" indent="-342900">
              <a:buFont typeface="Arial"/>
              <a:buChar char="•"/>
            </a:pPr>
            <a:endParaRPr lang="en-US" dirty="0"/>
          </a:p>
          <a:p>
            <a:pPr marL="342900" indent="-342900">
              <a:buFont typeface="Arial"/>
              <a:buChar char="•"/>
            </a:pPr>
            <a:endParaRPr lang="en-US" dirty="0"/>
          </a:p>
        </p:txBody>
      </p:sp>
      <p:sp>
        <p:nvSpPr>
          <p:cNvPr id="6" name="Slide Number Placeholder 5"/>
          <p:cNvSpPr>
            <a:spLocks noGrp="1"/>
          </p:cNvSpPr>
          <p:nvPr>
            <p:ph type="sldNum" sz="quarter" idx="12"/>
          </p:nvPr>
        </p:nvSpPr>
        <p:spPr/>
        <p:txBody>
          <a:bodyPr/>
          <a:lstStyle/>
          <a:p>
            <a:pPr defTabSz="457200"/>
            <a:fld id="{F38DF745-7D3F-47F4-83A3-874385CFAA69}" type="slidenum">
              <a:rPr lang="en-US">
                <a:solidFill>
                  <a:srgbClr val="D1282E"/>
                </a:solidFill>
              </a:rPr>
              <a:pPr defTabSz="457200"/>
              <a:t>15</a:t>
            </a:fld>
            <a:endParaRPr lang="en-US">
              <a:solidFill>
                <a:srgbClr val="D1282E"/>
              </a:solidFill>
            </a:endParaRPr>
          </a:p>
        </p:txBody>
      </p:sp>
      <p:pic>
        <p:nvPicPr>
          <p:cNvPr id="11" name="Picture 10"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7880" y="1031149"/>
            <a:ext cx="279400" cy="368300"/>
          </a:xfrm>
          <a:prstGeom prst="rect">
            <a:avLst/>
          </a:prstGeom>
        </p:spPr>
      </p:pic>
      <p:pic>
        <p:nvPicPr>
          <p:cNvPr id="14" name="Picture 13"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64217" y="1022015"/>
            <a:ext cx="266700" cy="368300"/>
          </a:xfrm>
          <a:prstGeom prst="rect">
            <a:avLst/>
          </a:prstGeom>
        </p:spPr>
      </p:pic>
      <p:pic>
        <p:nvPicPr>
          <p:cNvPr id="16" name="Picture 15" descr="latex-image-1.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50157" y="4412689"/>
            <a:ext cx="279400" cy="368300"/>
          </a:xfrm>
          <a:prstGeom prst="rect">
            <a:avLst/>
          </a:prstGeom>
        </p:spPr>
      </p:pic>
      <p:sp>
        <p:nvSpPr>
          <p:cNvPr id="5" name="TextBox 4">
            <a:extLst>
              <a:ext uri="{FF2B5EF4-FFF2-40B4-BE49-F238E27FC236}">
                <a16:creationId xmlns:a16="http://schemas.microsoft.com/office/drawing/2014/main" id="{05A6C081-F32D-F98E-307E-9B7B9AA1ED31}"/>
              </a:ext>
            </a:extLst>
          </p:cNvPr>
          <p:cNvSpPr txBox="1"/>
          <p:nvPr/>
        </p:nvSpPr>
        <p:spPr>
          <a:xfrm>
            <a:off x="7724506" y="6046870"/>
            <a:ext cx="7900000" cy="338554"/>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Squared residuals → sensitive to outliers</a:t>
            </a:r>
          </a:p>
        </p:txBody>
      </p:sp>
      <p:grpSp>
        <p:nvGrpSpPr>
          <p:cNvPr id="8" name="Group 7">
            <a:extLst>
              <a:ext uri="{FF2B5EF4-FFF2-40B4-BE49-F238E27FC236}">
                <a16:creationId xmlns:a16="http://schemas.microsoft.com/office/drawing/2014/main" id="{ED6E6F54-557B-4E53-F732-AD3777026EB9}"/>
              </a:ext>
            </a:extLst>
          </p:cNvPr>
          <p:cNvGrpSpPr/>
          <p:nvPr/>
        </p:nvGrpSpPr>
        <p:grpSpPr>
          <a:xfrm>
            <a:off x="3732365" y="1843453"/>
            <a:ext cx="4524692" cy="765109"/>
            <a:chOff x="3732365" y="1843453"/>
            <a:chExt cx="4524692" cy="765109"/>
          </a:xfrm>
        </p:grpSpPr>
        <p:pic>
          <p:nvPicPr>
            <p:cNvPr id="4" name="Picture 3" descr="latex-image-1.pdf"/>
            <p:cNvPicPr>
              <a:picLocks noChangeAspect="1"/>
            </p:cNvPicPr>
            <p:nvPr/>
          </p:nvPicPr>
          <p:blipFill>
            <a:blip r:embed="rId7">
              <a:extLst>
                <a:ext uri="{28A0092B-C50C-407E-A947-70E740481C1C}">
                  <a14:useLocalDpi xmlns:a14="http://schemas.microsoft.com/office/drawing/2010/main" val="0"/>
                </a:ext>
              </a:extLst>
            </a:blip>
            <a:srcRect l="4119" t="-15856"/>
            <a:stretch>
              <a:fillRect/>
            </a:stretch>
          </p:blipFill>
          <p:spPr>
            <a:xfrm>
              <a:off x="4031673" y="1843453"/>
              <a:ext cx="4225384" cy="765109"/>
            </a:xfrm>
            <a:prstGeom prst="rect">
              <a:avLst/>
            </a:prstGeom>
          </p:spPr>
        </p:pic>
        <p:sp>
          <p:nvSpPr>
            <p:cNvPr id="7" name="TextBox 6">
              <a:extLst>
                <a:ext uri="{FF2B5EF4-FFF2-40B4-BE49-F238E27FC236}">
                  <a16:creationId xmlns:a16="http://schemas.microsoft.com/office/drawing/2014/main" id="{0FA75E1E-50D7-961C-66CB-650DA18179B7}"/>
                </a:ext>
              </a:extLst>
            </p:cNvPr>
            <p:cNvSpPr txBox="1"/>
            <p:nvPr/>
          </p:nvSpPr>
          <p:spPr>
            <a:xfrm>
              <a:off x="3732365" y="1908841"/>
              <a:ext cx="388248" cy="523220"/>
            </a:xfrm>
            <a:prstGeom prst="rect">
              <a:avLst/>
            </a:prstGeom>
            <a:noFill/>
          </p:spPr>
          <p:txBody>
            <a:bodyPr wrap="none" rtlCol="0">
              <a:spAutoFit/>
            </a:bodyPr>
            <a:lstStyle/>
            <a:p>
              <a:r>
                <a:rPr lang="en-US" sz="2800" i="1" dirty="0">
                  <a:latin typeface="Geogrotesque Regular"/>
                  <a:cs typeface="Geogrotesque Regular"/>
                </a:rPr>
                <a:t>S</a:t>
              </a:r>
            </a:p>
          </p:txBody>
        </p:sp>
      </p:grpSp>
    </p:spTree>
    <p:extLst>
      <p:ext uri="{BB962C8B-B14F-4D97-AF65-F5344CB8AC3E}">
        <p14:creationId xmlns:p14="http://schemas.microsoft.com/office/powerpoint/2010/main" val="3058146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predicted and residual values</a:t>
            </a:r>
          </a:p>
        </p:txBody>
      </p:sp>
      <p:sp>
        <p:nvSpPr>
          <p:cNvPr id="3" name="Vertical Text Placeholder 2"/>
          <p:cNvSpPr>
            <a:spLocks noGrp="1"/>
          </p:cNvSpPr>
          <p:nvPr>
            <p:ph type="body" orient="vert" idx="1"/>
          </p:nvPr>
        </p:nvSpPr>
        <p:spPr>
          <a:xfrm>
            <a:off x="1981200" y="1064689"/>
            <a:ext cx="7620000" cy="5108784"/>
          </a:xfrm>
        </p:spPr>
        <p:txBody>
          <a:bodyPr vert="horz">
            <a:normAutofit/>
          </a:bodyPr>
          <a:lstStyle/>
          <a:p>
            <a:pPr marL="342900" indent="-342900">
              <a:buFont typeface="Arial"/>
              <a:buChar char="•"/>
            </a:pPr>
            <a:r>
              <a:rPr lang="en-US" dirty="0"/>
              <a:t>Predicted, or fitted, values are values of </a:t>
            </a:r>
            <a:r>
              <a:rPr lang="en-US" i="1" dirty="0"/>
              <a:t>y</a:t>
            </a:r>
            <a:r>
              <a:rPr lang="en-US" dirty="0"/>
              <a:t> predicted by the least- squares regression line obtained by plugging in </a:t>
            </a:r>
            <a:r>
              <a:rPr lang="en-US" i="1" dirty="0"/>
              <a:t>x</a:t>
            </a:r>
            <a:r>
              <a:rPr lang="en-US" i="1" baseline="-25000" dirty="0"/>
              <a:t>1</a:t>
            </a:r>
            <a:r>
              <a:rPr lang="en-US" i="1" dirty="0"/>
              <a:t>, x</a:t>
            </a:r>
            <a:r>
              <a:rPr lang="en-US" i="1" baseline="-25000" dirty="0"/>
              <a:t>2</a:t>
            </a:r>
            <a:r>
              <a:rPr lang="en-US" i="1" dirty="0"/>
              <a:t>, ..., </a:t>
            </a:r>
            <a:r>
              <a:rPr lang="en-US" i="1" dirty="0" err="1"/>
              <a:t>x</a:t>
            </a:r>
            <a:r>
              <a:rPr lang="en-US" i="1" baseline="-25000" dirty="0" err="1"/>
              <a:t>n</a:t>
            </a:r>
            <a:r>
              <a:rPr lang="en-US" dirty="0"/>
              <a:t> into the estimated regression line </a:t>
            </a:r>
          </a:p>
          <a:p>
            <a:pPr marL="342900" indent="-342900">
              <a:buFont typeface="Arial"/>
              <a:buChar char="•"/>
            </a:pPr>
            <a:endParaRPr lang="en-US" dirty="0"/>
          </a:p>
          <a:p>
            <a:pPr marL="342900" indent="-342900">
              <a:buFont typeface="Arial"/>
              <a:buChar char="•"/>
            </a:pPr>
            <a:r>
              <a:rPr lang="en-US" dirty="0"/>
              <a:t>Residuals are the deviations of observed and predicted values </a:t>
            </a:r>
          </a:p>
          <a:p>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endParaRPr lang="en-US" dirty="0"/>
          </a:p>
          <a:p>
            <a:pPr marL="342900" indent="-342900">
              <a:buFont typeface="Arial"/>
              <a:buChar char="•"/>
            </a:pPr>
            <a:endParaRPr lang="en-US" dirty="0"/>
          </a:p>
          <a:p>
            <a:pPr marL="342900" indent="-342900">
              <a:buFont typeface="Arial"/>
              <a:buChar char="•"/>
            </a:pPr>
            <a:endParaRPr lang="en-US" dirty="0"/>
          </a:p>
        </p:txBody>
      </p:sp>
      <p:sp>
        <p:nvSpPr>
          <p:cNvPr id="6" name="Slide Number Placeholder 5"/>
          <p:cNvSpPr>
            <a:spLocks noGrp="1"/>
          </p:cNvSpPr>
          <p:nvPr>
            <p:ph type="sldNum" sz="quarter" idx="12"/>
          </p:nvPr>
        </p:nvSpPr>
        <p:spPr/>
        <p:txBody>
          <a:bodyPr/>
          <a:lstStyle/>
          <a:p>
            <a:pPr defTabSz="457200"/>
            <a:fld id="{F38DF745-7D3F-47F4-83A3-874385CFAA69}" type="slidenum">
              <a:rPr lang="en-US">
                <a:solidFill>
                  <a:srgbClr val="D1282E"/>
                </a:solidFill>
              </a:rPr>
              <a:pPr defTabSz="457200"/>
              <a:t>16</a:t>
            </a:fld>
            <a:endParaRPr lang="en-US">
              <a:solidFill>
                <a:srgbClr val="D1282E"/>
              </a:solidFill>
            </a:endParaRPr>
          </a:p>
        </p:txBody>
      </p:sp>
      <p:pic>
        <p:nvPicPr>
          <p:cNvPr id="12" name="Picture 11" descr="latex-image-1.pdf"/>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396692" y="2081512"/>
            <a:ext cx="1943100" cy="393700"/>
          </a:xfrm>
          <a:prstGeom prst="rect">
            <a:avLst/>
          </a:prstGeom>
        </p:spPr>
      </p:pic>
      <p:pic>
        <p:nvPicPr>
          <p:cNvPr id="13" name="Picture 12" descr="latex-image-1.pdf"/>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14898" y="3101270"/>
            <a:ext cx="1574800" cy="317500"/>
          </a:xfrm>
          <a:prstGeom prst="rect">
            <a:avLst/>
          </a:prstGeom>
        </p:spPr>
      </p:pic>
      <p:pic>
        <p:nvPicPr>
          <p:cNvPr id="18" name="Picture 17"/>
          <p:cNvPicPr>
            <a:picLocks noChangeAspect="1"/>
          </p:cNvPicPr>
          <p:nvPr/>
        </p:nvPicPr>
        <p:blipFill>
          <a:blip r:embed="rId5"/>
          <a:stretch>
            <a:fillRect/>
          </a:stretch>
        </p:blipFill>
        <p:spPr>
          <a:xfrm>
            <a:off x="1981200" y="3875835"/>
            <a:ext cx="4675926" cy="2781664"/>
          </a:xfrm>
          <a:prstGeom prst="rect">
            <a:avLst/>
          </a:prstGeom>
        </p:spPr>
      </p:pic>
    </p:spTree>
    <p:extLst>
      <p:ext uri="{BB962C8B-B14F-4D97-AF65-F5344CB8AC3E}">
        <p14:creationId xmlns:p14="http://schemas.microsoft.com/office/powerpoint/2010/main" val="540222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Residuals are useful</a:t>
            </a:r>
          </a:p>
        </p:txBody>
      </p:sp>
      <p:sp>
        <p:nvSpPr>
          <p:cNvPr id="3" name="Vertical Text Placeholder 2"/>
          <p:cNvSpPr>
            <a:spLocks noGrp="1"/>
          </p:cNvSpPr>
          <p:nvPr>
            <p:ph type="body" orient="vert" idx="1"/>
          </p:nvPr>
        </p:nvSpPr>
        <p:spPr>
          <a:xfrm>
            <a:off x="512618" y="1064689"/>
            <a:ext cx="9088582" cy="5108784"/>
          </a:xfrm>
        </p:spPr>
        <p:txBody>
          <a:bodyPr vert="horz">
            <a:normAutofit/>
          </a:bodyPr>
          <a:lstStyle/>
          <a:p>
            <a:pPr marL="342900" indent="-342900">
              <a:buFont typeface="Arial"/>
              <a:buChar char="•"/>
            </a:pPr>
            <a:r>
              <a:rPr lang="en-US" dirty="0"/>
              <a:t>They allow us to calculate the error sum of squares (SSE): </a:t>
            </a:r>
          </a:p>
          <a:p>
            <a:pPr marL="342900" indent="-342900">
              <a:buFont typeface="Arial"/>
              <a:buChar char="•"/>
            </a:pPr>
            <a:endParaRPr lang="en-US" dirty="0"/>
          </a:p>
          <a:p>
            <a:endParaRPr lang="en-US" dirty="0"/>
          </a:p>
          <a:p>
            <a:pPr marL="342900" indent="-342900">
              <a:buFont typeface="Arial"/>
              <a:buChar char="•"/>
            </a:pPr>
            <a:r>
              <a:rPr lang="en-US" dirty="0"/>
              <a:t>Which in turn allows us to estimate        (</a:t>
            </a:r>
            <a:r>
              <a:rPr lang="en-US" i="1" dirty="0"/>
              <a:t>n</a:t>
            </a:r>
            <a:r>
              <a:rPr lang="en-US" dirty="0"/>
              <a:t> is the number of observations): </a:t>
            </a:r>
          </a:p>
          <a:p>
            <a:endParaRPr lang="en-US" dirty="0"/>
          </a:p>
          <a:p>
            <a:pPr marL="342900" indent="-342900">
              <a:buFont typeface="Arial"/>
              <a:buChar char="•"/>
            </a:pPr>
            <a:endParaRPr lang="en-US" dirty="0"/>
          </a:p>
          <a:p>
            <a:pPr marL="342900" indent="-342900">
              <a:buFont typeface="Arial"/>
              <a:buChar char="•"/>
            </a:pPr>
            <a:r>
              <a:rPr lang="en-US" dirty="0"/>
              <a:t>As well as an important statistic referred to as the coefficient of determination</a:t>
            </a:r>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r>
              <a:rPr lang="en-US" dirty="0"/>
              <a:t>Or its adjusted variant</a:t>
            </a:r>
          </a:p>
          <a:p>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endParaRPr lang="en-US" dirty="0"/>
          </a:p>
          <a:p>
            <a:pPr marL="342900" indent="-342900">
              <a:buFont typeface="Arial"/>
              <a:buChar char="•"/>
            </a:pPr>
            <a:endParaRPr lang="en-US" dirty="0"/>
          </a:p>
          <a:p>
            <a:pPr marL="342900" indent="-342900">
              <a:buFont typeface="Arial"/>
              <a:buChar char="•"/>
            </a:pPr>
            <a:endParaRPr lang="en-US" dirty="0"/>
          </a:p>
        </p:txBody>
      </p:sp>
      <p:sp>
        <p:nvSpPr>
          <p:cNvPr id="6" name="Slide Number Placeholder 5"/>
          <p:cNvSpPr>
            <a:spLocks noGrp="1"/>
          </p:cNvSpPr>
          <p:nvPr>
            <p:ph type="sldNum" sz="quarter" idx="12"/>
          </p:nvPr>
        </p:nvSpPr>
        <p:spPr/>
        <p:txBody>
          <a:bodyPr/>
          <a:lstStyle/>
          <a:p>
            <a:pPr defTabSz="457200"/>
            <a:fld id="{F38DF745-7D3F-47F4-83A3-874385CFAA69}" type="slidenum">
              <a:rPr lang="en-US">
                <a:solidFill>
                  <a:srgbClr val="D1282E"/>
                </a:solidFill>
              </a:rPr>
              <a:pPr defTabSz="457200"/>
              <a:t>17</a:t>
            </a:fld>
            <a:endParaRPr lang="en-US">
              <a:solidFill>
                <a:srgbClr val="D1282E"/>
              </a:solidFill>
            </a:endParaRPr>
          </a:p>
        </p:txBody>
      </p:sp>
      <p:pic>
        <p:nvPicPr>
          <p:cNvPr id="4" name="Picture 3" descr="latex-image-1.pdf"/>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651162" y="1594692"/>
            <a:ext cx="4254500" cy="698500"/>
          </a:xfrm>
          <a:prstGeom prst="rect">
            <a:avLst/>
          </a:prstGeom>
        </p:spPr>
      </p:pic>
      <p:pic>
        <p:nvPicPr>
          <p:cNvPr id="5" name="Picture 4" descr="latex-image-1.pdf"/>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817538" y="2930564"/>
            <a:ext cx="1473200" cy="647700"/>
          </a:xfrm>
          <a:prstGeom prst="rect">
            <a:avLst/>
          </a:prstGeom>
        </p:spPr>
      </p:pic>
      <p:pic>
        <p:nvPicPr>
          <p:cNvPr id="7" name="Picture 6"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64557" y="2387825"/>
            <a:ext cx="292100" cy="279400"/>
          </a:xfrm>
          <a:prstGeom prst="rect">
            <a:avLst/>
          </a:prstGeom>
        </p:spPr>
      </p:pic>
      <p:pic>
        <p:nvPicPr>
          <p:cNvPr id="8" name="Picture 7" descr="latex-image-1.pdf"/>
          <p:cNvPicPr>
            <a:picLocks noChangeAspect="1"/>
          </p:cNvPicPr>
          <p:nvPr/>
        </p:nvPicPr>
        <p:blipFill>
          <a:blip r:embed="rId6">
            <a:duotone>
              <a:schemeClr val="accent3">
                <a:shade val="45000"/>
                <a:satMod val="135000"/>
              </a:schemeClr>
              <a:prstClr val="white"/>
            </a:duotone>
            <a:extLst>
              <a:ext uri="{28A0092B-C50C-407E-A947-70E740481C1C}">
                <a14:useLocalDpi xmlns:a14="http://schemas.microsoft.com/office/drawing/2010/main" val="0"/>
              </a:ext>
            </a:extLst>
          </a:blip>
          <a:srcRect l="37668"/>
          <a:stretch>
            <a:fillRect/>
          </a:stretch>
        </p:blipFill>
        <p:spPr>
          <a:xfrm>
            <a:off x="4599709" y="4215636"/>
            <a:ext cx="3111062" cy="825500"/>
          </a:xfrm>
          <a:prstGeom prst="rect">
            <a:avLst/>
          </a:prstGeom>
        </p:spPr>
      </p:pic>
      <p:pic>
        <p:nvPicPr>
          <p:cNvPr id="9" name="gof">
            <a:extLst>
              <a:ext uri="{FF2B5EF4-FFF2-40B4-BE49-F238E27FC236}">
                <a16:creationId xmlns:a16="http://schemas.microsoft.com/office/drawing/2014/main" id="{F25B9C85-F8B1-63D0-2C48-B1343C8B3B4B}"/>
              </a:ext>
            </a:extLst>
          </p:cNvPr>
          <p:cNvPicPr>
            <a:picLocks noChangeAspect="1"/>
          </p:cNvPicPr>
          <p:nvPr/>
        </p:nvPicPr>
        <p:blipFill>
          <a:blip r:embed="rId7">
            <a:duotone>
              <a:schemeClr val="accent3">
                <a:shade val="45000"/>
                <a:satMod val="135000"/>
              </a:schemeClr>
              <a:prstClr val="white"/>
            </a:duotone>
          </a:blip>
          <a:srcRect t="68704"/>
          <a:stretch>
            <a:fillRect/>
          </a:stretch>
        </p:blipFill>
        <p:spPr>
          <a:xfrm>
            <a:off x="2978733" y="5512395"/>
            <a:ext cx="3025303" cy="619519"/>
          </a:xfrm>
          <a:prstGeom prst="rect">
            <a:avLst/>
          </a:prstGeom>
        </p:spPr>
      </p:pic>
      <p:pic>
        <p:nvPicPr>
          <p:cNvPr id="10" name="gof">
            <a:extLst>
              <a:ext uri="{FF2B5EF4-FFF2-40B4-BE49-F238E27FC236}">
                <a16:creationId xmlns:a16="http://schemas.microsoft.com/office/drawing/2014/main" id="{84D7A106-C29E-F744-C08E-080663B35470}"/>
              </a:ext>
            </a:extLst>
          </p:cNvPr>
          <p:cNvPicPr>
            <a:picLocks noChangeAspect="1"/>
          </p:cNvPicPr>
          <p:nvPr/>
        </p:nvPicPr>
        <p:blipFill>
          <a:blip r:embed="rId7">
            <a:duotone>
              <a:schemeClr val="accent3">
                <a:shade val="45000"/>
                <a:satMod val="135000"/>
              </a:schemeClr>
              <a:prstClr val="white"/>
            </a:duotone>
          </a:blip>
          <a:srcRect t="39047" b="29885"/>
          <a:stretch>
            <a:fillRect/>
          </a:stretch>
        </p:blipFill>
        <p:spPr>
          <a:xfrm>
            <a:off x="2678871" y="4245323"/>
            <a:ext cx="3264732" cy="663674"/>
          </a:xfrm>
          <a:prstGeom prst="rect">
            <a:avLst/>
          </a:prstGeom>
        </p:spPr>
      </p:pic>
      <p:sp>
        <p:nvSpPr>
          <p:cNvPr id="11" name="TextBox 10">
            <a:extLst>
              <a:ext uri="{FF2B5EF4-FFF2-40B4-BE49-F238E27FC236}">
                <a16:creationId xmlns:a16="http://schemas.microsoft.com/office/drawing/2014/main" id="{FE2F2BC5-5918-E1FC-9895-14E870C0A8ED}"/>
              </a:ext>
            </a:extLst>
          </p:cNvPr>
          <p:cNvSpPr txBox="1"/>
          <p:nvPr/>
        </p:nvSpPr>
        <p:spPr>
          <a:xfrm>
            <a:off x="5651200" y="6360845"/>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Plain R² never decreases as predictors are added — hence adjusted R².</a:t>
            </a:r>
          </a:p>
        </p:txBody>
      </p:sp>
    </p:spTree>
    <p:extLst>
      <p:ext uri="{BB962C8B-B14F-4D97-AF65-F5344CB8AC3E}">
        <p14:creationId xmlns:p14="http://schemas.microsoft.com/office/powerpoint/2010/main" val="733490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DD18F-D8D0-1BB7-4C0E-12B541803C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79A571-E3F2-D032-6FDC-2738621C9A9B}"/>
              </a:ext>
            </a:extLst>
          </p:cNvPr>
          <p:cNvSpPr>
            <a:spLocks noGrp="1"/>
          </p:cNvSpPr>
          <p:nvPr>
            <p:ph type="title"/>
          </p:nvPr>
        </p:nvSpPr>
        <p:spPr/>
        <p:txBody>
          <a:bodyPr>
            <a:normAutofit/>
          </a:bodyPr>
          <a:lstStyle/>
          <a:p>
            <a:r>
              <a:rPr lang="en-US" dirty="0"/>
              <a:t>Residuals are useful</a:t>
            </a:r>
          </a:p>
        </p:txBody>
      </p:sp>
      <p:pic>
        <p:nvPicPr>
          <p:cNvPr id="14" name="Picture 13">
            <a:extLst>
              <a:ext uri="{FF2B5EF4-FFF2-40B4-BE49-F238E27FC236}">
                <a16:creationId xmlns:a16="http://schemas.microsoft.com/office/drawing/2014/main" id="{9824A910-9E5D-C4D5-23CF-27508D76A48A}"/>
              </a:ext>
            </a:extLst>
          </p:cNvPr>
          <p:cNvPicPr>
            <a:picLocks noChangeAspect="1"/>
          </p:cNvPicPr>
          <p:nvPr/>
        </p:nvPicPr>
        <p:blipFill>
          <a:blip r:embed="rId3"/>
          <a:srcRect b="49058"/>
          <a:stretch>
            <a:fillRect/>
          </a:stretch>
        </p:blipFill>
        <p:spPr>
          <a:xfrm>
            <a:off x="609600" y="1109579"/>
            <a:ext cx="10655711" cy="3532909"/>
          </a:xfrm>
          <a:prstGeom prst="rect">
            <a:avLst/>
          </a:prstGeom>
        </p:spPr>
      </p:pic>
    </p:spTree>
    <p:extLst>
      <p:ext uri="{BB962C8B-B14F-4D97-AF65-F5344CB8AC3E}">
        <p14:creationId xmlns:p14="http://schemas.microsoft.com/office/powerpoint/2010/main" val="609769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IS the explanatory variable explanatory?</a:t>
            </a:r>
          </a:p>
        </p:txBody>
      </p:sp>
      <p:sp>
        <p:nvSpPr>
          <p:cNvPr id="3" name="Vertical Text Placeholder 2"/>
          <p:cNvSpPr>
            <a:spLocks noGrp="1"/>
          </p:cNvSpPr>
          <p:nvPr>
            <p:ph type="body" orient="vert" idx="1"/>
          </p:nvPr>
        </p:nvSpPr>
        <p:spPr>
          <a:xfrm>
            <a:off x="1981199" y="1064689"/>
            <a:ext cx="7800109" cy="5108784"/>
          </a:xfrm>
        </p:spPr>
        <p:txBody>
          <a:bodyPr vert="horz">
            <a:normAutofit/>
          </a:bodyPr>
          <a:lstStyle/>
          <a:p>
            <a:pPr marL="342900" indent="-342900">
              <a:buFont typeface="Arial"/>
              <a:buChar char="•"/>
            </a:pPr>
            <a:r>
              <a:rPr lang="en-US" dirty="0"/>
              <a:t>we have fitted a model:</a:t>
            </a:r>
          </a:p>
          <a:p>
            <a:pPr marL="342900" indent="-342900">
              <a:buFont typeface="Arial"/>
              <a:buChar char="•"/>
            </a:pPr>
            <a:r>
              <a:rPr lang="en-US" dirty="0"/>
              <a:t>significance of influence of X on Y translates to significance of</a:t>
            </a:r>
          </a:p>
          <a:p>
            <a:pPr marL="342900" indent="-342900">
              <a:buFont typeface="Arial"/>
              <a:buChar char="•"/>
            </a:pPr>
            <a:r>
              <a:rPr lang="en-US" dirty="0"/>
              <a:t>Hypothesis tests for       can be done by simple t-tests: </a:t>
            </a:r>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endParaRPr lang="en-US" dirty="0"/>
          </a:p>
          <a:p>
            <a:pPr marL="342900" indent="-342900">
              <a:buFont typeface="Arial"/>
              <a:buChar char="•"/>
            </a:pPr>
            <a:r>
              <a:rPr lang="en-US" dirty="0"/>
              <a:t>where </a:t>
            </a:r>
            <a:r>
              <a:rPr lang="en-US" i="1" dirty="0"/>
              <a:t>t  </a:t>
            </a:r>
            <a:r>
              <a:rPr lang="en-US" dirty="0"/>
              <a:t>follows an approximate t-distribution with </a:t>
            </a:r>
            <a:r>
              <a:rPr lang="en-US" i="1" dirty="0"/>
              <a:t>(n - 2)  </a:t>
            </a:r>
            <a:r>
              <a:rPr lang="en-US" dirty="0"/>
              <a:t>degrees of freedom (</a:t>
            </a:r>
            <a:r>
              <a:rPr lang="en-US" i="1" dirty="0"/>
              <a:t>n </a:t>
            </a:r>
            <a:r>
              <a:rPr lang="en-US" dirty="0"/>
              <a:t> observations, two parameters)</a:t>
            </a:r>
          </a:p>
          <a:p>
            <a:pPr marL="342900" indent="-342900">
              <a:buFont typeface="Arial"/>
              <a:buChar char="•"/>
            </a:pPr>
            <a:r>
              <a:rPr lang="en-US" dirty="0"/>
              <a:t>in general                                          and thus  </a:t>
            </a:r>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endParaRPr lang="en-US" dirty="0"/>
          </a:p>
          <a:p>
            <a:pPr marL="342900" indent="-342900">
              <a:buFont typeface="Arial"/>
              <a:buChar char="•"/>
            </a:pPr>
            <a:endParaRPr lang="en-US" dirty="0"/>
          </a:p>
          <a:p>
            <a:pPr marL="342900" indent="-342900">
              <a:buFont typeface="Arial"/>
              <a:buChar char="•"/>
            </a:pPr>
            <a:endParaRPr lang="en-US" dirty="0"/>
          </a:p>
        </p:txBody>
      </p:sp>
      <p:sp>
        <p:nvSpPr>
          <p:cNvPr id="6" name="Slide Number Placeholder 5"/>
          <p:cNvSpPr>
            <a:spLocks noGrp="1"/>
          </p:cNvSpPr>
          <p:nvPr>
            <p:ph type="sldNum" sz="quarter" idx="12"/>
          </p:nvPr>
        </p:nvSpPr>
        <p:spPr/>
        <p:txBody>
          <a:bodyPr/>
          <a:lstStyle/>
          <a:p>
            <a:pPr defTabSz="457200"/>
            <a:fld id="{F38DF745-7D3F-47F4-83A3-874385CFAA69}" type="slidenum">
              <a:rPr lang="en-US">
                <a:solidFill>
                  <a:srgbClr val="D1282E"/>
                </a:solidFill>
              </a:rPr>
              <a:pPr defTabSz="457200"/>
              <a:t>19</a:t>
            </a:fld>
            <a:endParaRPr lang="en-US">
              <a:solidFill>
                <a:srgbClr val="D1282E"/>
              </a:solidFill>
            </a:endParaRPr>
          </a:p>
        </p:txBody>
      </p:sp>
      <p:pic>
        <p:nvPicPr>
          <p:cNvPr id="9" name="Picture 8" descr="latex-image-1.pdf"/>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938678" y="1109579"/>
            <a:ext cx="2209800" cy="279400"/>
          </a:xfrm>
          <a:prstGeom prst="rect">
            <a:avLst/>
          </a:prstGeom>
        </p:spPr>
      </p:pic>
      <p:pic>
        <p:nvPicPr>
          <p:cNvPr id="11" name="Picture 10"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2004" y="1480542"/>
            <a:ext cx="266700" cy="368300"/>
          </a:xfrm>
          <a:prstGeom prst="rect">
            <a:avLst/>
          </a:prstGeom>
        </p:spPr>
      </p:pic>
      <p:pic>
        <p:nvPicPr>
          <p:cNvPr id="12" name="Picture 11"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4384" y="1922803"/>
            <a:ext cx="266700" cy="368300"/>
          </a:xfrm>
          <a:prstGeom prst="rect">
            <a:avLst/>
          </a:prstGeom>
        </p:spPr>
      </p:pic>
      <p:pic>
        <p:nvPicPr>
          <p:cNvPr id="14" name="Picture 13" descr="latex-image-1.pdf"/>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916100" y="2358321"/>
            <a:ext cx="1752600" cy="1778000"/>
          </a:xfrm>
          <a:prstGeom prst="rect">
            <a:avLst/>
          </a:prstGeom>
        </p:spPr>
      </p:pic>
      <p:pic>
        <p:nvPicPr>
          <p:cNvPr id="15" name="Picture 14"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45590" y="4949545"/>
            <a:ext cx="2070100" cy="317500"/>
          </a:xfrm>
          <a:prstGeom prst="rect">
            <a:avLst/>
          </a:prstGeom>
        </p:spPr>
      </p:pic>
      <p:pic>
        <p:nvPicPr>
          <p:cNvPr id="16" name="Picture 15" descr="latex-image-1.pdf"/>
          <p:cNvPicPr>
            <a:picLocks noChangeAspect="1"/>
          </p:cNvPicPr>
          <p:nvPr/>
        </p:nvPicPr>
        <p:blipFill>
          <a:blip r:embed="rId6">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41913" y="5419657"/>
            <a:ext cx="1041400" cy="762000"/>
          </a:xfrm>
          <a:prstGeom prst="rect">
            <a:avLst/>
          </a:prstGeom>
        </p:spPr>
      </p:pic>
    </p:spTree>
    <p:extLst>
      <p:ext uri="{BB962C8B-B14F-4D97-AF65-F5344CB8AC3E}">
        <p14:creationId xmlns:p14="http://schemas.microsoft.com/office/powerpoint/2010/main" val="3003114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intermezzo</a:t>
            </a:r>
          </a:p>
        </p:txBody>
      </p:sp>
      <p:sp>
        <p:nvSpPr>
          <p:cNvPr id="3" name="Vertical Text Placeholder 2"/>
          <p:cNvSpPr>
            <a:spLocks noGrp="1"/>
          </p:cNvSpPr>
          <p:nvPr>
            <p:ph type="body" orient="vert" idx="1"/>
          </p:nvPr>
        </p:nvSpPr>
        <p:spPr>
          <a:xfrm>
            <a:off x="1981200" y="1064689"/>
            <a:ext cx="7620000" cy="5108784"/>
          </a:xfrm>
        </p:spPr>
        <p:txBody>
          <a:bodyPr vert="horz">
            <a:normAutofit lnSpcReduction="10000"/>
          </a:bodyPr>
          <a:lstStyle/>
          <a:p>
            <a:pPr marL="342900" indent="-342900">
              <a:buFont typeface="Arial"/>
              <a:buChar char="•"/>
            </a:pPr>
            <a:r>
              <a:rPr lang="en-US" dirty="0"/>
              <a:t>for one sample t-test</a:t>
            </a:r>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r>
              <a:rPr lang="en-US" dirty="0"/>
              <a:t>for two sample t-test</a:t>
            </a:r>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r>
              <a:rPr lang="en-US" dirty="0"/>
              <a:t>for linear regression</a:t>
            </a:r>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r>
              <a:rPr lang="en-US" dirty="0"/>
              <a:t>Always, it is some value independent from the response variable.</a:t>
            </a:r>
          </a:p>
          <a:p>
            <a:r>
              <a:rPr lang="en-US" dirty="0"/>
              <a:t>It shows depth or breadth of the data</a:t>
            </a:r>
          </a:p>
          <a:p>
            <a:pPr marL="342900" indent="-342900">
              <a:buFont typeface="Arial"/>
              <a:buChar char="•"/>
            </a:pPr>
            <a:endParaRPr lang="en-US" dirty="0"/>
          </a:p>
          <a:p>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pPr marL="342900" indent="-342900">
              <a:buFont typeface="Arial"/>
              <a:buChar char="•"/>
            </a:pPr>
            <a:endParaRPr lang="en-US" dirty="0"/>
          </a:p>
          <a:p>
            <a:endParaRPr lang="en-US" dirty="0"/>
          </a:p>
          <a:p>
            <a:pPr marL="342900" indent="-342900">
              <a:buFont typeface="Arial"/>
              <a:buChar char="•"/>
            </a:pPr>
            <a:endParaRPr lang="en-US" dirty="0"/>
          </a:p>
          <a:p>
            <a:pPr marL="342900" indent="-342900">
              <a:buFont typeface="Arial"/>
              <a:buChar char="•"/>
            </a:pPr>
            <a:endParaRPr lang="en-US" dirty="0"/>
          </a:p>
        </p:txBody>
      </p:sp>
      <p:sp>
        <p:nvSpPr>
          <p:cNvPr id="6" name="Slide Number Placeholder 5"/>
          <p:cNvSpPr>
            <a:spLocks noGrp="1"/>
          </p:cNvSpPr>
          <p:nvPr>
            <p:ph type="sldNum" sz="quarter" idx="12"/>
          </p:nvPr>
        </p:nvSpPr>
        <p:spPr/>
        <p:txBody>
          <a:bodyPr/>
          <a:lstStyle/>
          <a:p>
            <a:pPr defTabSz="457200"/>
            <a:fld id="{F38DF745-7D3F-47F4-83A3-874385CFAA69}" type="slidenum">
              <a:rPr lang="en-US">
                <a:solidFill>
                  <a:srgbClr val="D1282E"/>
                </a:solidFill>
              </a:rPr>
              <a:pPr defTabSz="457200"/>
              <a:t>20</a:t>
            </a:fld>
            <a:endParaRPr lang="en-US">
              <a:solidFill>
                <a:srgbClr val="D1282E"/>
              </a:solidFill>
            </a:endParaRPr>
          </a:p>
        </p:txBody>
      </p:sp>
      <p:pic>
        <p:nvPicPr>
          <p:cNvPr id="4" name="Picture 3" descr="latex-image-1.pdf"/>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046186" y="1408569"/>
            <a:ext cx="1092200" cy="736600"/>
          </a:xfrm>
          <a:prstGeom prst="rect">
            <a:avLst/>
          </a:prstGeom>
        </p:spPr>
      </p:pic>
      <p:pic>
        <p:nvPicPr>
          <p:cNvPr id="5" name="Picture 4" descr="latex-image-1.pdf"/>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046186" y="2797512"/>
            <a:ext cx="1993900" cy="736600"/>
          </a:xfrm>
          <a:prstGeom prst="rect">
            <a:avLst/>
          </a:prstGeom>
        </p:spPr>
      </p:pic>
      <p:pic>
        <p:nvPicPr>
          <p:cNvPr id="7" name="Picture 6" descr="latex-image-1.pdf"/>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046186" y="3982533"/>
            <a:ext cx="2578100" cy="927100"/>
          </a:xfrm>
          <a:prstGeom prst="rect">
            <a:avLst/>
          </a:prstGeom>
        </p:spPr>
      </p:pic>
    </p:spTree>
    <p:extLst>
      <p:ext uri="{BB962C8B-B14F-4D97-AF65-F5344CB8AC3E}">
        <p14:creationId xmlns:p14="http://schemas.microsoft.com/office/powerpoint/2010/main" val="4169939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21</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OLS assumptions</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60" y="917258"/>
            <a:ext cx="5875894" cy="5439092"/>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The fit is easy; trusting it needs assumptions.</a:t>
            </a:r>
          </a:p>
          <a:p>
            <a:pPr marL="0" indent="0" algn="just">
              <a:buNone/>
            </a:pPr>
            <a:endParaRPr lang="en-GB" sz="2000" noProof="0" dirty="0"/>
          </a:p>
          <a:p>
            <a:pPr algn="just"/>
            <a:r>
              <a:rPr lang="en-GB" sz="2000" noProof="0" dirty="0">
                <a:latin typeface="Geogrotesque Rg" panose="02000000000000000000" pitchFamily="2" charset="77"/>
              </a:rPr>
              <a:t>Correct </a:t>
            </a:r>
            <a:r>
              <a:rPr lang="en-GB" sz="2000" noProof="0" dirty="0">
                <a:solidFill>
                  <a:srgbClr val="F25331"/>
                </a:solidFill>
                <a:latin typeface="Geogrotesque Rg" panose="02000000000000000000" pitchFamily="2" charset="77"/>
              </a:rPr>
              <a:t>specification</a:t>
            </a:r>
            <a:r>
              <a:rPr lang="en-GB" sz="2000" noProof="0" dirty="0">
                <a:latin typeface="Geogrotesque Rg" panose="02000000000000000000" pitchFamily="2" charset="77"/>
              </a:rPr>
              <a:t> and strict </a:t>
            </a:r>
            <a:r>
              <a:rPr lang="en-GB" sz="2000" noProof="0" dirty="0">
                <a:solidFill>
                  <a:srgbClr val="F25331"/>
                </a:solidFill>
                <a:latin typeface="Geogrotesque Rg" panose="02000000000000000000" pitchFamily="2" charset="77"/>
              </a:rPr>
              <a:t>exogeneity</a:t>
            </a:r>
            <a:r>
              <a:rPr lang="en-GB" sz="2000" noProof="0" dirty="0">
                <a:latin typeface="Geogrotesque Rg" panose="02000000000000000000" pitchFamily="2" charset="77"/>
              </a:rPr>
              <a:t> (errors centred on the truth).</a:t>
            </a:r>
          </a:p>
          <a:p>
            <a:pPr algn="just"/>
            <a:r>
              <a:rPr lang="en-GB" sz="2000" noProof="0" dirty="0">
                <a:latin typeface="Geogrotesque Rg" panose="02000000000000000000" pitchFamily="2" charset="77"/>
              </a:rPr>
              <a:t>No </a:t>
            </a:r>
            <a:r>
              <a:rPr lang="en-GB" sz="2000" noProof="0" dirty="0">
                <a:solidFill>
                  <a:srgbClr val="F25331"/>
                </a:solidFill>
                <a:latin typeface="Geogrotesque Rg" panose="02000000000000000000" pitchFamily="2" charset="77"/>
              </a:rPr>
              <a:t>multicollinearity</a:t>
            </a:r>
            <a:r>
              <a:rPr lang="en-GB" sz="2000" noProof="0" dirty="0">
                <a:latin typeface="Geogrotesque Rg" panose="02000000000000000000" pitchFamily="2" charset="77"/>
              </a:rPr>
              <a:t>: redundant predictors make coefficients non-identifiable.</a:t>
            </a:r>
          </a:p>
          <a:p>
            <a:pPr algn="just"/>
            <a:r>
              <a:rPr lang="en-GB" sz="2000" noProof="0" dirty="0">
                <a:solidFill>
                  <a:srgbClr val="F25331"/>
                </a:solidFill>
                <a:latin typeface="Geogrotesque Rg" panose="02000000000000000000" pitchFamily="2" charset="77"/>
              </a:rPr>
              <a:t>homoscedasticity</a:t>
            </a:r>
            <a:r>
              <a:rPr lang="en-GB" sz="2000" noProof="0" dirty="0">
                <a:latin typeface="Geogrotesque Rg" panose="02000000000000000000" pitchFamily="2" charset="77"/>
              </a:rPr>
              <a:t> (constant spread) and </a:t>
            </a:r>
            <a:r>
              <a:rPr lang="en-GB" sz="2000" noProof="0" dirty="0">
                <a:solidFill>
                  <a:srgbClr val="F25331"/>
                </a:solidFill>
                <a:latin typeface="Geogrotesque Rg" panose="02000000000000000000" pitchFamily="2" charset="77"/>
              </a:rPr>
              <a:t>no autocorrelation</a:t>
            </a:r>
            <a:r>
              <a:rPr lang="en-GB" sz="2000" noProof="0" dirty="0">
                <a:latin typeface="Geogrotesque Rg" panose="02000000000000000000" pitchFamily="2" charset="77"/>
              </a:rPr>
              <a:t>.</a:t>
            </a:r>
          </a:p>
          <a:p>
            <a:pPr algn="just"/>
            <a:r>
              <a:rPr lang="en-GB" sz="2000" noProof="0" dirty="0">
                <a:latin typeface="Geogrotesque Rg" panose="02000000000000000000" pitchFamily="2" charset="77"/>
              </a:rPr>
              <a:t>Normality is </a:t>
            </a:r>
            <a:r>
              <a:rPr lang="en-GB" sz="2000" noProof="0" dirty="0">
                <a:solidFill>
                  <a:srgbClr val="F25331"/>
                </a:solidFill>
                <a:latin typeface="Geogrotesque Rg" panose="02000000000000000000" pitchFamily="2" charset="77"/>
              </a:rPr>
              <a:t>not needed for the fit</a:t>
            </a:r>
            <a:r>
              <a:rPr lang="en-GB" sz="2000" noProof="0" dirty="0">
                <a:latin typeface="Geogrotesque Rg" panose="02000000000000000000" pitchFamily="2" charset="77"/>
              </a:rPr>
              <a:t> — but it is needed for CIs and tests.</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224954" y="595800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Normal errors ⇒ OLS coincides with Maximum Likelihood.</a:t>
            </a:r>
          </a:p>
        </p:txBody>
      </p:sp>
      <p:pic>
        <p:nvPicPr>
          <p:cNvPr id="7" name="Picture 6">
            <a:extLst>
              <a:ext uri="{FF2B5EF4-FFF2-40B4-BE49-F238E27FC236}">
                <a16:creationId xmlns:a16="http://schemas.microsoft.com/office/drawing/2014/main" id="{904D23AC-507F-799B-CEB1-518AD59CE5AE}"/>
              </a:ext>
            </a:extLst>
          </p:cNvPr>
          <p:cNvPicPr>
            <a:picLocks noChangeAspect="1"/>
          </p:cNvPicPr>
          <p:nvPr/>
        </p:nvPicPr>
        <p:blipFill>
          <a:blip r:embed="rId3"/>
          <a:stretch>
            <a:fillRect/>
          </a:stretch>
        </p:blipFill>
        <p:spPr>
          <a:xfrm>
            <a:off x="6459690" y="481908"/>
            <a:ext cx="5580372" cy="3059357"/>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3200" noProof="0">
                <a:latin typeface="Geogrotesque Rg" panose="02000000000000000000" pitchFamily="2" charset="77"/>
              </a:rPr>
              <a:t>Part III — Comparing &amp; extending models</a:t>
            </a:r>
          </a:p>
        </p:txBody>
      </p:sp>
    </p:spTree>
    <p:extLst>
      <p:ext uri="{BB962C8B-B14F-4D97-AF65-F5344CB8AC3E}">
        <p14:creationId xmlns:p14="http://schemas.microsoft.com/office/powerpoint/2010/main" val="1549153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23</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Maximum likelihood</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60" y="917258"/>
            <a:ext cx="7603450" cy="44205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The general estimation principle behind OLS.</a:t>
            </a:r>
          </a:p>
          <a:p>
            <a:pPr marL="0" indent="0" algn="just">
              <a:buNone/>
            </a:pPr>
            <a:endParaRPr lang="en-GB" sz="2000" noProof="0" dirty="0"/>
          </a:p>
          <a:p>
            <a:pPr algn="just"/>
            <a:r>
              <a:rPr lang="en-GB" sz="2000" noProof="0" dirty="0">
                <a:solidFill>
                  <a:srgbClr val="F25331"/>
                </a:solidFill>
                <a:latin typeface="Geogrotesque Rg" panose="02000000000000000000" pitchFamily="2" charset="77"/>
              </a:rPr>
              <a:t>Likelihood</a:t>
            </a:r>
            <a:r>
              <a:rPr lang="en-GB" sz="2000" noProof="0" dirty="0">
                <a:latin typeface="Geogrotesque Rg" panose="02000000000000000000" pitchFamily="2" charset="77"/>
              </a:rPr>
              <a:t> = how probable the data are under some model parameters Θ; maximise the log-likelihood.</a:t>
            </a:r>
          </a:p>
          <a:p>
            <a:pPr algn="just"/>
            <a:endParaRPr lang="en-GB" sz="200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r>
              <a:rPr lang="en-GB" sz="2000" noProof="0" dirty="0">
                <a:latin typeface="Geogrotesque Rg" panose="02000000000000000000" pitchFamily="2" charset="77"/>
              </a:rPr>
              <a:t>Under Gaussian noise, maximising likelihood = minimising squared residuals → </a:t>
            </a:r>
            <a:r>
              <a:rPr lang="en-GB" sz="2000" noProof="0" dirty="0">
                <a:solidFill>
                  <a:srgbClr val="F25331"/>
                </a:solidFill>
                <a:latin typeface="Geogrotesque Rg" panose="02000000000000000000" pitchFamily="2" charset="77"/>
              </a:rPr>
              <a:t>ML ≡ OLS</a:t>
            </a:r>
            <a:r>
              <a:rPr lang="en-GB" sz="2000" noProof="0" dirty="0">
                <a:latin typeface="Geogrotesque Rg" panose="02000000000000000000" pitchFamily="2" charset="77"/>
              </a:rPr>
              <a:t>.</a:t>
            </a:r>
          </a:p>
          <a:p>
            <a:pPr algn="just"/>
            <a:r>
              <a:rPr lang="en-GB" sz="2000" noProof="0" dirty="0">
                <a:latin typeface="Geogrotesque Rg" panose="02000000000000000000" pitchFamily="2" charset="77"/>
              </a:rPr>
              <a:t>Parametric: requires an assumed density — and the gateway to GLMs.</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032200" y="6045633"/>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Assume normal errors and ML hands you least squares.</a:t>
            </a:r>
          </a:p>
        </p:txBody>
      </p:sp>
      <p:pic>
        <p:nvPicPr>
          <p:cNvPr id="98" name="loglik"/>
          <p:cNvPicPr>
            <a:picLocks noChangeAspect="1"/>
          </p:cNvPicPr>
          <p:nvPr/>
        </p:nvPicPr>
        <p:blipFill>
          <a:blip r:embed="rId3">
            <a:duotone>
              <a:schemeClr val="accent4">
                <a:shade val="45000"/>
                <a:satMod val="135000"/>
              </a:schemeClr>
              <a:prstClr val="white"/>
            </a:duotone>
          </a:blip>
          <a:stretch>
            <a:fillRect/>
          </a:stretch>
        </p:blipFill>
        <p:spPr>
          <a:xfrm>
            <a:off x="2536447" y="2535823"/>
            <a:ext cx="3559553" cy="838000"/>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24</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Comparing models</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60" y="917258"/>
            <a:ext cx="9487668" cy="5439092"/>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Is the extra parameter worth keeping?</a:t>
            </a:r>
          </a:p>
          <a:p>
            <a:pPr marL="0" indent="0" algn="just">
              <a:buNone/>
            </a:pPr>
            <a:endParaRPr lang="en-GB" sz="2000" noProof="0" dirty="0"/>
          </a:p>
          <a:p>
            <a:pPr algn="just"/>
            <a:r>
              <a:rPr lang="en-GB" sz="2000" noProof="0" dirty="0">
                <a:solidFill>
                  <a:srgbClr val="000000"/>
                </a:solidFill>
                <a:latin typeface="Geogrotesque Rg" panose="02000000000000000000" pitchFamily="2" charset="77"/>
              </a:rPr>
              <a:t>Two models are </a:t>
            </a:r>
            <a:r>
              <a:rPr lang="en-GB" sz="2000" noProof="0" dirty="0">
                <a:solidFill>
                  <a:srgbClr val="F25331"/>
                </a:solidFill>
                <a:latin typeface="Geogrotesque Rg" panose="02000000000000000000" pitchFamily="2" charset="77"/>
              </a:rPr>
              <a:t>nested</a:t>
            </a:r>
            <a:r>
              <a:rPr lang="en-GB" sz="2000" noProof="0" dirty="0">
                <a:solidFill>
                  <a:srgbClr val="000000"/>
                </a:solidFill>
                <a:latin typeface="Geogrotesque Rg" panose="02000000000000000000" pitchFamily="2" charset="77"/>
              </a:rPr>
              <a:t> if you can get the simpler one by switching off (fixing to zero) some parameters of the bigger one</a:t>
            </a:r>
          </a:p>
          <a:p>
            <a:pPr algn="just"/>
            <a:r>
              <a:rPr lang="en-GB" sz="2000" noProof="0" dirty="0">
                <a:solidFill>
                  <a:srgbClr val="F25331"/>
                </a:solidFill>
                <a:latin typeface="Geogrotesque Rg" panose="02000000000000000000" pitchFamily="2" charset="77"/>
              </a:rPr>
              <a:t>Likelihood Ratio Test</a:t>
            </a:r>
            <a:r>
              <a:rPr lang="en-GB" sz="2000" noProof="0" dirty="0">
                <a:latin typeface="Geogrotesque Rg" panose="02000000000000000000" pitchFamily="2" charset="77"/>
              </a:rPr>
              <a:t> — for nested models; ~ χ² with df = the parameter difference.</a:t>
            </a:r>
          </a:p>
          <a:p>
            <a:pPr algn="just"/>
            <a:endParaRPr lang="en-GB" sz="200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r>
              <a:rPr lang="en-GB" sz="2000" noProof="0" dirty="0">
                <a:solidFill>
                  <a:srgbClr val="F25331"/>
                </a:solidFill>
                <a:latin typeface="Geogrotesque Rg" panose="02000000000000000000" pitchFamily="2" charset="77"/>
              </a:rPr>
              <a:t>Akaike information criterion (AIC) or Bayesian information criterion (BIC)</a:t>
            </a:r>
            <a:r>
              <a:rPr lang="en-GB" sz="2000" noProof="0" dirty="0">
                <a:latin typeface="Geogrotesque Rg" panose="02000000000000000000" pitchFamily="2" charset="77"/>
              </a:rPr>
              <a:t> — compare non-nested models; lower is better, but no clean p-value.</a:t>
            </a:r>
          </a:p>
          <a:p>
            <a:pPr algn="just"/>
            <a:endParaRPr lang="en-GB" sz="2000" dirty="0">
              <a:latin typeface="Geogrotesque Rg" panose="02000000000000000000" pitchFamily="2" charset="77"/>
            </a:endParaRPr>
          </a:p>
          <a:p>
            <a:pPr algn="just"/>
            <a:endParaRPr lang="en-GB" sz="2000" noProof="0" dirty="0">
              <a:latin typeface="Geogrotesque Rg" panose="02000000000000000000" pitchFamily="2" charset="77"/>
            </a:endParaRPr>
          </a:p>
          <a:p>
            <a:pPr marL="0" indent="0" algn="just">
              <a:buNone/>
            </a:pPr>
            <a:r>
              <a:rPr lang="en-GB" sz="2000" dirty="0">
                <a:latin typeface="Geogrotesque Rg" panose="02000000000000000000" pitchFamily="2" charset="77"/>
              </a:rPr>
              <a:t>	(k = parameters, 𝑛 = observations, 𝑙 = maximised log-likelihood)</a:t>
            </a:r>
          </a:p>
          <a:p>
            <a:pPr algn="just"/>
            <a:r>
              <a:rPr lang="en-GB" sz="2000" noProof="0" dirty="0">
                <a:latin typeface="Geogrotesque Rg" panose="02000000000000000000" pitchFamily="2" charset="77"/>
              </a:rPr>
              <a:t>Both guard against </a:t>
            </a:r>
            <a:r>
              <a:rPr lang="en-GB" sz="2000" noProof="0" dirty="0">
                <a:solidFill>
                  <a:srgbClr val="F25331"/>
                </a:solidFill>
                <a:latin typeface="Geogrotesque Rg" panose="02000000000000000000" pitchFamily="2" charset="77"/>
              </a:rPr>
              <a:t>overfitting</a:t>
            </a:r>
            <a:r>
              <a:rPr lang="en-GB" sz="2000" noProof="0" dirty="0">
                <a:latin typeface="Geogrotesque Rg" panose="02000000000000000000" pitchFamily="2" charset="77"/>
              </a:rPr>
              <a:t>: more parameters always fit the training data better.</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740840" y="6088912"/>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LRT: does adding this parameter beat chance?</a:t>
            </a:r>
          </a:p>
        </p:txBody>
      </p:sp>
      <p:pic>
        <p:nvPicPr>
          <p:cNvPr id="99" name="lrt"/>
          <p:cNvPicPr>
            <a:picLocks noChangeAspect="1"/>
          </p:cNvPicPr>
          <p:nvPr/>
        </p:nvPicPr>
        <p:blipFill>
          <a:blip r:embed="rId3">
            <a:duotone>
              <a:schemeClr val="accent4">
                <a:shade val="45000"/>
                <a:satMod val="135000"/>
              </a:schemeClr>
              <a:prstClr val="white"/>
            </a:duotone>
          </a:blip>
          <a:stretch>
            <a:fillRect/>
          </a:stretch>
        </p:blipFill>
        <p:spPr>
          <a:xfrm>
            <a:off x="3400299" y="2929000"/>
            <a:ext cx="3530660" cy="500000"/>
          </a:xfrm>
          <a:prstGeom prst="rect">
            <a:avLst/>
          </a:prstGeom>
        </p:spPr>
      </p:pic>
      <p:pic>
        <p:nvPicPr>
          <p:cNvPr id="8" name="Picture 7">
            <a:extLst>
              <a:ext uri="{FF2B5EF4-FFF2-40B4-BE49-F238E27FC236}">
                <a16:creationId xmlns:a16="http://schemas.microsoft.com/office/drawing/2014/main" id="{C82F410A-1415-6AC1-34A6-6A81DCB3ED2F}"/>
              </a:ext>
            </a:extLst>
          </p:cNvPr>
          <p:cNvPicPr>
            <a:picLocks noChangeAspect="1"/>
          </p:cNvPicPr>
          <p:nvPr/>
        </p:nvPicPr>
        <p:blipFill>
          <a:blip r:embed="rId4">
            <a:duotone>
              <a:schemeClr val="accent4">
                <a:shade val="45000"/>
                <a:satMod val="135000"/>
              </a:schemeClr>
              <a:prstClr val="white"/>
            </a:duotone>
          </a:blip>
          <a:srcRect b="61871"/>
          <a:stretch>
            <a:fillRect/>
          </a:stretch>
        </p:blipFill>
        <p:spPr>
          <a:xfrm>
            <a:off x="3400299" y="4427566"/>
            <a:ext cx="2313709" cy="444804"/>
          </a:xfrm>
          <a:prstGeom prst="rect">
            <a:avLst/>
          </a:prstGeom>
        </p:spPr>
      </p:pic>
      <p:pic>
        <p:nvPicPr>
          <p:cNvPr id="11" name="Picture 10">
            <a:extLst>
              <a:ext uri="{FF2B5EF4-FFF2-40B4-BE49-F238E27FC236}">
                <a16:creationId xmlns:a16="http://schemas.microsoft.com/office/drawing/2014/main" id="{44FA3133-0265-BEF3-C36F-74CE5D6A39D6}"/>
              </a:ext>
            </a:extLst>
          </p:cNvPr>
          <p:cNvPicPr>
            <a:picLocks noChangeAspect="1"/>
          </p:cNvPicPr>
          <p:nvPr/>
        </p:nvPicPr>
        <p:blipFill>
          <a:blip r:embed="rId4">
            <a:duotone>
              <a:schemeClr val="accent4">
                <a:shade val="45000"/>
                <a:satMod val="135000"/>
              </a:schemeClr>
              <a:prstClr val="white"/>
            </a:duotone>
          </a:blip>
          <a:srcRect t="61813"/>
          <a:stretch>
            <a:fillRect/>
          </a:stretch>
        </p:blipFill>
        <p:spPr>
          <a:xfrm>
            <a:off x="5774104" y="4417876"/>
            <a:ext cx="2313709" cy="445478"/>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25</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When OLS fails, and regularization</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40068" cy="4904217"/>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Fixes for broken assumptions — and shrinking complexity.</a:t>
            </a:r>
          </a:p>
          <a:p>
            <a:pPr marL="0" indent="0" algn="just">
              <a:buNone/>
            </a:pPr>
            <a:endParaRPr lang="en-GB" sz="2000" noProof="0" dirty="0"/>
          </a:p>
          <a:p>
            <a:pPr algn="just"/>
            <a:r>
              <a:rPr lang="en-GB" sz="2000" noProof="0" dirty="0">
                <a:solidFill>
                  <a:srgbClr val="F25331"/>
                </a:solidFill>
                <a:latin typeface="Geogrotesque Rg" panose="02000000000000000000" pitchFamily="2" charset="77"/>
              </a:rPr>
              <a:t>Heteroscedasticity</a:t>
            </a:r>
            <a:r>
              <a:rPr lang="en-GB" sz="2000" noProof="0" dirty="0">
                <a:latin typeface="Geogrotesque Rg" panose="02000000000000000000" pitchFamily="2" charset="77"/>
              </a:rPr>
              <a:t> → transform the data, or Weighted / Generalised Least Squares.</a:t>
            </a:r>
          </a:p>
          <a:p>
            <a:pPr algn="just"/>
            <a:r>
              <a:rPr lang="en-GB" sz="2000" noProof="0" dirty="0">
                <a:solidFill>
                  <a:srgbClr val="F25331"/>
                </a:solidFill>
                <a:latin typeface="Geogrotesque Rg" panose="02000000000000000000" pitchFamily="2" charset="77"/>
              </a:rPr>
              <a:t>Regularization</a:t>
            </a:r>
            <a:r>
              <a:rPr lang="en-GB" sz="2000" noProof="0" dirty="0">
                <a:latin typeface="Geogrotesque Rg" panose="02000000000000000000" pitchFamily="2" charset="77"/>
              </a:rPr>
              <a:t> penalises coefficient size: </a:t>
            </a:r>
            <a:r>
              <a:rPr lang="en-GB" sz="2000" noProof="0" dirty="0">
                <a:solidFill>
                  <a:srgbClr val="F25331"/>
                </a:solidFill>
                <a:latin typeface="Geogrotesque Rg" panose="02000000000000000000" pitchFamily="2" charset="77"/>
              </a:rPr>
              <a:t>Lasso</a:t>
            </a:r>
            <a:r>
              <a:rPr lang="en-GB" sz="2000" noProof="0" dirty="0">
                <a:latin typeface="Geogrotesque Rg" panose="02000000000000000000" pitchFamily="2" charset="77"/>
              </a:rPr>
              <a:t> (L1) can zero predictors; </a:t>
            </a:r>
            <a:r>
              <a:rPr lang="en-GB" sz="2000" noProof="0" dirty="0">
                <a:solidFill>
                  <a:srgbClr val="F25331"/>
                </a:solidFill>
                <a:latin typeface="Geogrotesque Rg" panose="02000000000000000000" pitchFamily="2" charset="77"/>
              </a:rPr>
              <a:t>Ridge</a:t>
            </a:r>
            <a:r>
              <a:rPr lang="en-GB" sz="2000" noProof="0" dirty="0">
                <a:latin typeface="Geogrotesque Rg" panose="02000000000000000000" pitchFamily="2" charset="77"/>
              </a:rPr>
              <a:t> (L2) shrinks them.</a:t>
            </a:r>
          </a:p>
          <a:p>
            <a:pPr algn="just"/>
            <a:endParaRPr lang="en-GB" sz="2000" noProof="0" dirty="0">
              <a:latin typeface="Geogrotesque Rg" panose="02000000000000000000" pitchFamily="2" charset="77"/>
            </a:endParaRPr>
          </a:p>
          <a:p>
            <a:pPr algn="just"/>
            <a:endParaRPr lang="en-GB" sz="200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endParaRPr lang="en-GB" sz="200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r>
              <a:rPr lang="en-GB" sz="2000" noProof="0" dirty="0">
                <a:latin typeface="Geogrotesque Rg" panose="02000000000000000000" pitchFamily="2" charset="77"/>
              </a:rPr>
              <a:t>Choosing the penalty strength </a:t>
            </a:r>
            <a:r>
              <a:rPr lang="en-GB" sz="2000" i="1" noProof="0" dirty="0">
                <a:latin typeface="Geogrotesque Rg" panose="02000000000000000000" pitchFamily="2" charset="77"/>
              </a:rPr>
              <a:t>C</a:t>
            </a:r>
            <a:r>
              <a:rPr lang="en-GB" sz="2000" noProof="0" dirty="0">
                <a:latin typeface="Geogrotesque Rg" panose="02000000000000000000" pitchFamily="2" charset="77"/>
              </a:rPr>
              <a:t> is </a:t>
            </a:r>
            <a:r>
              <a:rPr lang="en-GB" sz="2000" noProof="0" dirty="0">
                <a:solidFill>
                  <a:srgbClr val="F25331"/>
                </a:solidFill>
                <a:latin typeface="Geogrotesque Rg" panose="02000000000000000000" pitchFamily="2" charset="77"/>
              </a:rPr>
              <a:t>machine learning</a:t>
            </a:r>
            <a:r>
              <a:rPr lang="en-GB" sz="2000" noProof="0" dirty="0">
                <a:latin typeface="Geogrotesque Rg" panose="02000000000000000000" pitchFamily="2" charset="77"/>
              </a:rPr>
              <a:t> (cross-validation) — beyond this course.</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713130" y="6088912"/>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Lasso selects features; Ridge shrinks smoothly.</a:t>
            </a:r>
          </a:p>
        </p:txBody>
      </p:sp>
      <p:pic>
        <p:nvPicPr>
          <p:cNvPr id="100" name="regular"/>
          <p:cNvPicPr>
            <a:picLocks noChangeAspect="1"/>
          </p:cNvPicPr>
          <p:nvPr/>
        </p:nvPicPr>
        <p:blipFill>
          <a:blip r:embed="rId3">
            <a:duotone>
              <a:schemeClr val="accent4">
                <a:shade val="45000"/>
                <a:satMod val="135000"/>
              </a:schemeClr>
              <a:prstClr val="white"/>
            </a:duotone>
          </a:blip>
          <a:stretch>
            <a:fillRect/>
          </a:stretch>
        </p:blipFill>
        <p:spPr>
          <a:xfrm>
            <a:off x="3670622" y="3634313"/>
            <a:ext cx="2561681" cy="1150797"/>
          </a:xfrm>
          <a:prstGeom prst="rect">
            <a:avLst/>
          </a:prstGeom>
        </p:spPr>
      </p:pic>
      <p:grpSp>
        <p:nvGrpSpPr>
          <p:cNvPr id="7" name="Group 6">
            <a:extLst>
              <a:ext uri="{FF2B5EF4-FFF2-40B4-BE49-F238E27FC236}">
                <a16:creationId xmlns:a16="http://schemas.microsoft.com/office/drawing/2014/main" id="{681A1CD2-3512-DF81-8EF2-1A25DC6D4B4B}"/>
              </a:ext>
            </a:extLst>
          </p:cNvPr>
          <p:cNvGrpSpPr/>
          <p:nvPr/>
        </p:nvGrpSpPr>
        <p:grpSpPr>
          <a:xfrm>
            <a:off x="3601347" y="2963280"/>
            <a:ext cx="3866253" cy="643323"/>
            <a:chOff x="3666565" y="1824400"/>
            <a:chExt cx="4590492" cy="784162"/>
          </a:xfrm>
        </p:grpSpPr>
        <p:pic>
          <p:nvPicPr>
            <p:cNvPr id="8" name="Picture 7" descr="latex-image-1.pdf">
              <a:extLst>
                <a:ext uri="{FF2B5EF4-FFF2-40B4-BE49-F238E27FC236}">
                  <a16:creationId xmlns:a16="http://schemas.microsoft.com/office/drawing/2014/main" id="{FB74A87A-277B-9E2F-DE4D-4859BED79130}"/>
                </a:ext>
              </a:extLst>
            </p:cNvPr>
            <p:cNvPicPr>
              <a:picLocks noChangeAspect="1"/>
            </p:cNvPicPr>
            <p:nvPr/>
          </p:nvPicPr>
          <p:blipFill>
            <a:blip r:embed="rId4">
              <a:duotone>
                <a:schemeClr val="accent4">
                  <a:shade val="45000"/>
                  <a:satMod val="135000"/>
                </a:schemeClr>
                <a:prstClr val="white"/>
              </a:duotone>
              <a:extLst>
                <a:ext uri="{28A0092B-C50C-407E-A947-70E740481C1C}">
                  <a14:useLocalDpi xmlns:a14="http://schemas.microsoft.com/office/drawing/2010/main" val="0"/>
                </a:ext>
              </a:extLst>
            </a:blip>
            <a:srcRect l="4119" t="-15856"/>
            <a:stretch>
              <a:fillRect/>
            </a:stretch>
          </p:blipFill>
          <p:spPr>
            <a:xfrm>
              <a:off x="4031673" y="1843453"/>
              <a:ext cx="4225384" cy="765109"/>
            </a:xfrm>
            <a:prstGeom prst="rect">
              <a:avLst/>
            </a:prstGeom>
          </p:spPr>
        </p:pic>
        <p:sp>
          <p:nvSpPr>
            <p:cNvPr id="9" name="TextBox 8">
              <a:extLst>
                <a:ext uri="{FF2B5EF4-FFF2-40B4-BE49-F238E27FC236}">
                  <a16:creationId xmlns:a16="http://schemas.microsoft.com/office/drawing/2014/main" id="{6DD8B59E-D713-D37D-1C25-7FC82648A014}"/>
                </a:ext>
              </a:extLst>
            </p:cNvPr>
            <p:cNvSpPr txBox="1"/>
            <p:nvPr/>
          </p:nvSpPr>
          <p:spPr>
            <a:xfrm>
              <a:off x="3666565" y="1824400"/>
              <a:ext cx="460976" cy="637766"/>
            </a:xfrm>
            <a:prstGeom prst="rect">
              <a:avLst/>
            </a:prstGeom>
            <a:noFill/>
          </p:spPr>
          <p:txBody>
            <a:bodyPr wrap="none" rtlCol="0">
              <a:spAutoFit/>
            </a:bodyPr>
            <a:lstStyle/>
            <a:p>
              <a:r>
                <a:rPr lang="en-US" sz="2800" i="1" dirty="0">
                  <a:solidFill>
                    <a:srgbClr val="0089D1"/>
                  </a:solidFill>
                  <a:latin typeface="Geogrotesque Regular"/>
                  <a:cs typeface="Geogrotesque Regular"/>
                </a:rPr>
                <a:t>S</a:t>
              </a:r>
            </a:p>
          </p:txBody>
        </p:sp>
      </p:grpSp>
    </p:spTree>
    <p:extLst>
      <p:ext uri="{BB962C8B-B14F-4D97-AF65-F5344CB8AC3E}">
        <p14:creationId xmlns:p14="http://schemas.microsoft.com/office/powerpoint/2010/main" val="558177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26</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Goodness of fit</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How much does the model explain?</a:t>
            </a:r>
          </a:p>
          <a:p>
            <a:pPr marL="0" indent="0" algn="just">
              <a:buNone/>
            </a:pPr>
            <a:endParaRPr lang="en-GB" sz="2000" noProof="0" dirty="0"/>
          </a:p>
          <a:p>
            <a:pPr algn="just"/>
            <a:r>
              <a:rPr lang="en-GB" sz="2000" noProof="0" dirty="0">
                <a:solidFill>
                  <a:srgbClr val="F25331"/>
                </a:solidFill>
                <a:latin typeface="Geogrotesque Rg" panose="02000000000000000000" pitchFamily="2" charset="77"/>
              </a:rPr>
              <a:t>MSE</a:t>
            </a:r>
            <a:r>
              <a:rPr lang="en-GB" sz="2000" noProof="0" dirty="0">
                <a:latin typeface="Geogrotesque Rg" panose="02000000000000000000" pitchFamily="2" charset="77"/>
              </a:rPr>
              <a:t> — scale-dependent, hard to compare across datasets.</a:t>
            </a:r>
          </a:p>
          <a:p>
            <a:pPr algn="just"/>
            <a:r>
              <a:rPr lang="en-GB" sz="2000" noProof="0" dirty="0">
                <a:solidFill>
                  <a:srgbClr val="F25331"/>
                </a:solidFill>
                <a:latin typeface="Geogrotesque Rg" panose="02000000000000000000" pitchFamily="2" charset="77"/>
              </a:rPr>
              <a:t>R²</a:t>
            </a:r>
            <a:r>
              <a:rPr lang="en-GB" sz="2000" noProof="0" dirty="0">
                <a:latin typeface="Geogrotesque Rg" panose="02000000000000000000" pitchFamily="2" charset="77"/>
              </a:rPr>
              <a:t> — the fraction of variance the model explains (0 to 1).</a:t>
            </a:r>
          </a:p>
          <a:p>
            <a:pPr algn="just"/>
            <a:r>
              <a:rPr lang="en-GB" sz="2000" noProof="0" dirty="0">
                <a:solidFill>
                  <a:srgbClr val="F25331"/>
                </a:solidFill>
                <a:latin typeface="Geogrotesque Rg" panose="02000000000000000000" pitchFamily="2" charset="77"/>
              </a:rPr>
              <a:t>Adjusted R²</a:t>
            </a:r>
            <a:r>
              <a:rPr lang="en-GB" sz="2000" noProof="0" dirty="0">
                <a:latin typeface="Geogrotesque Rg" panose="02000000000000000000" pitchFamily="2" charset="77"/>
              </a:rPr>
              <a:t> penalises extra covariates — required for multiple regression.</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3859094" y="5579651"/>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Plain R² never decreases as predictors are added — hence adjusted R².</a:t>
            </a:r>
          </a:p>
        </p:txBody>
      </p:sp>
      <p:pic>
        <p:nvPicPr>
          <p:cNvPr id="96" name="gof"/>
          <p:cNvPicPr>
            <a:picLocks noChangeAspect="1"/>
          </p:cNvPicPr>
          <p:nvPr/>
        </p:nvPicPr>
        <p:blipFill>
          <a:blip r:embed="rId3"/>
          <a:stretch>
            <a:fillRect/>
          </a:stretch>
        </p:blipFill>
        <p:spPr>
          <a:xfrm>
            <a:off x="3961198" y="3246627"/>
            <a:ext cx="2521664" cy="1650000"/>
          </a:xfrm>
          <a:prstGeom prst="rect">
            <a:avLst/>
          </a:prstGeom>
        </p:spPr>
      </p:pic>
    </p:spTree>
    <p:extLst>
      <p:ext uri="{BB962C8B-B14F-4D97-AF65-F5344CB8AC3E}">
        <p14:creationId xmlns:p14="http://schemas.microsoft.com/office/powerpoint/2010/main" val="1325680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27</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From a number to a model</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60" y="917258"/>
            <a:ext cx="9543086" cy="4640091"/>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Model the response as a function of predictors plus noise.</a:t>
            </a:r>
          </a:p>
          <a:p>
            <a:pPr marL="0" indent="0" algn="just">
              <a:buNone/>
            </a:pPr>
            <a:endParaRPr lang="en-GB" sz="2000" noProof="0" dirty="0"/>
          </a:p>
          <a:p>
            <a:pPr algn="just"/>
            <a:r>
              <a:rPr lang="en-GB" sz="2000" noProof="0" dirty="0">
                <a:latin typeface="Geogrotesque Rg" panose="02000000000000000000" pitchFamily="2" charset="77"/>
              </a:rPr>
              <a:t>Y = f(X) + ε: a </a:t>
            </a:r>
            <a:r>
              <a:rPr lang="en-GB" sz="2000" noProof="0" dirty="0">
                <a:solidFill>
                  <a:srgbClr val="F25331"/>
                </a:solidFill>
                <a:latin typeface="Geogrotesque Rg" panose="02000000000000000000" pitchFamily="2" charset="77"/>
              </a:rPr>
              <a:t>response</a:t>
            </a:r>
            <a:r>
              <a:rPr lang="en-GB" sz="2000" noProof="0" dirty="0">
                <a:latin typeface="Geogrotesque Rg" panose="02000000000000000000" pitchFamily="2" charset="77"/>
              </a:rPr>
              <a:t> Y, </a:t>
            </a:r>
            <a:r>
              <a:rPr lang="en-GB" sz="2000" noProof="0" dirty="0">
                <a:solidFill>
                  <a:srgbClr val="F25331"/>
                </a:solidFill>
                <a:latin typeface="Geogrotesque Rg" panose="02000000000000000000" pitchFamily="2" charset="77"/>
              </a:rPr>
              <a:t>covariates</a:t>
            </a:r>
            <a:r>
              <a:rPr lang="en-GB" sz="2000" noProof="0" dirty="0">
                <a:latin typeface="Geogrotesque Rg" panose="02000000000000000000" pitchFamily="2" charset="77"/>
              </a:rPr>
              <a:t> X, and </a:t>
            </a:r>
            <a:r>
              <a:rPr lang="en-GB" sz="2000" noProof="0" dirty="0">
                <a:solidFill>
                  <a:srgbClr val="F25331"/>
                </a:solidFill>
                <a:latin typeface="Geogrotesque Rg" panose="02000000000000000000" pitchFamily="2" charset="77"/>
              </a:rPr>
              <a:t>noise</a:t>
            </a:r>
            <a:r>
              <a:rPr lang="en-GB" sz="2000" noProof="0" dirty="0">
                <a:latin typeface="Geogrotesque Rg" panose="02000000000000000000" pitchFamily="2" charset="77"/>
              </a:rPr>
              <a:t> ε; the linear model uses a weighted sum of predictors.</a:t>
            </a:r>
          </a:p>
          <a:p>
            <a:pPr algn="just"/>
            <a:r>
              <a:rPr lang="en-GB" sz="2000" noProof="0" dirty="0">
                <a:solidFill>
                  <a:srgbClr val="F25331"/>
                </a:solidFill>
                <a:latin typeface="Geogrotesque Rg" panose="02000000000000000000" pitchFamily="2" charset="77"/>
              </a:rPr>
              <a:t>Hat notation</a:t>
            </a:r>
            <a:r>
              <a:rPr lang="en-GB" sz="2000" noProof="0" dirty="0">
                <a:latin typeface="Geogrotesque Rg" panose="02000000000000000000" pitchFamily="2" charset="77"/>
              </a:rPr>
              <a:t>: β̂ and Ŷ denote estimates.</a:t>
            </a:r>
          </a:p>
          <a:p>
            <a:pPr algn="just"/>
            <a:r>
              <a:rPr lang="en-GB" sz="2000" noProof="0" dirty="0">
                <a:latin typeface="Geogrotesque Rg" panose="02000000000000000000" pitchFamily="2" charset="77"/>
              </a:rPr>
              <a:t>“Linear” means linear in the </a:t>
            </a:r>
            <a:r>
              <a:rPr lang="en-GB" sz="2000" noProof="0" dirty="0">
                <a:solidFill>
                  <a:srgbClr val="F25331"/>
                </a:solidFill>
                <a:latin typeface="Geogrotesque Rg" panose="02000000000000000000" pitchFamily="2" charset="77"/>
              </a:rPr>
              <a:t>coefficients</a:t>
            </a:r>
            <a:r>
              <a:rPr lang="en-GB" sz="2000" noProof="0" dirty="0">
                <a:latin typeface="Geogrotesque Rg" panose="02000000000000000000" pitchFamily="2" charset="77"/>
              </a:rPr>
              <a:t> — so polynomials (x, x², x³) are still linear models.</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3859094" y="5579651"/>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Correlation is one number; regression is a full predictive model.</a:t>
            </a:r>
          </a:p>
        </p:txBody>
      </p:sp>
      <p:pic>
        <p:nvPicPr>
          <p:cNvPr id="94" name="linreg_model"/>
          <p:cNvPicPr>
            <a:picLocks noChangeAspect="1"/>
          </p:cNvPicPr>
          <p:nvPr/>
        </p:nvPicPr>
        <p:blipFill>
          <a:blip r:embed="rId3"/>
          <a:stretch>
            <a:fillRect/>
          </a:stretch>
        </p:blipFill>
        <p:spPr>
          <a:xfrm>
            <a:off x="4084507" y="3950000"/>
            <a:ext cx="2162244" cy="520000"/>
          </a:xfrm>
          <a:prstGeom prst="rect">
            <a:avLst/>
          </a:prstGeom>
        </p:spPr>
      </p:pic>
    </p:spTree>
    <p:extLst>
      <p:ext uri="{BB962C8B-B14F-4D97-AF65-F5344CB8AC3E}">
        <p14:creationId xmlns:p14="http://schemas.microsoft.com/office/powerpoint/2010/main" val="7459678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28</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Ordinary Least Squares (OLS)</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Fit by minimising the squared residuals.</a:t>
            </a:r>
          </a:p>
          <a:p>
            <a:pPr marL="0" indent="0" algn="just">
              <a:buNone/>
            </a:pPr>
            <a:endParaRPr lang="en-GB" sz="2000" noProof="0" dirty="0"/>
          </a:p>
          <a:p>
            <a:pPr algn="just"/>
            <a:r>
              <a:rPr lang="en-GB" sz="2000" noProof="0" dirty="0">
                <a:latin typeface="Geogrotesque Rg" panose="02000000000000000000" pitchFamily="2" charset="77"/>
              </a:rPr>
              <a:t>Objective: minimise the </a:t>
            </a:r>
            <a:r>
              <a:rPr lang="en-GB" sz="2000" noProof="0" dirty="0">
                <a:solidFill>
                  <a:srgbClr val="F25331"/>
                </a:solidFill>
                <a:latin typeface="Geogrotesque Rg" panose="02000000000000000000" pitchFamily="2" charset="77"/>
              </a:rPr>
              <a:t>sum of squared residuals</a:t>
            </a:r>
            <a:r>
              <a:rPr lang="en-GB" sz="2000" noProof="0" dirty="0">
                <a:latin typeface="Geogrotesque Rg" panose="02000000000000000000" pitchFamily="2" charset="77"/>
              </a:rPr>
              <a:t>; β̂ = argmin S(β).</a:t>
            </a:r>
          </a:p>
          <a:p>
            <a:pPr algn="just"/>
            <a:r>
              <a:rPr lang="en-GB" sz="2000" noProof="0" dirty="0">
                <a:latin typeface="Geogrotesque Rg" panose="02000000000000000000" pitchFamily="2" charset="77"/>
              </a:rPr>
              <a:t>For an overdetermined system there is a </a:t>
            </a:r>
            <a:r>
              <a:rPr lang="en-GB" sz="2000" noProof="0" dirty="0">
                <a:solidFill>
                  <a:srgbClr val="F25331"/>
                </a:solidFill>
                <a:latin typeface="Geogrotesque Rg" panose="02000000000000000000" pitchFamily="2" charset="77"/>
              </a:rPr>
              <a:t>closed-form</a:t>
            </a:r>
            <a:r>
              <a:rPr lang="en-GB" sz="2000" noProof="0" dirty="0">
                <a:latin typeface="Geogrotesque Rg" panose="02000000000000000000" pitchFamily="2" charset="77"/>
              </a:rPr>
              <a:t> solution.</a:t>
            </a:r>
          </a:p>
          <a:p>
            <a:pPr algn="just"/>
            <a:r>
              <a:rPr lang="en-GB" sz="2000" noProof="0" dirty="0">
                <a:latin typeface="Geogrotesque Rg" panose="02000000000000000000" pitchFamily="2" charset="77"/>
              </a:rPr>
              <a:t>Tooling: sm.OLS / smf.ols('y ~ x'); remember add_constant for the intercept.</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3859094" y="5579651"/>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Squared residuals → sensitive to outliers; needs XᵀX invertible.</a:t>
            </a:r>
          </a:p>
        </p:txBody>
      </p:sp>
      <p:pic>
        <p:nvPicPr>
          <p:cNvPr id="95" name="ols"/>
          <p:cNvPicPr>
            <a:picLocks noChangeAspect="1"/>
          </p:cNvPicPr>
          <p:nvPr/>
        </p:nvPicPr>
        <p:blipFill>
          <a:blip r:embed="rId3"/>
          <a:stretch>
            <a:fillRect/>
          </a:stretch>
        </p:blipFill>
        <p:spPr>
          <a:xfrm>
            <a:off x="3857480" y="3500000"/>
            <a:ext cx="2616298" cy="1150000"/>
          </a:xfrm>
          <a:prstGeom prst="rect">
            <a:avLst/>
          </a:prstGeom>
        </p:spPr>
      </p:pic>
    </p:spTree>
    <p:extLst>
      <p:ext uri="{BB962C8B-B14F-4D97-AF65-F5344CB8AC3E}">
        <p14:creationId xmlns:p14="http://schemas.microsoft.com/office/powerpoint/2010/main" val="168168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29</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Inference: coefficients &amp; confidence</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What each coefficient means, and how sure we are.</a:t>
            </a:r>
          </a:p>
          <a:p>
            <a:pPr marL="0" indent="0" algn="just">
              <a:buNone/>
            </a:pPr>
            <a:endParaRPr lang="en-GB" sz="2000" noProof="0" dirty="0"/>
          </a:p>
          <a:p>
            <a:pPr algn="just"/>
            <a:r>
              <a:rPr lang="en-GB" sz="2000" noProof="0" dirty="0">
                <a:latin typeface="Geogrotesque Rg" panose="02000000000000000000" pitchFamily="2" charset="77"/>
              </a:rPr>
              <a:t>Each </a:t>
            </a:r>
            <a:r>
              <a:rPr lang="en-GB" sz="2000" noProof="0" dirty="0">
                <a:solidFill>
                  <a:srgbClr val="F25331"/>
                </a:solidFill>
                <a:latin typeface="Geogrotesque Rg" panose="02000000000000000000" pitchFamily="2" charset="77"/>
              </a:rPr>
              <a:t>coefficient</a:t>
            </a:r>
            <a:r>
              <a:rPr lang="en-GB" sz="2000" noProof="0" dirty="0">
                <a:latin typeface="Geogrotesque Rg" panose="02000000000000000000" pitchFamily="2" charset="77"/>
              </a:rPr>
              <a:t> = change in Y per unit of that covariate; the intercept = Y when all covariates are 0.</a:t>
            </a:r>
          </a:p>
          <a:p>
            <a:pPr algn="just"/>
            <a:r>
              <a:rPr lang="en-GB" sz="2000" noProof="0" dirty="0">
                <a:latin typeface="Geogrotesque Rg" panose="02000000000000000000" pitchFamily="2" charset="77"/>
              </a:rPr>
              <a:t>A </a:t>
            </a:r>
            <a:r>
              <a:rPr lang="en-GB" sz="2000" noProof="0" dirty="0">
                <a:solidFill>
                  <a:srgbClr val="F25331"/>
                </a:solidFill>
                <a:latin typeface="Geogrotesque Rg" panose="02000000000000000000" pitchFamily="2" charset="77"/>
              </a:rPr>
              <a:t>confidence interval</a:t>
            </a:r>
            <a:r>
              <a:rPr lang="en-GB" sz="2000" noProof="0" dirty="0">
                <a:latin typeface="Geogrotesque Rg" panose="02000000000000000000" pitchFamily="2" charset="77"/>
              </a:rPr>
              <a:t> and a </a:t>
            </a:r>
            <a:r>
              <a:rPr lang="en-GB" sz="2000" noProof="0" dirty="0">
                <a:solidFill>
                  <a:srgbClr val="F25331"/>
                </a:solidFill>
                <a:latin typeface="Geogrotesque Rg" panose="02000000000000000000" pitchFamily="2" charset="77"/>
              </a:rPr>
              <a:t>t-test</a:t>
            </a:r>
            <a:r>
              <a:rPr lang="en-GB" sz="2000" noProof="0" dirty="0">
                <a:latin typeface="Geogrotesque Rg" panose="02000000000000000000" pitchFamily="2" charset="77"/>
              </a:rPr>
              <a:t> of H₀: βₚ = 0 give significance.</a:t>
            </a:r>
          </a:p>
          <a:p>
            <a:pPr algn="just"/>
            <a:r>
              <a:rPr lang="en-GB" sz="2000" noProof="0" dirty="0">
                <a:latin typeface="Geogrotesque Rg" panose="02000000000000000000" pitchFamily="2" charset="77"/>
              </a:rPr>
              <a:t>Both </a:t>
            </a:r>
            <a:r>
              <a:rPr lang="en-GB" sz="2000" noProof="0" dirty="0">
                <a:solidFill>
                  <a:srgbClr val="F25331"/>
                </a:solidFill>
                <a:latin typeface="Geogrotesque Rg" panose="02000000000000000000" pitchFamily="2" charset="77"/>
              </a:rPr>
              <a:t>assume normal noise</a:t>
            </a:r>
            <a:r>
              <a:rPr lang="en-GB" sz="2000" noProof="0" dirty="0">
                <a:latin typeface="Geogrotesque Rg" panose="02000000000000000000" pitchFamily="2" charset="77"/>
              </a:rPr>
              <a:t> — a strong, frequently unchecked assumption.</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3859094" y="5579651"/>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Significant ≠ large: report magnitude and CI, not just the p-value.</a:t>
            </a:r>
          </a:p>
        </p:txBody>
      </p:sp>
      <p:pic>
        <p:nvPicPr>
          <p:cNvPr id="97" name="coef_ci"/>
          <p:cNvPicPr>
            <a:picLocks noChangeAspect="1"/>
          </p:cNvPicPr>
          <p:nvPr/>
        </p:nvPicPr>
        <p:blipFill>
          <a:blip r:embed="rId3"/>
          <a:stretch>
            <a:fillRect/>
          </a:stretch>
        </p:blipFill>
        <p:spPr>
          <a:xfrm>
            <a:off x="3196758" y="3900000"/>
            <a:ext cx="3937743" cy="550000"/>
          </a:xfrm>
          <a:prstGeom prst="rect">
            <a:avLst/>
          </a:prstGeom>
        </p:spPr>
      </p:pic>
    </p:spTree>
    <p:extLst>
      <p:ext uri="{BB962C8B-B14F-4D97-AF65-F5344CB8AC3E}">
        <p14:creationId xmlns:p14="http://schemas.microsoft.com/office/powerpoint/2010/main" val="24490572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30</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Reading the statsmodels summary</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Three panels: fit, coefficients, diagnostics.</a:t>
            </a:r>
          </a:p>
          <a:p>
            <a:pPr marL="0" indent="0" algn="just">
              <a:buNone/>
            </a:pPr>
            <a:endParaRPr lang="en-GB" sz="2000" noProof="0" dirty="0"/>
          </a:p>
          <a:p>
            <a:pPr algn="just"/>
            <a:r>
              <a:rPr lang="en-GB" sz="2000" noProof="0" dirty="0">
                <a:solidFill>
                  <a:srgbClr val="F25331"/>
                </a:solidFill>
                <a:latin typeface="Geogrotesque Rg" panose="02000000000000000000" pitchFamily="2" charset="77"/>
              </a:rPr>
              <a:t>Fit</a:t>
            </a:r>
            <a:r>
              <a:rPr lang="en-GB" sz="2000" noProof="0" dirty="0">
                <a:latin typeface="Geogrotesque Rg" panose="02000000000000000000" pitchFamily="2" charset="77"/>
              </a:rPr>
              <a:t>: R² / adjusted R²; F-statistic + Prob(F) (all coefficients 0?); AIC / BIC.</a:t>
            </a:r>
          </a:p>
          <a:p>
            <a:pPr algn="just"/>
            <a:r>
              <a:rPr lang="en-GB" sz="2000" noProof="0" dirty="0">
                <a:solidFill>
                  <a:srgbClr val="F25331"/>
                </a:solidFill>
                <a:latin typeface="Geogrotesque Rg" panose="02000000000000000000" pitchFamily="2" charset="77"/>
              </a:rPr>
              <a:t>Coefficients</a:t>
            </a:r>
            <a:r>
              <a:rPr lang="en-GB" sz="2000" noProof="0" dirty="0">
                <a:latin typeface="Geogrotesque Rg" panose="02000000000000000000" pitchFamily="2" charset="77"/>
              </a:rPr>
              <a:t>: coef, std err, t, P&gt;|t|, 95% CI — the inference columns (assume normal errors).</a:t>
            </a:r>
          </a:p>
          <a:p>
            <a:pPr algn="just"/>
            <a:r>
              <a:rPr lang="en-GB" sz="2000" noProof="0" dirty="0">
                <a:solidFill>
                  <a:srgbClr val="F25331"/>
                </a:solidFill>
                <a:latin typeface="Geogrotesque Rg" panose="02000000000000000000" pitchFamily="2" charset="77"/>
              </a:rPr>
              <a:t>Diagnostics</a:t>
            </a:r>
            <a:r>
              <a:rPr lang="en-GB" sz="2000" noProof="0" dirty="0">
                <a:latin typeface="Geogrotesque Rg" panose="02000000000000000000" pitchFamily="2" charset="77"/>
              </a:rPr>
              <a:t>: Omnibus/Jarque–Bera (normality), Durbin–Watson (autocorrelation ≈2), Condition Number (multicollinearity); homoscedasticity → White's test.</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3859094" y="5579651"/>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Read the diagnostics before believing the coefficients.</a:t>
            </a:r>
          </a:p>
        </p:txBody>
      </p:sp>
    </p:spTree>
    <p:extLst>
      <p:ext uri="{BB962C8B-B14F-4D97-AF65-F5344CB8AC3E}">
        <p14:creationId xmlns:p14="http://schemas.microsoft.com/office/powerpoint/2010/main" val="3904578729"/>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AGE">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txDef>
      <a:spPr>
        <a:noFill/>
      </a:spPr>
      <a:bodyPr wrap="none" rtlCol="0">
        <a:spAutoFit/>
      </a:bodyPr>
      <a:lstStyle>
        <a:defPPr>
          <a:defRPr dirty="0" err="1" smtClean="0">
            <a:latin typeface="Geogrotesque Regular"/>
            <a:cs typeface="Geogrotesque Regular"/>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TotalTime>
  <Words>2521</Words>
  <Application>Microsoft Macintosh PowerPoint</Application>
  <PresentationFormat>Widescreen</PresentationFormat>
  <Paragraphs>324</Paragraphs>
  <Slides>30</Slides>
  <Notes>22</Notes>
  <HiddenSlides>5</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30</vt:i4>
      </vt:variant>
    </vt:vector>
  </HeadingPairs>
  <TitlesOfParts>
    <vt:vector size="41" baseType="lpstr">
      <vt:lpstr>Aptos</vt:lpstr>
      <vt:lpstr>Aptos Display</vt:lpstr>
      <vt:lpstr>Arial</vt:lpstr>
      <vt:lpstr>Geogrotesque Bold</vt:lpstr>
      <vt:lpstr>Geogrotesque Regular</vt:lpstr>
      <vt:lpstr>Geogrotesque Rg</vt:lpstr>
      <vt:lpstr>Geogrotesque-Medium</vt:lpstr>
      <vt:lpstr>Geogrotesque-SemiBold</vt:lpstr>
      <vt:lpstr>Geogrotesque-SemiBoldItalic</vt:lpstr>
      <vt:lpstr>Office Theme</vt:lpstr>
      <vt:lpstr>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Regression</vt:lpstr>
      <vt:lpstr>Linear Regression</vt:lpstr>
      <vt:lpstr>Linear Regression is a probabilistic model </vt:lpstr>
      <vt:lpstr>Linear Regression is a probabilistic model </vt:lpstr>
      <vt:lpstr>graphical interpretation</vt:lpstr>
      <vt:lpstr>Ordinary Least Squares (OLS) parameter estimation</vt:lpstr>
      <vt:lpstr>predicted and residual values</vt:lpstr>
      <vt:lpstr>Residuals are useful</vt:lpstr>
      <vt:lpstr>Residuals are useful</vt:lpstr>
      <vt:lpstr>IS the explanatory variable explanatory?</vt:lpstr>
      <vt:lpstr>intermezzo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Michal Kolar</dc:creator>
  <cp:lastModifiedBy>Michal Kolar</cp:lastModifiedBy>
  <cp:revision>10</cp:revision>
  <dcterms:created xsi:type="dcterms:W3CDTF">2026-06-02T19:34:51Z</dcterms:created>
  <dcterms:modified xsi:type="dcterms:W3CDTF">2026-07-01T19:51:01Z</dcterms:modified>
</cp:coreProperties>
</file>